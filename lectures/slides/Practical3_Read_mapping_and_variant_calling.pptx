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7964ad5-3b80-3a81-5ffa-7374e86517cf}">
          <p14:sldIdLst>
            <p14:sldId id="256"/>
            <p14:sldId id="257"/>
            <p14:sldId id="258"/>
          </p14:sldIdLst>
        </p14:section>
        <p14:section name="Mapping" id="{d14f7225-b2d4-f274-abc9-7dcff4649d99}">
          <p14:sldIdLst>
            <p14:sldId id="259"/>
            <p14:sldId id="260"/>
            <p14:sldId id="261"/>
            <p14:sldId id="262"/>
            <p14:sldId id="263"/>
          </p14:sldIdLst>
        </p14:section>
        <p14:section name="Variant calling" id="{dae86749-1d6c-482c-3b9d-47a927125f92}">
          <p14:sldIdLst>
            <p14:sldId id="264"/>
            <p14:sldId id="265"/>
            <p14:sldId id="266"/>
            <p14:sldId id="267"/>
            <p14:sldId id="268"/>
            <p14:sldId id="269"/>
          </p14:sldIdLst>
        </p14:section>
        <p14:section name="Summary" id="{a60317e0-0606-0c8a-3c5d-805ed7ef3f8d}">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3B47"/>
                </a:solidFill>
                <a:latin typeface="+mn-lt"/>
              </a:defRPr>
            </a:pPr>
            <a:r>
              <a:rPr sz="1300" b="0" i="0" u="none" strike="noStrike">
                <a:solidFill>
                  <a:srgbClr val="0E3B47"/>
                </a:solidFill>
                <a:latin typeface="+mn-lt"/>
              </a:rPr>
              <a:t>Heterozygous sites with no alternative read (%)</a:t>
            </a:r>
          </a:p>
        </c:rich>
      </c:tx>
      <c:layout/>
      <c:overlay val="0"/>
    </c:title>
    <c:autoTitleDeleted val="0"/>
    <c:plotArea>
      <c:layout/>
      <c:lineChart>
        <c:varyColors val="0"/>
        <c:ser>
          <c:idx val="0"/>
          <c:order val="0"/>
          <c:tx>
            <c:strRef>
              <c:f>Sheet1!$B$1</c:f>
              <c:strCache>
                <c:ptCount val="1"/>
                <c:pt idx="0">
                  <c:v>No alternative read seen</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4572E"/>
              </a:solidFill>
              <a:ln w="9525" cap="flat">
                <a:solidFill>
                  <a:srgbClr val="E4572E"/>
                </a:solidFill>
                <a:prstDash val="solid"/>
                <a:round/>
              </a:ln>
              <a:effectLst/>
            </c:spPr>
          </c:marker>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50</c:v>
                </c:pt>
                <c:pt idx="1">
                  <c:v>25</c:v>
                </c:pt>
                <c:pt idx="2">
                  <c:v>12.5</c:v>
                </c:pt>
                <c:pt idx="3">
                  <c:v>6.25</c:v>
                </c:pt>
                <c:pt idx="4">
                  <c:v>3.13</c:v>
                </c:pt>
                <c:pt idx="5">
                  <c:v>1.56</c:v>
                </c:pt>
                <c:pt idx="6">
                  <c:v>0.78</c:v>
                </c:pt>
                <c:pt idx="7">
                  <c:v>0.39</c:v>
                </c:pt>
                <c:pt idx="8">
                  <c:v>0.2</c:v>
                </c:pt>
                <c:pt idx="9">
                  <c:v>0.1</c:v>
                </c:pt>
                <c:pt idx="10">
                  <c:v>0.05</c:v>
                </c:pt>
                <c:pt idx="11">
                  <c:v>0.02</c:v>
                </c:pt>
                <c:pt idx="12">
                  <c:v>0.01</c:v>
                </c:pt>
                <c:pt idx="13">
                  <c:v>0.01</c:v>
                </c:pt>
                <c:pt idx="14">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E6B75"/>
                    </a:solidFill>
                    <a:latin typeface="+mn-lt"/>
                  </a:defRPr>
                </a:pPr>
                <a:r>
                  <a:rPr sz="1200" b="0" i="0" u="none" strike="noStrike">
                    <a:solidFill>
                      <a:srgbClr val="5E6B75"/>
                    </a:solidFill>
                    <a:latin typeface="+mn-lt"/>
                  </a:rPr>
                  <a:t>Depth (reads covering the site)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B75"/>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3E9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use the reads we cleaned in the preprocessing practical. We map them to a reference genome and find where the sample differs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pipeline applies to almost every resequencing project. Steps 1 and 2 were the preprocessing practical. Today is steps 3 and 4. The VCF analysis practical is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datasets were chosen because they behave differently: a haploid bacterium compared with a distant reference, and a diploid human compared with a very close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every read with every position of the genome would take far too long. Mappers like BWA-MEM2 build an index of the reference once. For each read they look up short exact matches (seeds), extend them into a full alignment that tolerates a few mismatches and small gaps, and report the best place together with a mapping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BAM file is the compressed, binary form of a SAM file. Each read has 11 mandatory columns; these four are the ones students need. FLAG is a sum of yes/no bits. MAPQ is on the Phred scale like base qualities. The CIGAR string describes how the read lines up with the reference. The example values are for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Depth is how many reads cover a position, usually reported as the average over the genome. Breadth is the fraction of the reference covered by at least one read. Students first estimate the expected depth from the FastQC numbers, then compare with samtools coverage. The worked numbers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gene that exists in the sample gets reads; an absent gene gets none. We look for stretches of at least 1 kb with zero coverage and list the reference genes that lie at least 90% inside them. The thresholds are strict because GC-rich DNA (P. aeruginosa is about 66% GC) is covered unevenly. With one reference we cannot tell whether DK2 lost the gene or PAO1 gained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each position the caller looks at the bases of all reads covering it: the pileup. A real heterozygous site shows the alternative base in about half the reads, a homozygous alternative site in nearly all of them. A single mismatch in one read is most likely a sequencing error. In a haploid bacterium there are only two possibilities: reference or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heterozygous site each read carries the alternative base with probability 0.5, so the chance that none of d reads shows it is 0.5 to the power d. At 3x that happens at 1 in 8 heterozygous sites; at 10x at about 1 in 1000. Real callers need more than one alternative read, so sensitivity drops faster than this curve suggests. Students compute this for their own mean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of misleading evidence. PCR duplicates are copies of one original molecule, so an early PCR error looks well supported; MarkDuplicates flags them and the caller ignores them. Reads with low mapping quality may belong somewhere else. And if we only offered chr21 as reference, reads from similar sequences on other chromosomes would be forced onto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calls include many false positives. A quality threshold and a depth window remove most of them; unusually high depth means reads from several similar copies collapsed onto one place. Ts/Tv checks a call set without a truth set: transitions (A-G, C-T) and transversions (the rest). There are twice as many possible transversions, so random errors give about 0.5, while real human SNPs give about 2.0 to 2.1, mainly because methylated C often mutates to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Statistics summarise; a genome browser shows the evidence. In JBrowse2, which runs inside Galaxy, a real variant is a whole column of the same mismatch on reads from both strands. A single coloured base is a sequencing error. Alternative bases only on one strand, only at read ends, or only in low mapping quality reads point to an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practical: we take the VCF file and ask how good the calls are, and what they tell us about human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3B4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37160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2606040"/>
            <a:ext cx="804672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7C8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005840"/>
          </a:xfrm>
          <a:prstGeom prst="rect">
            <a:avLst/>
          </a:prstGeom>
          <a:noFill/>
          <a:ln/>
        </p:spPr>
        <p:txBody>
          <a:bodyPr wrap="square" rtlCol="0"/>
          <a:lstStyle>
            <a:lvl1pPr indent="0" marL="0">
              <a:buNone/>
              <a:defRPr lang="en-US" sz="3800" b="1" dirty="0">
                <a:solidFill>
                  <a:schemeClr val="bg1"/>
                </a:solidFill>
              </a:defRPr>
            </a:lvl1pPr>
          </a:lstStyle>
          <a:p>
            <a:pPr indent="0" marL="0">
              <a:buNone/>
            </a:pPr>
            <a:endParaRPr lang="en-US" sz="3800" dirty="0"/>
          </a:p>
        </p:txBody>
      </p:sp>
      <p:sp>
        <p:nvSpPr>
          <p:cNvPr id="3" name="Text 0"/>
          <p:cNvSpPr/>
          <p:nvPr>
            <p:ph idx="101" type="body" hasCustomPrompt="1"/>
          </p:nvPr>
        </p:nvSpPr>
        <p:spPr>
          <a:xfrm>
            <a:off x="548640" y="2697480"/>
            <a:ext cx="8046720" cy="731520"/>
          </a:xfrm>
          <a:prstGeom prst="rect">
            <a:avLst/>
          </a:prstGeom>
          <a:noFill/>
          <a:ln/>
        </p:spPr>
        <p:txBody>
          <a:bodyPr wrap="square" rtlCol="0"/>
          <a:lstStyle>
            <a:lvl1pPr indent="0" marL="0">
              <a:buNone/>
              <a:defRPr lang="en-US" sz="2000" dirty="0">
                <a:solidFill>
                  <a:schemeClr val="bg1"/>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rgbClr val="7A8894"/>
                </a:solidFill>
              </a:rPr>
              <a:t>KP – Molecular Genetic Data · Read mapping and variant calling</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89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371600"/>
          </a:xfrm>
          <a:prstGeom prst="rect">
            <a:avLst/>
          </a:prstGeom>
          <a:noFill/>
          <a:ln/>
        </p:spPr>
        <p:txBody>
          <a:bodyPr wrap="square" lIns="0" tIns="0" rIns="0" bIns="0" rtlCol="0" anchor="b"/>
          <a:lstStyle/>
          <a:p>
            <a:pPr indent="0" marL="0">
              <a:buNone/>
            </a:pPr>
            <a:r>
              <a:rPr lang="en-US" sz="4000" b="1" dirty="0">
                <a:solidFill>
                  <a:schemeClr val="bg1"/>
                </a:solidFill>
              </a:rPr>
              <a:t>Read mapping and variant calling</a:t>
            </a:r>
            <a:endParaRPr lang="en-US" sz="4000" dirty="0"/>
          </a:p>
        </p:txBody>
      </p:sp>
      <p:sp>
        <p:nvSpPr>
          <p:cNvPr id="3" name="Text 0"/>
          <p:cNvSpPr/>
          <p:nvPr>
            <p:ph idx="101" type="body" hasCustomPrompt="1"/>
          </p:nvPr>
        </p:nvSpPr>
        <p:spPr>
          <a:xfrm>
            <a:off x="548640" y="2606040"/>
            <a:ext cx="8046720" cy="822960"/>
          </a:xfrm>
          <a:prstGeom prst="rect">
            <a:avLst/>
          </a:prstGeom>
          <a:noFill/>
          <a:ln/>
        </p:spPr>
        <p:txBody>
          <a:bodyPr wrap="square" lIns="0" tIns="0" rIns="0" bIns="0" rtlCol="0" anchor="t"/>
          <a:lstStyle/>
          <a:p>
            <a:pPr indent="0" marL="0">
              <a:buNone/>
            </a:pPr>
            <a:r>
              <a:rPr lang="en-US" sz="1800" dirty="0">
                <a:solidFill>
                  <a:schemeClr val="bg2"/>
                </a:solidFill>
              </a:rPr>
              <a:t>KP – Molecular Genetic Data · Practical 3</a:t>
            </a:r>
            <a:endParaRPr lang="en-US" sz="1800" dirty="0"/>
          </a:p>
          <a:p>
            <a:pPr indent="0" marL="0">
              <a:buNone/>
            </a:pPr>
            <a:r>
              <a:rPr lang="en-US" sz="1800" dirty="0">
                <a:solidFill>
                  <a:schemeClr val="bg2"/>
                </a:solidFill>
              </a:rPr>
              <a:t>From clean reads to a list of variants</a:t>
            </a:r>
            <a:endParaRPr lang="en-US" sz="1800" dirty="0"/>
          </a:p>
        </p:txBody>
      </p:sp>
      <p:sp>
        <p:nvSpPr>
          <p:cNvPr id="4" name="motif-read-0"/>
          <p:cNvSpPr/>
          <p:nvPr/>
        </p:nvSpPr>
        <p:spPr>
          <a:xfrm>
            <a:off x="548640" y="3794760"/>
            <a:ext cx="2011680" cy="109728"/>
          </a:xfrm>
          <a:prstGeom prst="roundRect">
            <a:avLst>
              <a:gd name="adj" fmla="val 50000"/>
            </a:avLst>
          </a:prstGeom>
          <a:solidFill>
            <a:schemeClr val="accent1"/>
          </a:solidFill>
          <a:ln/>
        </p:spPr>
      </p:sp>
      <p:sp>
        <p:nvSpPr>
          <p:cNvPr id="5" name="motif-variant-0"/>
          <p:cNvSpPr/>
          <p:nvPr/>
        </p:nvSpPr>
        <p:spPr>
          <a:xfrm>
            <a:off x="2057400" y="3794760"/>
            <a:ext cx="91440" cy="109728"/>
          </a:xfrm>
          <a:prstGeom prst="rect">
            <a:avLst/>
          </a:prstGeom>
          <a:solidFill>
            <a:schemeClr val="accent2"/>
          </a:solidFill>
          <a:ln/>
        </p:spPr>
      </p:sp>
      <p:sp>
        <p:nvSpPr>
          <p:cNvPr id="6" name="motif-read-1"/>
          <p:cNvSpPr/>
          <p:nvPr/>
        </p:nvSpPr>
        <p:spPr>
          <a:xfrm>
            <a:off x="1188720" y="3977640"/>
            <a:ext cx="2194560" cy="109728"/>
          </a:xfrm>
          <a:prstGeom prst="roundRect">
            <a:avLst>
              <a:gd name="adj" fmla="val 50000"/>
            </a:avLst>
          </a:prstGeom>
          <a:solidFill>
            <a:schemeClr val="accent1"/>
          </a:solidFill>
          <a:ln/>
        </p:spPr>
      </p:sp>
      <p:sp>
        <p:nvSpPr>
          <p:cNvPr id="7" name="motif-variant-1"/>
          <p:cNvSpPr/>
          <p:nvPr/>
        </p:nvSpPr>
        <p:spPr>
          <a:xfrm>
            <a:off x="2057400" y="3977640"/>
            <a:ext cx="91440" cy="109728"/>
          </a:xfrm>
          <a:prstGeom prst="rect">
            <a:avLst/>
          </a:prstGeom>
          <a:solidFill>
            <a:schemeClr val="accent2"/>
          </a:solidFill>
          <a:ln/>
        </p:spPr>
      </p:sp>
      <p:sp>
        <p:nvSpPr>
          <p:cNvPr id="8" name="motif-read-2"/>
          <p:cNvSpPr/>
          <p:nvPr/>
        </p:nvSpPr>
        <p:spPr>
          <a:xfrm>
            <a:off x="822960" y="4160520"/>
            <a:ext cx="1828800" cy="109728"/>
          </a:xfrm>
          <a:prstGeom prst="roundRect">
            <a:avLst>
              <a:gd name="adj" fmla="val 50000"/>
            </a:avLst>
          </a:prstGeom>
          <a:solidFill>
            <a:schemeClr val="accent1"/>
          </a:solidFill>
          <a:ln/>
        </p:spPr>
      </p:sp>
      <p:sp>
        <p:nvSpPr>
          <p:cNvPr id="9" name="motif-variant-2"/>
          <p:cNvSpPr/>
          <p:nvPr/>
        </p:nvSpPr>
        <p:spPr>
          <a:xfrm>
            <a:off x="2057400" y="4160520"/>
            <a:ext cx="91440" cy="109728"/>
          </a:xfrm>
          <a:prstGeom prst="rect">
            <a:avLst/>
          </a:prstGeom>
          <a:solidFill>
            <a:schemeClr val="accent2"/>
          </a:solidFill>
          <a:ln/>
        </p:spPr>
      </p:sp>
      <p:sp>
        <p:nvSpPr>
          <p:cNvPr id="10" name="motif-read-3"/>
          <p:cNvSpPr/>
          <p:nvPr/>
        </p:nvSpPr>
        <p:spPr>
          <a:xfrm>
            <a:off x="1554480" y="4343400"/>
            <a:ext cx="1737360" cy="109728"/>
          </a:xfrm>
          <a:prstGeom prst="roundRect">
            <a:avLst>
              <a:gd name="adj" fmla="val 50000"/>
            </a:avLst>
          </a:prstGeom>
          <a:solidFill>
            <a:schemeClr val="accent1"/>
          </a:solidFill>
          <a:ln/>
        </p:spPr>
      </p:sp>
      <p:sp>
        <p:nvSpPr>
          <p:cNvPr id="11" name="motif-variant-3"/>
          <p:cNvSpPr/>
          <p:nvPr/>
        </p:nvSpPr>
        <p:spPr>
          <a:xfrm>
            <a:off x="2057400" y="4343400"/>
            <a:ext cx="91440" cy="109728"/>
          </a:xfrm>
          <a:prstGeom prst="rect">
            <a:avLst/>
          </a:prstGeom>
          <a:solidFill>
            <a:schemeClr val="accent2"/>
          </a:solidFill>
          <a:ln/>
        </p:spPr>
      </p:sp>
      <p:sp>
        <p:nvSpPr>
          <p:cNvPr id="12" name="motif-read-4"/>
          <p:cNvSpPr/>
          <p:nvPr/>
        </p:nvSpPr>
        <p:spPr>
          <a:xfrm>
            <a:off x="640080" y="4526280"/>
            <a:ext cx="2377440" cy="109728"/>
          </a:xfrm>
          <a:prstGeom prst="roundRect">
            <a:avLst>
              <a:gd name="adj" fmla="val 50000"/>
            </a:avLst>
          </a:prstGeom>
          <a:solidFill>
            <a:schemeClr val="accent1"/>
          </a:solidFill>
          <a:ln/>
        </p:spPr>
      </p:sp>
      <p:sp>
        <p:nvSpPr>
          <p:cNvPr id="13" name="motif-variant-4"/>
          <p:cNvSpPr/>
          <p:nvPr/>
        </p:nvSpPr>
        <p:spPr>
          <a:xfrm>
            <a:off x="2057400" y="4526280"/>
            <a:ext cx="91440" cy="109728"/>
          </a:xfrm>
          <a:prstGeom prst="rect">
            <a:avLst/>
          </a:prstGeom>
          <a:solidFill>
            <a:schemeClr val="accent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Where we are in the analysis</a:t>
            </a:r>
            <a:endParaRPr lang="en-US" sz="2800" dirty="0"/>
          </a:p>
        </p:txBody>
      </p:sp>
      <p:sp>
        <p:nvSpPr>
          <p:cNvPr id="4" name="step-0"/>
          <p:cNvSpPr/>
          <p:nvPr/>
        </p:nvSpPr>
        <p:spPr>
          <a:xfrm>
            <a:off x="457200" y="1600200"/>
            <a:ext cx="1417320" cy="1143000"/>
          </a:xfrm>
          <a:prstGeom prst="roundRect">
            <a:avLst>
              <a:gd name="adj" fmla="val 6400"/>
            </a:avLst>
          </a:prstGeom>
          <a:solidFill>
            <a:schemeClr val="bg2"/>
          </a:solidFill>
          <a:ln/>
        </p:spPr>
      </p:sp>
      <p:sp>
        <p:nvSpPr>
          <p:cNvPr id="5" name="Text 2"/>
          <p:cNvSpPr txBox="1"/>
          <p:nvPr/>
        </p:nvSpPr>
        <p:spPr>
          <a:xfrm>
            <a:off x="566928" y="1801368"/>
            <a:ext cx="1197864" cy="411480"/>
          </a:xfrm>
          <a:prstGeom prst="rect">
            <a:avLst/>
          </a:prstGeom>
          <a:noFill/>
          <a:ln/>
        </p:spPr>
        <p:txBody>
          <a:bodyPr wrap="square" lIns="0" tIns="0" rIns="0" bIns="0" rtlCol="0" anchor="t"/>
          <a:lstStyle/>
          <a:p>
            <a:pPr algn="ctr" indent="0" marL="0">
              <a:buNone/>
            </a:pPr>
            <a:r>
              <a:rPr lang="en-US" sz="1600" b="1" dirty="0">
                <a:solidFill>
                  <a:schemeClr val="tx2"/>
                </a:solidFill>
              </a:rPr>
              <a:t>Raw reads</a:t>
            </a:r>
            <a:endParaRPr lang="en-US" sz="1600" dirty="0"/>
          </a:p>
        </p:txBody>
      </p:sp>
      <p:sp>
        <p:nvSpPr>
          <p:cNvPr id="6" name="Text 3"/>
          <p:cNvSpPr txBox="1"/>
          <p:nvPr/>
        </p:nvSpPr>
        <p:spPr>
          <a:xfrm>
            <a:off x="566928" y="2258568"/>
            <a:ext cx="1197864" cy="320040"/>
          </a:xfrm>
          <a:prstGeom prst="rect">
            <a:avLst/>
          </a:prstGeom>
          <a:noFill/>
          <a:ln/>
        </p:spPr>
        <p:txBody>
          <a:bodyPr wrap="square" lIns="0" tIns="0" rIns="0" bIns="0" rtlCol="0" anchor="t"/>
          <a:lstStyle/>
          <a:p>
            <a:pPr algn="ctr" indent="0" marL="0">
              <a:buNone/>
            </a:pPr>
            <a:r>
              <a:rPr lang="en-US" sz="1300" dirty="0">
                <a:solidFill>
                  <a:srgbClr val="5E6B75"/>
                </a:solidFill>
              </a:rPr>
              <a:t>FASTQ</a:t>
            </a:r>
            <a:endParaRPr lang="en-US" sz="1300" dirty="0"/>
          </a:p>
        </p:txBody>
      </p:sp>
      <p:sp>
        <p:nvSpPr>
          <p:cNvPr id="7" name="arrow-0"/>
          <p:cNvSpPr/>
          <p:nvPr/>
        </p:nvSpPr>
        <p:spPr>
          <a:xfrm>
            <a:off x="1901952" y="2167128"/>
            <a:ext cx="201168" cy="914"/>
          </a:xfrm>
          <a:prstGeom prst="line">
            <a:avLst/>
          </a:prstGeom>
          <a:noFill/>
          <a:ln w="19050">
            <a:solidFill>
              <a:srgbClr val="7A8894"/>
            </a:solidFill>
            <a:prstDash val="solid"/>
            <a:tailEnd type="triangle"/>
          </a:ln>
        </p:spPr>
      </p:sp>
      <p:sp>
        <p:nvSpPr>
          <p:cNvPr id="8" name="step-1"/>
          <p:cNvSpPr/>
          <p:nvPr/>
        </p:nvSpPr>
        <p:spPr>
          <a:xfrm>
            <a:off x="2130552" y="1600200"/>
            <a:ext cx="1417320" cy="1143000"/>
          </a:xfrm>
          <a:prstGeom prst="roundRect">
            <a:avLst>
              <a:gd name="adj" fmla="val 6400"/>
            </a:avLst>
          </a:prstGeom>
          <a:solidFill>
            <a:schemeClr val="bg2"/>
          </a:solidFill>
          <a:ln/>
        </p:spPr>
      </p:sp>
      <p:sp>
        <p:nvSpPr>
          <p:cNvPr id="9" name="Text 6"/>
          <p:cNvSpPr txBox="1"/>
          <p:nvPr/>
        </p:nvSpPr>
        <p:spPr>
          <a:xfrm>
            <a:off x="2240280" y="1801368"/>
            <a:ext cx="1197864" cy="411480"/>
          </a:xfrm>
          <a:prstGeom prst="rect">
            <a:avLst/>
          </a:prstGeom>
          <a:noFill/>
          <a:ln/>
        </p:spPr>
        <p:txBody>
          <a:bodyPr wrap="square" lIns="0" tIns="0" rIns="0" bIns="0" rtlCol="0" anchor="t"/>
          <a:lstStyle/>
          <a:p>
            <a:pPr algn="ctr" indent="0" marL="0">
              <a:buNone/>
            </a:pPr>
            <a:r>
              <a:rPr lang="en-US" sz="1600" b="1" dirty="0">
                <a:solidFill>
                  <a:schemeClr val="tx2"/>
                </a:solidFill>
              </a:rPr>
              <a:t>QC and trimming</a:t>
            </a:r>
            <a:endParaRPr lang="en-US" sz="1600" dirty="0"/>
          </a:p>
        </p:txBody>
      </p:sp>
      <p:sp>
        <p:nvSpPr>
          <p:cNvPr id="10" name="Text 7"/>
          <p:cNvSpPr txBox="1"/>
          <p:nvPr/>
        </p:nvSpPr>
        <p:spPr>
          <a:xfrm>
            <a:off x="2240280" y="2258568"/>
            <a:ext cx="1197864" cy="320040"/>
          </a:xfrm>
          <a:prstGeom prst="rect">
            <a:avLst/>
          </a:prstGeom>
          <a:noFill/>
          <a:ln/>
        </p:spPr>
        <p:txBody>
          <a:bodyPr wrap="square" lIns="0" tIns="0" rIns="0" bIns="0" rtlCol="0" anchor="t"/>
          <a:lstStyle/>
          <a:p>
            <a:pPr algn="ctr" indent="0" marL="0">
              <a:buNone/>
            </a:pPr>
            <a:r>
              <a:rPr lang="en-US" sz="1300" dirty="0">
                <a:solidFill>
                  <a:srgbClr val="5E6B75"/>
                </a:solidFill>
              </a:rPr>
              <a:t>done last time</a:t>
            </a:r>
            <a:endParaRPr lang="en-US" sz="1300" dirty="0"/>
          </a:p>
        </p:txBody>
      </p:sp>
      <p:sp>
        <p:nvSpPr>
          <p:cNvPr id="11" name="arrow-1"/>
          <p:cNvSpPr/>
          <p:nvPr/>
        </p:nvSpPr>
        <p:spPr>
          <a:xfrm>
            <a:off x="3575304" y="2167128"/>
            <a:ext cx="201168" cy="914"/>
          </a:xfrm>
          <a:prstGeom prst="line">
            <a:avLst/>
          </a:prstGeom>
          <a:noFill/>
          <a:ln w="19050">
            <a:solidFill>
              <a:srgbClr val="7A8894"/>
            </a:solidFill>
            <a:prstDash val="solid"/>
            <a:tailEnd type="triangle"/>
          </a:ln>
        </p:spPr>
      </p:sp>
      <p:sp>
        <p:nvSpPr>
          <p:cNvPr id="12" name="step-2"/>
          <p:cNvSpPr/>
          <p:nvPr/>
        </p:nvSpPr>
        <p:spPr>
          <a:xfrm>
            <a:off x="3803904" y="1600200"/>
            <a:ext cx="1417320" cy="1143000"/>
          </a:xfrm>
          <a:prstGeom prst="roundRect">
            <a:avLst>
              <a:gd name="adj" fmla="val 6400"/>
            </a:avLst>
          </a:prstGeom>
          <a:solidFill>
            <a:schemeClr val="accent1"/>
          </a:solidFill>
          <a:ln/>
        </p:spPr>
      </p:sp>
      <p:sp>
        <p:nvSpPr>
          <p:cNvPr id="13" name="Text 10"/>
          <p:cNvSpPr txBox="1"/>
          <p:nvPr/>
        </p:nvSpPr>
        <p:spPr>
          <a:xfrm>
            <a:off x="3913632" y="1801368"/>
            <a:ext cx="1197864" cy="411480"/>
          </a:xfrm>
          <a:prstGeom prst="rect">
            <a:avLst/>
          </a:prstGeom>
          <a:noFill/>
          <a:ln/>
        </p:spPr>
        <p:txBody>
          <a:bodyPr wrap="square" lIns="0" tIns="0" rIns="0" bIns="0" rtlCol="0" anchor="t"/>
          <a:lstStyle/>
          <a:p>
            <a:pPr algn="ctr" indent="0" marL="0">
              <a:buNone/>
            </a:pPr>
            <a:r>
              <a:rPr lang="en-US" sz="1600" b="1" dirty="0">
                <a:solidFill>
                  <a:schemeClr val="bg1"/>
                </a:solidFill>
              </a:rPr>
              <a:t>Mapping</a:t>
            </a:r>
            <a:endParaRPr lang="en-US" sz="1600" dirty="0"/>
          </a:p>
        </p:txBody>
      </p:sp>
      <p:sp>
        <p:nvSpPr>
          <p:cNvPr id="14" name="Text 11"/>
          <p:cNvSpPr txBox="1"/>
          <p:nvPr/>
        </p:nvSpPr>
        <p:spPr>
          <a:xfrm>
            <a:off x="3913632" y="2258568"/>
            <a:ext cx="1197864" cy="320040"/>
          </a:xfrm>
          <a:prstGeom prst="rect">
            <a:avLst/>
          </a:prstGeom>
          <a:noFill/>
          <a:ln/>
        </p:spPr>
        <p:txBody>
          <a:bodyPr wrap="square" lIns="0" tIns="0" rIns="0" bIns="0" rtlCol="0" anchor="t"/>
          <a:lstStyle/>
          <a:p>
            <a:pPr algn="ctr" indent="0" marL="0">
              <a:buNone/>
            </a:pPr>
            <a:r>
              <a:rPr lang="en-US" sz="1300" dirty="0">
                <a:solidFill>
                  <a:schemeClr val="bg1"/>
                </a:solidFill>
              </a:rPr>
              <a:t>BAM</a:t>
            </a:r>
            <a:endParaRPr lang="en-US" sz="1300" dirty="0"/>
          </a:p>
        </p:txBody>
      </p:sp>
      <p:sp>
        <p:nvSpPr>
          <p:cNvPr id="15" name="arrow-2"/>
          <p:cNvSpPr/>
          <p:nvPr/>
        </p:nvSpPr>
        <p:spPr>
          <a:xfrm>
            <a:off x="5248656" y="2167128"/>
            <a:ext cx="201168" cy="914"/>
          </a:xfrm>
          <a:prstGeom prst="line">
            <a:avLst/>
          </a:prstGeom>
          <a:noFill/>
          <a:ln w="19050">
            <a:solidFill>
              <a:srgbClr val="7A8894"/>
            </a:solidFill>
            <a:prstDash val="solid"/>
            <a:tailEnd type="triangle"/>
          </a:ln>
        </p:spPr>
      </p:sp>
      <p:sp>
        <p:nvSpPr>
          <p:cNvPr id="16" name="step-3"/>
          <p:cNvSpPr/>
          <p:nvPr/>
        </p:nvSpPr>
        <p:spPr>
          <a:xfrm>
            <a:off x="5477256" y="1600200"/>
            <a:ext cx="1417320" cy="1143000"/>
          </a:xfrm>
          <a:prstGeom prst="roundRect">
            <a:avLst>
              <a:gd name="adj" fmla="val 6400"/>
            </a:avLst>
          </a:prstGeom>
          <a:solidFill>
            <a:schemeClr val="accent1"/>
          </a:solidFill>
          <a:ln/>
        </p:spPr>
      </p:sp>
      <p:sp>
        <p:nvSpPr>
          <p:cNvPr id="17" name="Text 14"/>
          <p:cNvSpPr txBox="1"/>
          <p:nvPr/>
        </p:nvSpPr>
        <p:spPr>
          <a:xfrm>
            <a:off x="5586984" y="1801368"/>
            <a:ext cx="1197864" cy="411480"/>
          </a:xfrm>
          <a:prstGeom prst="rect">
            <a:avLst/>
          </a:prstGeom>
          <a:noFill/>
          <a:ln/>
        </p:spPr>
        <p:txBody>
          <a:bodyPr wrap="square" lIns="0" tIns="0" rIns="0" bIns="0" rtlCol="0" anchor="t"/>
          <a:lstStyle/>
          <a:p>
            <a:pPr algn="ctr" indent="0" marL="0">
              <a:buNone/>
            </a:pPr>
            <a:r>
              <a:rPr lang="en-US" sz="1600" b="1" dirty="0">
                <a:solidFill>
                  <a:schemeClr val="bg1"/>
                </a:solidFill>
              </a:rPr>
              <a:t>Variant calling</a:t>
            </a:r>
            <a:endParaRPr lang="en-US" sz="1600" dirty="0"/>
          </a:p>
        </p:txBody>
      </p:sp>
      <p:sp>
        <p:nvSpPr>
          <p:cNvPr id="18" name="Text 15"/>
          <p:cNvSpPr txBox="1"/>
          <p:nvPr/>
        </p:nvSpPr>
        <p:spPr>
          <a:xfrm>
            <a:off x="5586984" y="2258568"/>
            <a:ext cx="1197864" cy="320040"/>
          </a:xfrm>
          <a:prstGeom prst="rect">
            <a:avLst/>
          </a:prstGeom>
          <a:noFill/>
          <a:ln/>
        </p:spPr>
        <p:txBody>
          <a:bodyPr wrap="square" lIns="0" tIns="0" rIns="0" bIns="0" rtlCol="0" anchor="t"/>
          <a:lstStyle/>
          <a:p>
            <a:pPr algn="ctr" indent="0" marL="0">
              <a:buNone/>
            </a:pPr>
            <a:r>
              <a:rPr lang="en-US" sz="1300" dirty="0">
                <a:solidFill>
                  <a:schemeClr val="bg1"/>
                </a:solidFill>
              </a:rPr>
              <a:t>VCF</a:t>
            </a:r>
            <a:endParaRPr lang="en-US" sz="1300" dirty="0"/>
          </a:p>
        </p:txBody>
      </p:sp>
      <p:sp>
        <p:nvSpPr>
          <p:cNvPr id="19" name="arrow-3"/>
          <p:cNvSpPr/>
          <p:nvPr/>
        </p:nvSpPr>
        <p:spPr>
          <a:xfrm>
            <a:off x="6922008" y="2167128"/>
            <a:ext cx="201168" cy="914"/>
          </a:xfrm>
          <a:prstGeom prst="line">
            <a:avLst/>
          </a:prstGeom>
          <a:noFill/>
          <a:ln w="19050">
            <a:solidFill>
              <a:srgbClr val="7A8894"/>
            </a:solidFill>
            <a:prstDash val="solid"/>
            <a:tailEnd type="triangle"/>
          </a:ln>
        </p:spPr>
      </p:sp>
      <p:sp>
        <p:nvSpPr>
          <p:cNvPr id="20" name="step-4"/>
          <p:cNvSpPr/>
          <p:nvPr/>
        </p:nvSpPr>
        <p:spPr>
          <a:xfrm>
            <a:off x="7150608" y="1600200"/>
            <a:ext cx="1417320" cy="1143000"/>
          </a:xfrm>
          <a:prstGeom prst="roundRect">
            <a:avLst>
              <a:gd name="adj" fmla="val 6400"/>
            </a:avLst>
          </a:prstGeom>
          <a:solidFill>
            <a:schemeClr val="bg2"/>
          </a:solidFill>
          <a:ln/>
        </p:spPr>
      </p:sp>
      <p:sp>
        <p:nvSpPr>
          <p:cNvPr id="21" name="Text 18"/>
          <p:cNvSpPr txBox="1"/>
          <p:nvPr/>
        </p:nvSpPr>
        <p:spPr>
          <a:xfrm>
            <a:off x="7260336" y="1801368"/>
            <a:ext cx="1197864" cy="411480"/>
          </a:xfrm>
          <a:prstGeom prst="rect">
            <a:avLst/>
          </a:prstGeom>
          <a:noFill/>
          <a:ln/>
        </p:spPr>
        <p:txBody>
          <a:bodyPr wrap="square" lIns="0" tIns="0" rIns="0" bIns="0" rtlCol="0" anchor="t"/>
          <a:lstStyle/>
          <a:p>
            <a:pPr algn="ctr" indent="0" marL="0">
              <a:buNone/>
            </a:pPr>
            <a:r>
              <a:rPr lang="en-US" sz="1600" b="1" dirty="0">
                <a:solidFill>
                  <a:schemeClr val="tx2"/>
                </a:solidFill>
              </a:rPr>
              <a:t>Analysis</a:t>
            </a:r>
            <a:endParaRPr lang="en-US" sz="1600" dirty="0"/>
          </a:p>
        </p:txBody>
      </p:sp>
      <p:sp>
        <p:nvSpPr>
          <p:cNvPr id="22" name="Text 19"/>
          <p:cNvSpPr txBox="1"/>
          <p:nvPr/>
        </p:nvSpPr>
        <p:spPr>
          <a:xfrm>
            <a:off x="7260336" y="2258568"/>
            <a:ext cx="1197864" cy="320040"/>
          </a:xfrm>
          <a:prstGeom prst="rect">
            <a:avLst/>
          </a:prstGeom>
          <a:noFill/>
          <a:ln/>
        </p:spPr>
        <p:txBody>
          <a:bodyPr wrap="square" lIns="0" tIns="0" rIns="0" bIns="0" rtlCol="0" anchor="t"/>
          <a:lstStyle/>
          <a:p>
            <a:pPr algn="ctr" indent="0" marL="0">
              <a:buNone/>
            </a:pPr>
            <a:r>
              <a:rPr lang="en-US" sz="1300" dirty="0">
                <a:solidFill>
                  <a:srgbClr val="5E6B75"/>
                </a:solidFill>
              </a:rPr>
              <a:t>next practical</a:t>
            </a:r>
            <a:endParaRPr lang="en-US" sz="1300" dirty="0"/>
          </a:p>
        </p:txBody>
      </p:sp>
      <p:sp>
        <p:nvSpPr>
          <p:cNvPr id="23" name="Text 20"/>
          <p:cNvSpPr txBox="1"/>
          <p:nvPr/>
        </p:nvSpPr>
        <p:spPr>
          <a:xfrm>
            <a:off x="457200" y="3154680"/>
            <a:ext cx="8229600" cy="731520"/>
          </a:xfrm>
          <a:prstGeom prst="rect">
            <a:avLst/>
          </a:prstGeom>
          <a:noFill/>
          <a:ln/>
        </p:spPr>
        <p:txBody>
          <a:bodyPr wrap="square" lIns="0" tIns="0" rIns="0" bIns="0" rtlCol="0" anchor="t"/>
          <a:lstStyle/>
          <a:p>
            <a:pPr indent="0" marL="0">
              <a:buNone/>
            </a:pPr>
            <a:r>
              <a:rPr lang="en-US" sz="1600" b="1" dirty="0">
                <a:solidFill>
                  <a:schemeClr val="accent1"/>
                </a:solidFill>
              </a:rPr>
              <a:t>Today: </a:t>
            </a:r>
            <a:pPr indent="0" marL="0">
              <a:buNone/>
            </a:pPr>
            <a:r>
              <a:rPr lang="en-US" sz="1600" dirty="0">
                <a:solidFill>
                  <a:schemeClr val="tx1"/>
                </a:solidFill>
              </a:rPr>
              <a:t>map the reads to a reference genome, look at how well they map, and call the positions where the sample differs from the reference.</a:t>
            </a:r>
            <a:endParaRPr lang="en-US" sz="1600" dirty="0"/>
          </a:p>
        </p:txBody>
      </p:sp>
      <p:sp>
        <p:nvSpPr>
          <p:cNvPr id="24" name="Text 21"/>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400" i="1" dirty="0">
                <a:solidFill>
                  <a:srgbClr val="5E6B75"/>
                </a:solidFill>
              </a:rPr>
              <a:t>Each step produces a standard file that the next step reads: FASTQ → BAM → VCF.</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89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Two genomes, two questions</a:t>
            </a:r>
            <a:endParaRPr lang="en-US" sz="2800" dirty="0"/>
          </a:p>
        </p:txBody>
      </p:sp>
      <p:sp>
        <p:nvSpPr>
          <p:cNvPr id="4" name="genome-card-0"/>
          <p:cNvSpPr/>
          <p:nvPr/>
        </p:nvSpPr>
        <p:spPr>
          <a:xfrm>
            <a:off x="457200" y="1097280"/>
            <a:ext cx="4023360" cy="3429000"/>
          </a:xfrm>
          <a:prstGeom prst="roundRect">
            <a:avLst>
              <a:gd name="adj" fmla="val 2133"/>
            </a:avLst>
          </a:prstGeom>
          <a:solidFill>
            <a:schemeClr val="bg2"/>
          </a:solidFill>
          <a:ln/>
        </p:spPr>
      </p:sp>
      <p:sp>
        <p:nvSpPr>
          <p:cNvPr id="5" name="genome-mark-0"/>
          <p:cNvSpPr/>
          <p:nvPr/>
        </p:nvSpPr>
        <p:spPr>
          <a:xfrm>
            <a:off x="685800" y="1371600"/>
            <a:ext cx="109728" cy="566928"/>
          </a:xfrm>
          <a:prstGeom prst="rect">
            <a:avLst/>
          </a:prstGeom>
          <a:solidFill>
            <a:schemeClr val="accent1"/>
          </a:solidFill>
          <a:ln/>
        </p:spPr>
      </p:sp>
      <p:sp>
        <p:nvSpPr>
          <p:cNvPr id="6" name="Text 3"/>
          <p:cNvSpPr txBox="1"/>
          <p:nvPr/>
        </p:nvSpPr>
        <p:spPr>
          <a:xfrm>
            <a:off x="914400" y="1325880"/>
            <a:ext cx="3383280" cy="365760"/>
          </a:xfrm>
          <a:prstGeom prst="rect">
            <a:avLst/>
          </a:prstGeom>
          <a:noFill/>
          <a:ln/>
        </p:spPr>
        <p:txBody>
          <a:bodyPr wrap="square" lIns="0" tIns="0" rIns="0" bIns="0" rtlCol="0" anchor="t"/>
          <a:lstStyle/>
          <a:p>
            <a:pPr indent="0" marL="0">
              <a:buNone/>
            </a:pPr>
            <a:r>
              <a:rPr lang="en-US" sz="1800" b="1" i="1" dirty="0">
                <a:solidFill>
                  <a:schemeClr val="tx2"/>
                </a:solidFill>
              </a:rPr>
              <a:t>Pseudomonas aeruginosa</a:t>
            </a:r>
            <a:endParaRPr lang="en-US" sz="1800" dirty="0"/>
          </a:p>
        </p:txBody>
      </p:sp>
      <p:sp>
        <p:nvSpPr>
          <p:cNvPr id="7" name="Text 4"/>
          <p:cNvSpPr txBox="1"/>
          <p:nvPr/>
        </p:nvSpPr>
        <p:spPr>
          <a:xfrm>
            <a:off x="914400" y="1664208"/>
            <a:ext cx="3383280" cy="274320"/>
          </a:xfrm>
          <a:prstGeom prst="rect">
            <a:avLst/>
          </a:prstGeom>
          <a:noFill/>
          <a:ln/>
        </p:spPr>
        <p:txBody>
          <a:bodyPr wrap="square" lIns="0" tIns="0" rIns="0" bIns="0" rtlCol="0" anchor="t"/>
          <a:lstStyle/>
          <a:p>
            <a:pPr indent="0" marL="0">
              <a:buNone/>
            </a:pPr>
            <a:r>
              <a:rPr lang="en-US" sz="1300" dirty="0">
                <a:solidFill>
                  <a:srgbClr val="5E6B75"/>
                </a:solidFill>
              </a:rPr>
              <a:t>DK2 lineage vs PAO1</a:t>
            </a:r>
            <a:endParaRPr lang="en-US" sz="1300" dirty="0"/>
          </a:p>
        </p:txBody>
      </p:sp>
      <p:sp>
        <p:nvSpPr>
          <p:cNvPr id="8" name="Text 5"/>
          <p:cNvSpPr txBox="1"/>
          <p:nvPr/>
        </p:nvSpPr>
        <p:spPr>
          <a:xfrm>
            <a:off x="685800" y="2148840"/>
            <a:ext cx="1005840" cy="502920"/>
          </a:xfrm>
          <a:prstGeom prst="rect">
            <a:avLst/>
          </a:prstGeom>
          <a:noFill/>
          <a:ln/>
        </p:spPr>
        <p:txBody>
          <a:bodyPr wrap="square" lIns="0" tIns="0" rIns="0" bIns="0" rtlCol="0" anchor="t"/>
          <a:lstStyle/>
          <a:p>
            <a:pPr indent="0" marL="0">
              <a:buNone/>
            </a:pPr>
            <a:r>
              <a:rPr lang="en-US" sz="1300" b="1" dirty="0">
                <a:solidFill>
                  <a:schemeClr val="accent1"/>
                </a:solidFill>
              </a:rPr>
              <a:t>Genome</a:t>
            </a:r>
            <a:endParaRPr lang="en-US" sz="1300" dirty="0"/>
          </a:p>
        </p:txBody>
      </p:sp>
      <p:sp>
        <p:nvSpPr>
          <p:cNvPr id="9" name="Text 6"/>
          <p:cNvSpPr txBox="1"/>
          <p:nvPr/>
        </p:nvSpPr>
        <p:spPr>
          <a:xfrm>
            <a:off x="1691640" y="2148840"/>
            <a:ext cx="2606040" cy="502920"/>
          </a:xfrm>
          <a:prstGeom prst="rect">
            <a:avLst/>
          </a:prstGeom>
          <a:noFill/>
          <a:ln/>
        </p:spPr>
        <p:txBody>
          <a:bodyPr wrap="square" lIns="0" tIns="0" rIns="0" bIns="0" rtlCol="0" anchor="t"/>
          <a:lstStyle/>
          <a:p>
            <a:pPr indent="0" marL="0">
              <a:buNone/>
            </a:pPr>
            <a:r>
              <a:rPr lang="en-US" sz="1400" dirty="0">
                <a:solidFill>
                  <a:schemeClr val="tx1"/>
                </a:solidFill>
              </a:rPr>
              <a:t>6.3 Mb, one chromosome</a:t>
            </a:r>
            <a:endParaRPr lang="en-US" sz="1400" dirty="0"/>
          </a:p>
        </p:txBody>
      </p:sp>
      <p:sp>
        <p:nvSpPr>
          <p:cNvPr id="10" name="Text 7"/>
          <p:cNvSpPr txBox="1"/>
          <p:nvPr/>
        </p:nvSpPr>
        <p:spPr>
          <a:xfrm>
            <a:off x="685800" y="2715768"/>
            <a:ext cx="1005840" cy="502920"/>
          </a:xfrm>
          <a:prstGeom prst="rect">
            <a:avLst/>
          </a:prstGeom>
          <a:noFill/>
          <a:ln/>
        </p:spPr>
        <p:txBody>
          <a:bodyPr wrap="square" lIns="0" tIns="0" rIns="0" bIns="0" rtlCol="0" anchor="t"/>
          <a:lstStyle/>
          <a:p>
            <a:pPr indent="0" marL="0">
              <a:buNone/>
            </a:pPr>
            <a:r>
              <a:rPr lang="en-US" sz="1300" b="1" dirty="0">
                <a:solidFill>
                  <a:schemeClr val="accent1"/>
                </a:solidFill>
              </a:rPr>
              <a:t>Ploidy</a:t>
            </a:r>
            <a:endParaRPr lang="en-US" sz="1300" dirty="0"/>
          </a:p>
        </p:txBody>
      </p:sp>
      <p:sp>
        <p:nvSpPr>
          <p:cNvPr id="11" name="Text 8"/>
          <p:cNvSpPr txBox="1"/>
          <p:nvPr/>
        </p:nvSpPr>
        <p:spPr>
          <a:xfrm>
            <a:off x="1691640" y="2715768"/>
            <a:ext cx="2606040" cy="502920"/>
          </a:xfrm>
          <a:prstGeom prst="rect">
            <a:avLst/>
          </a:prstGeom>
          <a:noFill/>
          <a:ln/>
        </p:spPr>
        <p:txBody>
          <a:bodyPr wrap="square" lIns="0" tIns="0" rIns="0" bIns="0" rtlCol="0" anchor="t"/>
          <a:lstStyle/>
          <a:p>
            <a:pPr indent="0" marL="0">
              <a:buNone/>
            </a:pPr>
            <a:r>
              <a:rPr lang="en-US" sz="1400" dirty="0">
                <a:solidFill>
                  <a:schemeClr val="tx1"/>
                </a:solidFill>
              </a:rPr>
              <a:t>haploid: one copy of each gene</a:t>
            </a:r>
            <a:endParaRPr lang="en-US" sz="1400" dirty="0"/>
          </a:p>
        </p:txBody>
      </p:sp>
      <p:sp>
        <p:nvSpPr>
          <p:cNvPr id="12" name="Text 9"/>
          <p:cNvSpPr txBox="1"/>
          <p:nvPr/>
        </p:nvSpPr>
        <p:spPr>
          <a:xfrm>
            <a:off x="685800" y="3282696"/>
            <a:ext cx="1005840" cy="502920"/>
          </a:xfrm>
          <a:prstGeom prst="rect">
            <a:avLst/>
          </a:prstGeom>
          <a:noFill/>
          <a:ln/>
        </p:spPr>
        <p:txBody>
          <a:bodyPr wrap="square" lIns="0" tIns="0" rIns="0" bIns="0" rtlCol="0" anchor="t"/>
          <a:lstStyle/>
          <a:p>
            <a:pPr indent="0" marL="0">
              <a:buNone/>
            </a:pPr>
            <a:r>
              <a:rPr lang="en-US" sz="1300" b="1" dirty="0">
                <a:solidFill>
                  <a:schemeClr val="accent1"/>
                </a:solidFill>
              </a:rPr>
              <a:t>Reference</a:t>
            </a:r>
            <a:endParaRPr lang="en-US" sz="1300" dirty="0"/>
          </a:p>
        </p:txBody>
      </p:sp>
      <p:sp>
        <p:nvSpPr>
          <p:cNvPr id="13" name="Text 10"/>
          <p:cNvSpPr txBox="1"/>
          <p:nvPr/>
        </p:nvSpPr>
        <p:spPr>
          <a:xfrm>
            <a:off x="1691640" y="3282696"/>
            <a:ext cx="2606040" cy="502920"/>
          </a:xfrm>
          <a:prstGeom prst="rect">
            <a:avLst/>
          </a:prstGeom>
          <a:noFill/>
          <a:ln/>
        </p:spPr>
        <p:txBody>
          <a:bodyPr wrap="square" lIns="0" tIns="0" rIns="0" bIns="0" rtlCol="0" anchor="t"/>
          <a:lstStyle/>
          <a:p>
            <a:pPr indent="0" marL="0">
              <a:buNone/>
            </a:pPr>
            <a:r>
              <a:rPr lang="en-US" sz="1400" dirty="0">
                <a:solidFill>
                  <a:schemeClr val="tx1"/>
                </a:solidFill>
              </a:rPr>
              <a:t>PAO1, environmental strain (1955)</a:t>
            </a:r>
            <a:endParaRPr lang="en-US" sz="1400" dirty="0"/>
          </a:p>
        </p:txBody>
      </p:sp>
      <p:sp>
        <p:nvSpPr>
          <p:cNvPr id="14" name="Text 11"/>
          <p:cNvSpPr txBox="1"/>
          <p:nvPr/>
        </p:nvSpPr>
        <p:spPr>
          <a:xfrm>
            <a:off x="685800" y="3849624"/>
            <a:ext cx="1005840" cy="502920"/>
          </a:xfrm>
          <a:prstGeom prst="rect">
            <a:avLst/>
          </a:prstGeom>
          <a:noFill/>
          <a:ln/>
        </p:spPr>
        <p:txBody>
          <a:bodyPr wrap="square" lIns="0" tIns="0" rIns="0" bIns="0" rtlCol="0" anchor="t"/>
          <a:lstStyle/>
          <a:p>
            <a:pPr indent="0" marL="0">
              <a:buNone/>
            </a:pPr>
            <a:r>
              <a:rPr lang="en-US" sz="1300" b="1" dirty="0">
                <a:solidFill>
                  <a:schemeClr val="accent1"/>
                </a:solidFill>
              </a:rPr>
              <a:t>Question</a:t>
            </a:r>
            <a:endParaRPr lang="en-US" sz="1300" dirty="0"/>
          </a:p>
        </p:txBody>
      </p:sp>
      <p:sp>
        <p:nvSpPr>
          <p:cNvPr id="15" name="Text 12"/>
          <p:cNvSpPr txBox="1"/>
          <p:nvPr/>
        </p:nvSpPr>
        <p:spPr>
          <a:xfrm>
            <a:off x="1691640" y="3849624"/>
            <a:ext cx="2606040" cy="502920"/>
          </a:xfrm>
          <a:prstGeom prst="rect">
            <a:avLst/>
          </a:prstGeom>
          <a:noFill/>
          <a:ln/>
        </p:spPr>
        <p:txBody>
          <a:bodyPr wrap="square" lIns="0" tIns="0" rIns="0" bIns="0" rtlCol="0" anchor="t"/>
          <a:lstStyle/>
          <a:p>
            <a:pPr indent="0" marL="0">
              <a:buNone/>
            </a:pPr>
            <a:r>
              <a:rPr lang="en-US" sz="1400" dirty="0">
                <a:solidFill>
                  <a:schemeClr val="tx1"/>
                </a:solidFill>
              </a:rPr>
              <a:t>Which genes were lost, which genes are mutated?</a:t>
            </a:r>
            <a:endParaRPr lang="en-US" sz="1400" dirty="0"/>
          </a:p>
        </p:txBody>
      </p:sp>
      <p:sp>
        <p:nvSpPr>
          <p:cNvPr id="16" name="genome-card-1"/>
          <p:cNvSpPr/>
          <p:nvPr/>
        </p:nvSpPr>
        <p:spPr>
          <a:xfrm>
            <a:off x="4663440" y="1097280"/>
            <a:ext cx="4023360" cy="3429000"/>
          </a:xfrm>
          <a:prstGeom prst="roundRect">
            <a:avLst>
              <a:gd name="adj" fmla="val 2133"/>
            </a:avLst>
          </a:prstGeom>
          <a:solidFill>
            <a:schemeClr val="bg2"/>
          </a:solidFill>
          <a:ln/>
        </p:spPr>
      </p:sp>
      <p:sp>
        <p:nvSpPr>
          <p:cNvPr id="17" name="genome-mark-1"/>
          <p:cNvSpPr/>
          <p:nvPr/>
        </p:nvSpPr>
        <p:spPr>
          <a:xfrm>
            <a:off x="4892040" y="1371600"/>
            <a:ext cx="109728" cy="566928"/>
          </a:xfrm>
          <a:prstGeom prst="rect">
            <a:avLst/>
          </a:prstGeom>
          <a:solidFill>
            <a:schemeClr val="accent6"/>
          </a:solidFill>
          <a:ln/>
        </p:spPr>
      </p:sp>
      <p:sp>
        <p:nvSpPr>
          <p:cNvPr id="18" name="Text 15"/>
          <p:cNvSpPr txBox="1"/>
          <p:nvPr/>
        </p:nvSpPr>
        <p:spPr>
          <a:xfrm>
            <a:off x="5120640" y="1325880"/>
            <a:ext cx="3383280" cy="365760"/>
          </a:xfrm>
          <a:prstGeom prst="rect">
            <a:avLst/>
          </a:prstGeom>
          <a:noFill/>
          <a:ln/>
        </p:spPr>
        <p:txBody>
          <a:bodyPr wrap="square" lIns="0" tIns="0" rIns="0" bIns="0" rtlCol="0" anchor="t"/>
          <a:lstStyle/>
          <a:p>
            <a:pPr indent="0" marL="0">
              <a:buNone/>
            </a:pPr>
            <a:r>
              <a:rPr lang="en-US" sz="1800" b="1" dirty="0">
                <a:solidFill>
                  <a:schemeClr val="tx2"/>
                </a:solidFill>
              </a:rPr>
              <a:t>Human HG00418</a:t>
            </a:r>
            <a:endParaRPr lang="en-US" sz="1800" dirty="0"/>
          </a:p>
        </p:txBody>
      </p:sp>
      <p:sp>
        <p:nvSpPr>
          <p:cNvPr id="19" name="Text 16"/>
          <p:cNvSpPr txBox="1"/>
          <p:nvPr/>
        </p:nvSpPr>
        <p:spPr>
          <a:xfrm>
            <a:off x="5120640" y="1664208"/>
            <a:ext cx="3383280" cy="274320"/>
          </a:xfrm>
          <a:prstGeom prst="rect">
            <a:avLst/>
          </a:prstGeom>
          <a:noFill/>
          <a:ln/>
        </p:spPr>
        <p:txBody>
          <a:bodyPr wrap="square" lIns="0" tIns="0" rIns="0" bIns="0" rtlCol="0" anchor="t"/>
          <a:lstStyle/>
          <a:p>
            <a:pPr indent="0" marL="0">
              <a:buNone/>
            </a:pPr>
            <a:r>
              <a:rPr lang="en-US" sz="1300" dirty="0">
                <a:solidFill>
                  <a:srgbClr val="5E6B75"/>
                </a:solidFill>
              </a:rPr>
              <a:t>chromosome 21 vs GRCh38</a:t>
            </a:r>
            <a:endParaRPr lang="en-US" sz="1300" dirty="0"/>
          </a:p>
        </p:txBody>
      </p:sp>
      <p:sp>
        <p:nvSpPr>
          <p:cNvPr id="20" name="Text 17"/>
          <p:cNvSpPr txBox="1"/>
          <p:nvPr/>
        </p:nvSpPr>
        <p:spPr>
          <a:xfrm>
            <a:off x="4892040" y="2148840"/>
            <a:ext cx="1005840" cy="502920"/>
          </a:xfrm>
          <a:prstGeom prst="rect">
            <a:avLst/>
          </a:prstGeom>
          <a:noFill/>
          <a:ln/>
        </p:spPr>
        <p:txBody>
          <a:bodyPr wrap="square" lIns="0" tIns="0" rIns="0" bIns="0" rtlCol="0" anchor="t"/>
          <a:lstStyle/>
          <a:p>
            <a:pPr indent="0" marL="0">
              <a:buNone/>
            </a:pPr>
            <a:r>
              <a:rPr lang="en-US" sz="1300" b="1" dirty="0">
                <a:solidFill>
                  <a:schemeClr val="accent6"/>
                </a:solidFill>
              </a:rPr>
              <a:t>Genome</a:t>
            </a:r>
            <a:endParaRPr lang="en-US" sz="1300" dirty="0"/>
          </a:p>
        </p:txBody>
      </p:sp>
      <p:sp>
        <p:nvSpPr>
          <p:cNvPr id="21" name="Text 18"/>
          <p:cNvSpPr txBox="1"/>
          <p:nvPr/>
        </p:nvSpPr>
        <p:spPr>
          <a:xfrm>
            <a:off x="5897880" y="2148840"/>
            <a:ext cx="2606040" cy="502920"/>
          </a:xfrm>
          <a:prstGeom prst="rect">
            <a:avLst/>
          </a:prstGeom>
          <a:noFill/>
          <a:ln/>
        </p:spPr>
        <p:txBody>
          <a:bodyPr wrap="square" lIns="0" tIns="0" rIns="0" bIns="0" rtlCol="0" anchor="t"/>
          <a:lstStyle/>
          <a:p>
            <a:pPr indent="0" marL="0">
              <a:buNone/>
            </a:pPr>
            <a:r>
              <a:rPr lang="en-US" sz="1400" dirty="0">
                <a:solidFill>
                  <a:schemeClr val="tx1"/>
                </a:solidFill>
              </a:rPr>
              <a:t>~3,100 Mb; reads from chr21</a:t>
            </a:r>
            <a:endParaRPr lang="en-US" sz="1400" dirty="0"/>
          </a:p>
        </p:txBody>
      </p:sp>
      <p:sp>
        <p:nvSpPr>
          <p:cNvPr id="22" name="Text 19"/>
          <p:cNvSpPr txBox="1"/>
          <p:nvPr/>
        </p:nvSpPr>
        <p:spPr>
          <a:xfrm>
            <a:off x="4892040" y="2715768"/>
            <a:ext cx="1005840" cy="502920"/>
          </a:xfrm>
          <a:prstGeom prst="rect">
            <a:avLst/>
          </a:prstGeom>
          <a:noFill/>
          <a:ln/>
        </p:spPr>
        <p:txBody>
          <a:bodyPr wrap="square" lIns="0" tIns="0" rIns="0" bIns="0" rtlCol="0" anchor="t"/>
          <a:lstStyle/>
          <a:p>
            <a:pPr indent="0" marL="0">
              <a:buNone/>
            </a:pPr>
            <a:r>
              <a:rPr lang="en-US" sz="1300" b="1" dirty="0">
                <a:solidFill>
                  <a:schemeClr val="accent6"/>
                </a:solidFill>
              </a:rPr>
              <a:t>Ploidy</a:t>
            </a:r>
            <a:endParaRPr lang="en-US" sz="1300" dirty="0"/>
          </a:p>
        </p:txBody>
      </p:sp>
      <p:sp>
        <p:nvSpPr>
          <p:cNvPr id="23" name="Text 20"/>
          <p:cNvSpPr txBox="1"/>
          <p:nvPr/>
        </p:nvSpPr>
        <p:spPr>
          <a:xfrm>
            <a:off x="5897880" y="2715768"/>
            <a:ext cx="2606040" cy="502920"/>
          </a:xfrm>
          <a:prstGeom prst="rect">
            <a:avLst/>
          </a:prstGeom>
          <a:noFill/>
          <a:ln/>
        </p:spPr>
        <p:txBody>
          <a:bodyPr wrap="square" lIns="0" tIns="0" rIns="0" bIns="0" rtlCol="0" anchor="t"/>
          <a:lstStyle/>
          <a:p>
            <a:pPr indent="0" marL="0">
              <a:buNone/>
            </a:pPr>
            <a:r>
              <a:rPr lang="en-US" sz="1400" dirty="0">
                <a:solidFill>
                  <a:schemeClr val="tx1"/>
                </a:solidFill>
              </a:rPr>
              <a:t>diploid: two copies, one per parent</a:t>
            </a:r>
            <a:endParaRPr lang="en-US" sz="1400" dirty="0"/>
          </a:p>
        </p:txBody>
      </p:sp>
      <p:sp>
        <p:nvSpPr>
          <p:cNvPr id="24" name="Text 21"/>
          <p:cNvSpPr txBox="1"/>
          <p:nvPr/>
        </p:nvSpPr>
        <p:spPr>
          <a:xfrm>
            <a:off x="4892040" y="3282696"/>
            <a:ext cx="1005840" cy="502920"/>
          </a:xfrm>
          <a:prstGeom prst="rect">
            <a:avLst/>
          </a:prstGeom>
          <a:noFill/>
          <a:ln/>
        </p:spPr>
        <p:txBody>
          <a:bodyPr wrap="square" lIns="0" tIns="0" rIns="0" bIns="0" rtlCol="0" anchor="t"/>
          <a:lstStyle/>
          <a:p>
            <a:pPr indent="0" marL="0">
              <a:buNone/>
            </a:pPr>
            <a:r>
              <a:rPr lang="en-US" sz="1300" b="1" dirty="0">
                <a:solidFill>
                  <a:schemeClr val="accent6"/>
                </a:solidFill>
              </a:rPr>
              <a:t>Reference</a:t>
            </a:r>
            <a:endParaRPr lang="en-US" sz="1300" dirty="0"/>
          </a:p>
        </p:txBody>
      </p:sp>
      <p:sp>
        <p:nvSpPr>
          <p:cNvPr id="25" name="Text 22"/>
          <p:cNvSpPr txBox="1"/>
          <p:nvPr/>
        </p:nvSpPr>
        <p:spPr>
          <a:xfrm>
            <a:off x="5897880" y="3282696"/>
            <a:ext cx="2606040" cy="502920"/>
          </a:xfrm>
          <a:prstGeom prst="rect">
            <a:avLst/>
          </a:prstGeom>
          <a:noFill/>
          <a:ln/>
        </p:spPr>
        <p:txBody>
          <a:bodyPr wrap="square" lIns="0" tIns="0" rIns="0" bIns="0" rtlCol="0" anchor="t"/>
          <a:lstStyle/>
          <a:p>
            <a:pPr indent="0" marL="0">
              <a:buNone/>
            </a:pPr>
            <a:r>
              <a:rPr lang="en-US" sz="1400" dirty="0">
                <a:solidFill>
                  <a:schemeClr val="tx1"/>
                </a:solidFill>
              </a:rPr>
              <a:t>GRCh38, the human reference</a:t>
            </a:r>
            <a:endParaRPr lang="en-US" sz="1400" dirty="0"/>
          </a:p>
        </p:txBody>
      </p:sp>
      <p:sp>
        <p:nvSpPr>
          <p:cNvPr id="26" name="Text 23"/>
          <p:cNvSpPr txBox="1"/>
          <p:nvPr/>
        </p:nvSpPr>
        <p:spPr>
          <a:xfrm>
            <a:off x="4892040" y="3849624"/>
            <a:ext cx="1005840" cy="502920"/>
          </a:xfrm>
          <a:prstGeom prst="rect">
            <a:avLst/>
          </a:prstGeom>
          <a:noFill/>
          <a:ln/>
        </p:spPr>
        <p:txBody>
          <a:bodyPr wrap="square" lIns="0" tIns="0" rIns="0" bIns="0" rtlCol="0" anchor="t"/>
          <a:lstStyle/>
          <a:p>
            <a:pPr indent="0" marL="0">
              <a:buNone/>
            </a:pPr>
            <a:r>
              <a:rPr lang="en-US" sz="1300" b="1" dirty="0">
                <a:solidFill>
                  <a:schemeClr val="accent6"/>
                </a:solidFill>
              </a:rPr>
              <a:t>Question</a:t>
            </a:r>
            <a:endParaRPr lang="en-US" sz="1300" dirty="0"/>
          </a:p>
        </p:txBody>
      </p:sp>
      <p:sp>
        <p:nvSpPr>
          <p:cNvPr id="27" name="Text 24"/>
          <p:cNvSpPr txBox="1"/>
          <p:nvPr/>
        </p:nvSpPr>
        <p:spPr>
          <a:xfrm>
            <a:off x="5897880" y="3849624"/>
            <a:ext cx="2606040" cy="502920"/>
          </a:xfrm>
          <a:prstGeom prst="rect">
            <a:avLst/>
          </a:prstGeom>
          <a:noFill/>
          <a:ln/>
        </p:spPr>
        <p:txBody>
          <a:bodyPr wrap="square" lIns="0" tIns="0" rIns="0" bIns="0" rtlCol="0" anchor="t"/>
          <a:lstStyle/>
          <a:p>
            <a:pPr indent="0" marL="0">
              <a:buNone/>
            </a:pPr>
            <a:r>
              <a:rPr lang="en-US" sz="1400" dirty="0">
                <a:solidFill>
                  <a:schemeClr val="tx1"/>
                </a:solidFill>
              </a:rPr>
              <a:t>Which SNPs and small indels does this person carry?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89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005840"/>
          </a:xfrm>
          <a:prstGeom prst="rect">
            <a:avLst/>
          </a:prstGeom>
          <a:noFill/>
          <a:ln/>
        </p:spPr>
        <p:txBody>
          <a:bodyPr wrap="square" lIns="0" tIns="0" rIns="0" bIns="0" rtlCol="0" anchor="b"/>
          <a:lstStyle/>
          <a:p>
            <a:pPr indent="0" marL="0">
              <a:buNone/>
            </a:pPr>
            <a:r>
              <a:rPr lang="en-US" sz="3800" b="1" dirty="0">
                <a:solidFill>
                  <a:schemeClr val="bg1"/>
                </a:solidFill>
              </a:rPr>
              <a:t>Part 1 · Mapping</a:t>
            </a:r>
            <a:endParaRPr lang="en-US" sz="3800" dirty="0"/>
          </a:p>
        </p:txBody>
      </p:sp>
      <p:sp>
        <p:nvSpPr>
          <p:cNvPr id="3" name="Text 0"/>
          <p:cNvSpPr/>
          <p:nvPr>
            <p:ph idx="101" type="body" hasCustomPrompt="1"/>
          </p:nvPr>
        </p:nvSpPr>
        <p:spPr>
          <a:xfrm>
            <a:off x="548640" y="2697480"/>
            <a:ext cx="8046720" cy="731520"/>
          </a:xfrm>
          <a:prstGeom prst="rect">
            <a:avLst/>
          </a:prstGeom>
          <a:noFill/>
          <a:ln/>
        </p:spPr>
        <p:txBody>
          <a:bodyPr wrap="square" lIns="0" tIns="0" rIns="0" bIns="0" rtlCol="0" anchor="t"/>
          <a:lstStyle/>
          <a:p>
            <a:pPr indent="0" marL="0">
              <a:buNone/>
            </a:pPr>
            <a:r>
              <a:rPr lang="en-US" sz="2000" dirty="0">
                <a:solidFill>
                  <a:schemeClr val="bg1"/>
                </a:solidFill>
              </a:rPr>
              <a:t>Where in the genome does each read come from?</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Mapping finds where each read belongs</a:t>
            </a:r>
            <a:endParaRPr lang="en-US" sz="2800" dirty="0"/>
          </a:p>
        </p:txBody>
      </p:sp>
      <p:sp>
        <p:nvSpPr>
          <p:cNvPr id="4" name="reference-bar"/>
          <p:cNvSpPr/>
          <p:nvPr/>
        </p:nvSpPr>
        <p:spPr>
          <a:xfrm>
            <a:off x="457200" y="3246120"/>
            <a:ext cx="4572000" cy="146304"/>
          </a:xfrm>
          <a:prstGeom prst="rect">
            <a:avLst/>
          </a:prstGeom>
          <a:solidFill>
            <a:srgbClr val="7A8894"/>
          </a:solidFill>
          <a:ln/>
        </p:spPr>
      </p:sp>
      <p:sp>
        <p:nvSpPr>
          <p:cNvPr id="5" name="Text 2"/>
          <p:cNvSpPr txBox="1"/>
          <p:nvPr/>
        </p:nvSpPr>
        <p:spPr>
          <a:xfrm>
            <a:off x="457200" y="3456432"/>
            <a:ext cx="2286000" cy="274320"/>
          </a:xfrm>
          <a:prstGeom prst="rect">
            <a:avLst/>
          </a:prstGeom>
          <a:noFill/>
          <a:ln/>
        </p:spPr>
        <p:txBody>
          <a:bodyPr wrap="square" lIns="0" tIns="0" rIns="0" bIns="0" rtlCol="0" anchor="t"/>
          <a:lstStyle/>
          <a:p>
            <a:pPr indent="0" marL="0">
              <a:buNone/>
            </a:pPr>
            <a:r>
              <a:rPr lang="en-US" sz="1200" dirty="0">
                <a:solidFill>
                  <a:srgbClr val="5E6B75"/>
                </a:solidFill>
              </a:rPr>
              <a:t>reference genome</a:t>
            </a:r>
            <a:endParaRPr lang="en-US" sz="1200" dirty="0"/>
          </a:p>
        </p:txBody>
      </p:sp>
      <p:sp>
        <p:nvSpPr>
          <p:cNvPr id="6" name="seed-hit-0"/>
          <p:cNvSpPr/>
          <p:nvPr/>
        </p:nvSpPr>
        <p:spPr>
          <a:xfrm>
            <a:off x="914400" y="3200400"/>
            <a:ext cx="201168" cy="237744"/>
          </a:xfrm>
          <a:prstGeom prst="rect">
            <a:avLst/>
          </a:prstGeom>
          <a:solidFill>
            <a:srgbClr val="F2A541"/>
          </a:solidFill>
          <a:ln/>
        </p:spPr>
      </p:sp>
      <p:sp>
        <p:nvSpPr>
          <p:cNvPr id="7" name="seed-hit-1"/>
          <p:cNvSpPr/>
          <p:nvPr/>
        </p:nvSpPr>
        <p:spPr>
          <a:xfrm>
            <a:off x="2514600" y="3200400"/>
            <a:ext cx="201168" cy="237744"/>
          </a:xfrm>
          <a:prstGeom prst="rect">
            <a:avLst/>
          </a:prstGeom>
          <a:solidFill>
            <a:srgbClr val="F2A541"/>
          </a:solidFill>
          <a:ln/>
        </p:spPr>
      </p:sp>
      <p:sp>
        <p:nvSpPr>
          <p:cNvPr id="8" name="seed-hit-2"/>
          <p:cNvSpPr/>
          <p:nvPr/>
        </p:nvSpPr>
        <p:spPr>
          <a:xfrm>
            <a:off x="4206240" y="3200400"/>
            <a:ext cx="201168" cy="237744"/>
          </a:xfrm>
          <a:prstGeom prst="rect">
            <a:avLst/>
          </a:prstGeom>
          <a:solidFill>
            <a:srgbClr val="F2A541"/>
          </a:solidFill>
          <a:ln/>
        </p:spPr>
      </p:sp>
      <p:sp>
        <p:nvSpPr>
          <p:cNvPr id="9" name="read"/>
          <p:cNvSpPr/>
          <p:nvPr/>
        </p:nvSpPr>
        <p:spPr>
          <a:xfrm>
            <a:off x="1965960" y="1965960"/>
            <a:ext cx="1325880" cy="182880"/>
          </a:xfrm>
          <a:prstGeom prst="roundRect">
            <a:avLst>
              <a:gd name="adj" fmla="val 50000"/>
            </a:avLst>
          </a:prstGeom>
          <a:solidFill>
            <a:srgbClr val="0F7C8C"/>
          </a:solidFill>
          <a:ln/>
        </p:spPr>
      </p:sp>
      <p:sp>
        <p:nvSpPr>
          <p:cNvPr id="10" name="read-seed"/>
          <p:cNvSpPr/>
          <p:nvPr/>
        </p:nvSpPr>
        <p:spPr>
          <a:xfrm>
            <a:off x="2514600" y="1965960"/>
            <a:ext cx="201168" cy="182880"/>
          </a:xfrm>
          <a:prstGeom prst="rect">
            <a:avLst/>
          </a:prstGeom>
          <a:solidFill>
            <a:srgbClr val="F2A541"/>
          </a:solidFill>
          <a:ln/>
        </p:spPr>
      </p:sp>
      <p:sp>
        <p:nvSpPr>
          <p:cNvPr id="11" name="Text 8"/>
          <p:cNvSpPr txBox="1"/>
          <p:nvPr/>
        </p:nvSpPr>
        <p:spPr>
          <a:xfrm>
            <a:off x="1828800" y="1645920"/>
            <a:ext cx="1828800" cy="274320"/>
          </a:xfrm>
          <a:prstGeom prst="rect">
            <a:avLst/>
          </a:prstGeom>
          <a:noFill/>
          <a:ln/>
        </p:spPr>
        <p:txBody>
          <a:bodyPr wrap="square" lIns="0" tIns="0" rIns="0" bIns="0" rtlCol="0" anchor="t"/>
          <a:lstStyle/>
          <a:p>
            <a:pPr indent="0" marL="0">
              <a:buNone/>
            </a:pPr>
            <a:r>
              <a:rPr lang="en-US" sz="1200" dirty="0">
                <a:solidFill>
                  <a:srgbClr val="5E6B75"/>
                </a:solidFill>
              </a:rPr>
              <a:t>read (≈100 bases)</a:t>
            </a:r>
            <a:endParaRPr lang="en-US" sz="1200" dirty="0"/>
          </a:p>
        </p:txBody>
      </p:sp>
      <p:sp>
        <p:nvSpPr>
          <p:cNvPr id="12" name="align-left"/>
          <p:cNvSpPr/>
          <p:nvPr/>
        </p:nvSpPr>
        <p:spPr>
          <a:xfrm>
            <a:off x="1965960" y="2176272"/>
            <a:ext cx="914" cy="1024128"/>
          </a:xfrm>
          <a:prstGeom prst="line">
            <a:avLst/>
          </a:prstGeom>
          <a:noFill/>
          <a:ln w="15875">
            <a:solidFill>
              <a:srgbClr val="0F7C8C"/>
            </a:solidFill>
            <a:prstDash val="dash"/>
          </a:ln>
        </p:spPr>
      </p:sp>
      <p:sp>
        <p:nvSpPr>
          <p:cNvPr id="13" name="align-right"/>
          <p:cNvSpPr/>
          <p:nvPr/>
        </p:nvSpPr>
        <p:spPr>
          <a:xfrm>
            <a:off x="3291840" y="2176272"/>
            <a:ext cx="914" cy="1024128"/>
          </a:xfrm>
          <a:prstGeom prst="line">
            <a:avLst/>
          </a:prstGeom>
          <a:noFill/>
          <a:ln w="15875">
            <a:solidFill>
              <a:srgbClr val="0F7C8C"/>
            </a:solidFill>
            <a:prstDash val="dash"/>
          </a:ln>
        </p:spPr>
      </p:sp>
      <p:sp>
        <p:nvSpPr>
          <p:cNvPr id="14" name="Text 11"/>
          <p:cNvSpPr txBox="1"/>
          <p:nvPr/>
        </p:nvSpPr>
        <p:spPr>
          <a:xfrm>
            <a:off x="3566160" y="1965960"/>
            <a:ext cx="1737360" cy="731520"/>
          </a:xfrm>
          <a:prstGeom prst="rect">
            <a:avLst/>
          </a:prstGeom>
          <a:noFill/>
          <a:ln/>
        </p:spPr>
        <p:txBody>
          <a:bodyPr wrap="square" lIns="0" tIns="0" rIns="0" bIns="0" rtlCol="0" anchor="t"/>
          <a:lstStyle/>
          <a:p>
            <a:pPr indent="0" marL="0">
              <a:buNone/>
            </a:pPr>
            <a:r>
              <a:rPr lang="en-US" sz="1100" dirty="0">
                <a:solidFill>
                  <a:srgbClr val="5E6B75"/>
                </a:solidFill>
              </a:rPr>
              <a:t>seed matches in 3 places;</a:t>
            </a:r>
            <a:endParaRPr lang="en-US" sz="1100" dirty="0"/>
          </a:p>
          <a:p>
            <a:pPr indent="0" marL="0">
              <a:buNone/>
            </a:pPr>
            <a:r>
              <a:rPr lang="en-US" sz="1100" dirty="0">
                <a:solidFill>
                  <a:srgbClr val="5E6B75"/>
                </a:solidFill>
              </a:rPr>
              <a:t>only one extends into a</a:t>
            </a:r>
            <a:endParaRPr lang="en-US" sz="1100" dirty="0"/>
          </a:p>
          <a:p>
            <a:pPr indent="0" marL="0">
              <a:buNone/>
            </a:pPr>
            <a:r>
              <a:rPr lang="en-US" sz="1100" dirty="0">
                <a:solidFill>
                  <a:srgbClr val="5E6B75"/>
                </a:solidFill>
              </a:rPr>
              <a:t>good alignment</a:t>
            </a:r>
            <a:endParaRPr lang="en-US" sz="1100" dirty="0"/>
          </a:p>
        </p:txBody>
      </p:sp>
      <p:sp>
        <p:nvSpPr>
          <p:cNvPr id="15" name="map-step-0"/>
          <p:cNvSpPr/>
          <p:nvPr/>
        </p:nvSpPr>
        <p:spPr>
          <a:xfrm>
            <a:off x="5532120" y="1097280"/>
            <a:ext cx="384048" cy="384048"/>
          </a:xfrm>
          <a:prstGeom prst="ellipse">
            <a:avLst/>
          </a:prstGeom>
          <a:solidFill>
            <a:schemeClr val="accent1"/>
          </a:solidFill>
          <a:ln/>
        </p:spPr>
      </p:sp>
      <p:sp>
        <p:nvSpPr>
          <p:cNvPr id="16" name="map-step-0-label"/>
          <p:cNvSpPr txBox="1"/>
          <p:nvPr/>
        </p:nvSpPr>
        <p:spPr>
          <a:xfrm>
            <a:off x="5532120" y="1097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7" name="Text 14"/>
          <p:cNvSpPr txBox="1"/>
          <p:nvPr/>
        </p:nvSpPr>
        <p:spPr>
          <a:xfrm>
            <a:off x="6035040" y="1078992"/>
            <a:ext cx="2651760" cy="292608"/>
          </a:xfrm>
          <a:prstGeom prst="rect">
            <a:avLst/>
          </a:prstGeom>
          <a:noFill/>
          <a:ln/>
        </p:spPr>
        <p:txBody>
          <a:bodyPr wrap="square" lIns="0" tIns="0" rIns="0" bIns="0" rtlCol="0" anchor="t"/>
          <a:lstStyle/>
          <a:p>
            <a:pPr indent="0" marL="0">
              <a:buNone/>
            </a:pPr>
            <a:r>
              <a:rPr lang="en-US" sz="1500" b="1" dirty="0">
                <a:solidFill>
                  <a:schemeClr val="tx2"/>
                </a:solidFill>
              </a:rPr>
              <a:t>Index the reference</a:t>
            </a:r>
            <a:endParaRPr lang="en-US" sz="1500" dirty="0"/>
          </a:p>
        </p:txBody>
      </p:sp>
      <p:sp>
        <p:nvSpPr>
          <p:cNvPr id="18" name="Text 15"/>
          <p:cNvSpPr txBox="1"/>
          <p:nvPr/>
        </p:nvSpPr>
        <p:spPr>
          <a:xfrm>
            <a:off x="6035040" y="1371600"/>
            <a:ext cx="2651760" cy="457200"/>
          </a:xfrm>
          <a:prstGeom prst="rect">
            <a:avLst/>
          </a:prstGeom>
          <a:noFill/>
          <a:ln/>
        </p:spPr>
        <p:txBody>
          <a:bodyPr wrap="square" lIns="0" tIns="0" rIns="0" bIns="0" rtlCol="0" anchor="t"/>
          <a:lstStyle/>
          <a:p>
            <a:pPr indent="0" marL="0">
              <a:buNone/>
            </a:pPr>
            <a:r>
              <a:rPr lang="en-US" sz="1300" dirty="0">
                <a:solidFill>
                  <a:srgbClr val="5E6B75"/>
                </a:solidFill>
              </a:rPr>
              <a:t>once; a searchable form of the genome</a:t>
            </a:r>
            <a:endParaRPr lang="en-US" sz="1300" dirty="0"/>
          </a:p>
        </p:txBody>
      </p:sp>
      <p:sp>
        <p:nvSpPr>
          <p:cNvPr id="19" name="map-step-1"/>
          <p:cNvSpPr/>
          <p:nvPr/>
        </p:nvSpPr>
        <p:spPr>
          <a:xfrm>
            <a:off x="5532120" y="1938528"/>
            <a:ext cx="384048" cy="384048"/>
          </a:xfrm>
          <a:prstGeom prst="ellipse">
            <a:avLst/>
          </a:prstGeom>
          <a:solidFill>
            <a:schemeClr val="accent1"/>
          </a:solidFill>
          <a:ln/>
        </p:spPr>
      </p:sp>
      <p:sp>
        <p:nvSpPr>
          <p:cNvPr id="20" name="map-step-1-label"/>
          <p:cNvSpPr txBox="1"/>
          <p:nvPr/>
        </p:nvSpPr>
        <p:spPr>
          <a:xfrm>
            <a:off x="5532120" y="19385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8"/>
          <p:cNvSpPr txBox="1"/>
          <p:nvPr/>
        </p:nvSpPr>
        <p:spPr>
          <a:xfrm>
            <a:off x="6035040" y="1920240"/>
            <a:ext cx="2651760" cy="292608"/>
          </a:xfrm>
          <a:prstGeom prst="rect">
            <a:avLst/>
          </a:prstGeom>
          <a:noFill/>
          <a:ln/>
        </p:spPr>
        <p:txBody>
          <a:bodyPr wrap="square" lIns="0" tIns="0" rIns="0" bIns="0" rtlCol="0" anchor="t"/>
          <a:lstStyle/>
          <a:p>
            <a:pPr indent="0" marL="0">
              <a:buNone/>
            </a:pPr>
            <a:r>
              <a:rPr lang="en-US" sz="1500" b="1" dirty="0">
                <a:solidFill>
                  <a:schemeClr val="tx2"/>
                </a:solidFill>
              </a:rPr>
              <a:t>Find seeds</a:t>
            </a:r>
            <a:endParaRPr lang="en-US" sz="1500" dirty="0"/>
          </a:p>
        </p:txBody>
      </p:sp>
      <p:sp>
        <p:nvSpPr>
          <p:cNvPr id="22" name="Text 19"/>
          <p:cNvSpPr txBox="1"/>
          <p:nvPr/>
        </p:nvSpPr>
        <p:spPr>
          <a:xfrm>
            <a:off x="6035040" y="2212848"/>
            <a:ext cx="2651760" cy="457200"/>
          </a:xfrm>
          <a:prstGeom prst="rect">
            <a:avLst/>
          </a:prstGeom>
          <a:noFill/>
          <a:ln/>
        </p:spPr>
        <p:txBody>
          <a:bodyPr wrap="square" lIns="0" tIns="0" rIns="0" bIns="0" rtlCol="0" anchor="t"/>
          <a:lstStyle/>
          <a:p>
            <a:pPr indent="0" marL="0">
              <a:buNone/>
            </a:pPr>
            <a:r>
              <a:rPr lang="en-US" sz="1300" dirty="0">
                <a:solidFill>
                  <a:srgbClr val="5E6B75"/>
                </a:solidFill>
              </a:rPr>
              <a:t>short exact matches between read and genome</a:t>
            </a:r>
            <a:endParaRPr lang="en-US" sz="1300" dirty="0"/>
          </a:p>
        </p:txBody>
      </p:sp>
      <p:sp>
        <p:nvSpPr>
          <p:cNvPr id="23" name="map-step-2"/>
          <p:cNvSpPr/>
          <p:nvPr/>
        </p:nvSpPr>
        <p:spPr>
          <a:xfrm>
            <a:off x="5532120" y="2779776"/>
            <a:ext cx="384048" cy="384048"/>
          </a:xfrm>
          <a:prstGeom prst="ellipse">
            <a:avLst/>
          </a:prstGeom>
          <a:solidFill>
            <a:schemeClr val="accent1"/>
          </a:solidFill>
          <a:ln/>
        </p:spPr>
      </p:sp>
      <p:sp>
        <p:nvSpPr>
          <p:cNvPr id="24" name="map-step-2-label"/>
          <p:cNvSpPr txBox="1"/>
          <p:nvPr/>
        </p:nvSpPr>
        <p:spPr>
          <a:xfrm>
            <a:off x="5532120" y="27797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5" name="Text 22"/>
          <p:cNvSpPr txBox="1"/>
          <p:nvPr/>
        </p:nvSpPr>
        <p:spPr>
          <a:xfrm>
            <a:off x="6035040" y="2761488"/>
            <a:ext cx="2651760" cy="292608"/>
          </a:xfrm>
          <a:prstGeom prst="rect">
            <a:avLst/>
          </a:prstGeom>
          <a:noFill/>
          <a:ln/>
        </p:spPr>
        <p:txBody>
          <a:bodyPr wrap="square" lIns="0" tIns="0" rIns="0" bIns="0" rtlCol="0" anchor="t"/>
          <a:lstStyle/>
          <a:p>
            <a:pPr indent="0" marL="0">
              <a:buNone/>
            </a:pPr>
            <a:r>
              <a:rPr lang="en-US" sz="1500" b="1" dirty="0">
                <a:solidFill>
                  <a:schemeClr val="tx2"/>
                </a:solidFill>
              </a:rPr>
              <a:t>Extend</a:t>
            </a:r>
            <a:endParaRPr lang="en-US" sz="1500" dirty="0"/>
          </a:p>
        </p:txBody>
      </p:sp>
      <p:sp>
        <p:nvSpPr>
          <p:cNvPr id="26" name="Text 23"/>
          <p:cNvSpPr txBox="1"/>
          <p:nvPr/>
        </p:nvSpPr>
        <p:spPr>
          <a:xfrm>
            <a:off x="6035040" y="3054096"/>
            <a:ext cx="2651760" cy="457200"/>
          </a:xfrm>
          <a:prstGeom prst="rect">
            <a:avLst/>
          </a:prstGeom>
          <a:noFill/>
          <a:ln/>
        </p:spPr>
        <p:txBody>
          <a:bodyPr wrap="square" lIns="0" tIns="0" rIns="0" bIns="0" rtlCol="0" anchor="t"/>
          <a:lstStyle/>
          <a:p>
            <a:pPr indent="0" marL="0">
              <a:buNone/>
            </a:pPr>
            <a:r>
              <a:rPr lang="en-US" sz="1300" dirty="0">
                <a:solidFill>
                  <a:srgbClr val="5E6B75"/>
                </a:solidFill>
              </a:rPr>
              <a:t>into a full alignment with mismatches and gaps</a:t>
            </a:r>
            <a:endParaRPr lang="en-US" sz="1300" dirty="0"/>
          </a:p>
        </p:txBody>
      </p:sp>
      <p:sp>
        <p:nvSpPr>
          <p:cNvPr id="27" name="map-step-3"/>
          <p:cNvSpPr/>
          <p:nvPr/>
        </p:nvSpPr>
        <p:spPr>
          <a:xfrm>
            <a:off x="5532120" y="3621024"/>
            <a:ext cx="384048" cy="384048"/>
          </a:xfrm>
          <a:prstGeom prst="ellipse">
            <a:avLst/>
          </a:prstGeom>
          <a:solidFill>
            <a:schemeClr val="accent1"/>
          </a:solidFill>
          <a:ln/>
        </p:spPr>
      </p:sp>
      <p:sp>
        <p:nvSpPr>
          <p:cNvPr id="28" name="map-step-3-label"/>
          <p:cNvSpPr txBox="1"/>
          <p:nvPr/>
        </p:nvSpPr>
        <p:spPr>
          <a:xfrm>
            <a:off x="5532120" y="36210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9" name="Text 26"/>
          <p:cNvSpPr txBox="1"/>
          <p:nvPr/>
        </p:nvSpPr>
        <p:spPr>
          <a:xfrm>
            <a:off x="6035040" y="3602736"/>
            <a:ext cx="2651760" cy="292608"/>
          </a:xfrm>
          <a:prstGeom prst="rect">
            <a:avLst/>
          </a:prstGeom>
          <a:noFill/>
          <a:ln/>
        </p:spPr>
        <p:txBody>
          <a:bodyPr wrap="square" lIns="0" tIns="0" rIns="0" bIns="0" rtlCol="0" anchor="t"/>
          <a:lstStyle/>
          <a:p>
            <a:pPr indent="0" marL="0">
              <a:buNone/>
            </a:pPr>
            <a:r>
              <a:rPr lang="en-US" sz="1500" b="1" dirty="0">
                <a:solidFill>
                  <a:schemeClr val="tx2"/>
                </a:solidFill>
              </a:rPr>
              <a:t>Report</a:t>
            </a:r>
            <a:endParaRPr lang="en-US" sz="1500" dirty="0"/>
          </a:p>
        </p:txBody>
      </p:sp>
      <p:sp>
        <p:nvSpPr>
          <p:cNvPr id="30" name="Text 27"/>
          <p:cNvSpPr txBox="1"/>
          <p:nvPr/>
        </p:nvSpPr>
        <p:spPr>
          <a:xfrm>
            <a:off x="6035040" y="3895344"/>
            <a:ext cx="2651760" cy="457200"/>
          </a:xfrm>
          <a:prstGeom prst="rect">
            <a:avLst/>
          </a:prstGeom>
          <a:noFill/>
          <a:ln/>
        </p:spPr>
        <p:txBody>
          <a:bodyPr wrap="square" lIns="0" tIns="0" rIns="0" bIns="0" rtlCol="0" anchor="t"/>
          <a:lstStyle/>
          <a:p>
            <a:pPr indent="0" marL="0">
              <a:buNone/>
            </a:pPr>
            <a:r>
              <a:rPr lang="en-US" sz="1300" dirty="0">
                <a:solidFill>
                  <a:srgbClr val="5E6B75"/>
                </a:solidFill>
              </a:rPr>
              <a:t>the best position, and how sure it is (MAPQ)</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89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Inside a BAM file: one line per read</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005840"/>
                <a:gridCol w="1188720"/>
                <a:gridCol w="6035040"/>
              </a:tblGrid>
              <a:tr h="384048">
                <a:tc>
                  <a:txBody>
                    <a:bodyPr/>
                    <a:lstStyle/>
                    <a:p>
                      <a:pPr indent="0" marL="0">
                        <a:buNone/>
                      </a:pPr>
                      <a:r>
                        <a:rPr lang="en-US" sz="1300" b="1" dirty="0">
                          <a:solidFill>
                            <a:srgbClr val="FFFFFF"/>
                          </a:solidFill>
                        </a:rPr>
                        <a:t>Field</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0E3B47"/>
                    </a:solidFill>
                  </a:tcPr>
                </a:tc>
                <a:tc>
                  <a:txBody>
                    <a:bodyPr/>
                    <a:lstStyle/>
                    <a:p>
                      <a:pPr indent="0" marL="0">
                        <a:buNone/>
                      </a:pPr>
                      <a:r>
                        <a:rPr lang="en-US" sz="1300" b="1" dirty="0">
                          <a:solidFill>
                            <a:srgbClr val="FFFFFF"/>
                          </a:solidFill>
                        </a:rPr>
                        <a:t>Example</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0E3B47"/>
                    </a:solidFill>
                  </a:tcPr>
                </a:tc>
                <a:tc>
                  <a:txBody>
                    <a:bodyPr/>
                    <a:lstStyle/>
                    <a:p>
                      <a:pPr indent="0" marL="0">
                        <a:buNone/>
                      </a:pPr>
                      <a:r>
                        <a:rPr lang="en-US" sz="1300" b="1" dirty="0">
                          <a:solidFill>
                            <a:srgbClr val="FFFFFF"/>
                          </a:solidFill>
                        </a:rPr>
                        <a:t>Meaning</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0E3B47"/>
                    </a:solidFill>
                  </a:tcPr>
                </a:tc>
              </a:tr>
              <a:tr h="384048">
                <a:tc>
                  <a:txBody>
                    <a:bodyPr/>
                    <a:lstStyle/>
                    <a:p>
                      <a:pPr indent="0" marL="0">
                        <a:buNone/>
                      </a:pPr>
                      <a:r>
                        <a:rPr lang="en-US" sz="1300" b="1" dirty="0">
                          <a:solidFill>
                            <a:srgbClr val="1B2B34"/>
                          </a:solidFill>
                        </a:rPr>
                        <a:t>FLAG</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16</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mapped to the reverse strand (4 = unmapped, 1024 = PCR duplicate)</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B2B34"/>
                          </a:solidFill>
                        </a:rPr>
                        <a:t>POS</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104233</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leftmost reference position of the alignment</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B2B34"/>
                          </a:solidFill>
                        </a:rPr>
                        <a:t>MAPQ</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60  /  0</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sure of the position  /  fits equally well elsewhere</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1B2B34"/>
                          </a:solidFill>
                        </a:rPr>
                        <a:t>CIGAR</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20S80M</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20 bases not aligned (soft-clipped), then 80 aligned</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3291840"/>
            <a:ext cx="1828800" cy="274320"/>
          </a:xfrm>
          <a:prstGeom prst="rect">
            <a:avLst/>
          </a:prstGeom>
          <a:noFill/>
          <a:ln/>
        </p:spPr>
        <p:txBody>
          <a:bodyPr wrap="square" lIns="0" tIns="0" rIns="0" bIns="0" rtlCol="0" anchor="t"/>
          <a:lstStyle/>
          <a:p>
            <a:pPr indent="0" marL="0">
              <a:buNone/>
            </a:pPr>
            <a:r>
              <a:rPr lang="en-US" sz="1300" b="1" dirty="0">
                <a:solidFill>
                  <a:schemeClr val="tx2"/>
                </a:solidFill>
              </a:rPr>
              <a:t>CIGAR 20S80M</a:t>
            </a:r>
            <a:endParaRPr lang="en-US" sz="1300" dirty="0"/>
          </a:p>
        </p:txBody>
      </p:sp>
      <p:sp>
        <p:nvSpPr>
          <p:cNvPr id="6" name="cigar-ref"/>
          <p:cNvSpPr/>
          <p:nvPr/>
        </p:nvSpPr>
        <p:spPr>
          <a:xfrm>
            <a:off x="2377440" y="4069080"/>
            <a:ext cx="6309360" cy="128016"/>
          </a:xfrm>
          <a:prstGeom prst="rect">
            <a:avLst/>
          </a:prstGeom>
          <a:solidFill>
            <a:srgbClr val="7A8894"/>
          </a:solidFill>
          <a:ln/>
        </p:spPr>
      </p:sp>
      <p:sp>
        <p:nvSpPr>
          <p:cNvPr id="7" name="Text 3"/>
          <p:cNvSpPr txBox="1"/>
          <p:nvPr/>
        </p:nvSpPr>
        <p:spPr>
          <a:xfrm>
            <a:off x="2377440" y="4251960"/>
            <a:ext cx="1828800" cy="274320"/>
          </a:xfrm>
          <a:prstGeom prst="rect">
            <a:avLst/>
          </a:prstGeom>
          <a:noFill/>
          <a:ln/>
        </p:spPr>
        <p:txBody>
          <a:bodyPr wrap="square" lIns="0" tIns="0" rIns="0" bIns="0" rtlCol="0" anchor="t"/>
          <a:lstStyle/>
          <a:p>
            <a:pPr indent="0" marL="0">
              <a:buNone/>
            </a:pPr>
            <a:r>
              <a:rPr lang="en-US" sz="1100" dirty="0">
                <a:solidFill>
                  <a:srgbClr val="5E6B75"/>
                </a:solidFill>
              </a:rPr>
              <a:t>reference</a:t>
            </a:r>
            <a:endParaRPr lang="en-US" sz="1100" dirty="0"/>
          </a:p>
        </p:txBody>
      </p:sp>
      <p:sp>
        <p:nvSpPr>
          <p:cNvPr id="8" name="cigar-softclip"/>
          <p:cNvSpPr/>
          <p:nvPr/>
        </p:nvSpPr>
        <p:spPr>
          <a:xfrm>
            <a:off x="2926080" y="3383280"/>
            <a:ext cx="914400" cy="201168"/>
          </a:xfrm>
          <a:prstGeom prst="rect">
            <a:avLst/>
          </a:prstGeom>
          <a:solidFill>
            <a:srgbClr val="E4572E"/>
          </a:solidFill>
          <a:ln/>
        </p:spPr>
      </p:sp>
      <p:sp>
        <p:nvSpPr>
          <p:cNvPr id="9" name="cigar-match"/>
          <p:cNvSpPr/>
          <p:nvPr/>
        </p:nvSpPr>
        <p:spPr>
          <a:xfrm>
            <a:off x="3840480" y="3767328"/>
            <a:ext cx="3657600" cy="201168"/>
          </a:xfrm>
          <a:prstGeom prst="rect">
            <a:avLst/>
          </a:prstGeom>
          <a:solidFill>
            <a:srgbClr val="0F7C8C"/>
          </a:solidFill>
          <a:ln/>
        </p:spPr>
      </p:sp>
      <p:sp>
        <p:nvSpPr>
          <p:cNvPr id="10" name="Text 6"/>
          <p:cNvSpPr txBox="1"/>
          <p:nvPr/>
        </p:nvSpPr>
        <p:spPr>
          <a:xfrm>
            <a:off x="2377440" y="3063240"/>
            <a:ext cx="2194560" cy="274320"/>
          </a:xfrm>
          <a:prstGeom prst="rect">
            <a:avLst/>
          </a:prstGeom>
          <a:noFill/>
          <a:ln/>
        </p:spPr>
        <p:txBody>
          <a:bodyPr wrap="square" lIns="0" tIns="0" rIns="0" bIns="0" rtlCol="0" anchor="t"/>
          <a:lstStyle/>
          <a:p>
            <a:pPr indent="0" marL="0">
              <a:buNone/>
            </a:pPr>
            <a:r>
              <a:rPr lang="en-US" sz="1100" dirty="0">
                <a:solidFill>
                  <a:srgbClr val="E4572E"/>
                </a:solidFill>
              </a:rPr>
              <a:t>20S: does not match here</a:t>
            </a:r>
            <a:endParaRPr lang="en-US" sz="1100" dirty="0"/>
          </a:p>
        </p:txBody>
      </p:sp>
      <p:sp>
        <p:nvSpPr>
          <p:cNvPr id="11" name="Text 7"/>
          <p:cNvSpPr txBox="1"/>
          <p:nvPr/>
        </p:nvSpPr>
        <p:spPr>
          <a:xfrm>
            <a:off x="5120640" y="3474720"/>
            <a:ext cx="1463040" cy="274320"/>
          </a:xfrm>
          <a:prstGeom prst="rect">
            <a:avLst/>
          </a:prstGeom>
          <a:noFill/>
          <a:ln/>
        </p:spPr>
        <p:txBody>
          <a:bodyPr wrap="square" lIns="0" tIns="0" rIns="0" bIns="0" rtlCol="0" anchor="t"/>
          <a:lstStyle/>
          <a:p>
            <a:pPr indent="0" marL="0">
              <a:buNone/>
            </a:pPr>
            <a:r>
              <a:rPr lang="en-US" sz="1100" dirty="0">
                <a:solidFill>
                  <a:srgbClr val="0F7C8C"/>
                </a:solidFill>
              </a:rPr>
              <a:t>80M: aligned</a:t>
            </a:r>
            <a:endParaRPr lang="en-US" sz="1100" dirty="0"/>
          </a:p>
        </p:txBody>
      </p:sp>
      <p:sp>
        <p:nvSpPr>
          <p:cNvPr id="12" name="Text 8"/>
          <p:cNvSpPr txBox="1"/>
          <p:nvPr/>
        </p:nvSpPr>
        <p:spPr>
          <a:xfrm>
            <a:off x="457200" y="3657600"/>
            <a:ext cx="1828800" cy="914400"/>
          </a:xfrm>
          <a:prstGeom prst="rect">
            <a:avLst/>
          </a:prstGeom>
          <a:noFill/>
          <a:ln/>
        </p:spPr>
        <p:txBody>
          <a:bodyPr wrap="square" lIns="0" tIns="0" rIns="0" bIns="0" rtlCol="0" anchor="t"/>
          <a:lstStyle/>
          <a:p>
            <a:pPr indent="0" marL="0">
              <a:buNone/>
            </a:pPr>
            <a:r>
              <a:rPr lang="en-US" sz="1100" i="1" dirty="0">
                <a:solidFill>
                  <a:srgbClr val="5E6B75"/>
                </a:solidFill>
              </a:rPr>
              <a:t>Soft clips often mark the edge of a region that is missing from the reference.</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89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Depth and breadth of coverage</a:t>
            </a:r>
            <a:endParaRPr lang="en-US" sz="2800" dirty="0"/>
          </a:p>
        </p:txBody>
      </p:sp>
      <p:sp>
        <p:nvSpPr>
          <p:cNvPr id="4" name="cov-read-0-62"/>
          <p:cNvSpPr/>
          <p:nvPr/>
        </p:nvSpPr>
        <p:spPr>
          <a:xfrm>
            <a:off x="566371" y="1188720"/>
            <a:ext cx="566928" cy="109728"/>
          </a:xfrm>
          <a:prstGeom prst="roundRect">
            <a:avLst>
              <a:gd name="adj" fmla="val 50000"/>
            </a:avLst>
          </a:prstGeom>
          <a:solidFill>
            <a:srgbClr val="0F7C8C"/>
          </a:solidFill>
          <a:ln/>
        </p:spPr>
      </p:sp>
      <p:sp>
        <p:nvSpPr>
          <p:cNvPr id="5" name="cov-read-0-162"/>
          <p:cNvSpPr/>
          <p:nvPr/>
        </p:nvSpPr>
        <p:spPr>
          <a:xfrm>
            <a:off x="1480517" y="1188720"/>
            <a:ext cx="566928" cy="109728"/>
          </a:xfrm>
          <a:prstGeom prst="roundRect">
            <a:avLst>
              <a:gd name="adj" fmla="val 50000"/>
            </a:avLst>
          </a:prstGeom>
          <a:solidFill>
            <a:srgbClr val="0F7C8C"/>
          </a:solidFill>
          <a:ln/>
        </p:spPr>
      </p:sp>
      <p:sp>
        <p:nvSpPr>
          <p:cNvPr id="6" name="cov-read-0-251"/>
          <p:cNvSpPr/>
          <p:nvPr/>
        </p:nvSpPr>
        <p:spPr>
          <a:xfrm>
            <a:off x="2298331" y="1188720"/>
            <a:ext cx="566928" cy="109728"/>
          </a:xfrm>
          <a:prstGeom prst="roundRect">
            <a:avLst>
              <a:gd name="adj" fmla="val 50000"/>
            </a:avLst>
          </a:prstGeom>
          <a:solidFill>
            <a:srgbClr val="0F7C8C"/>
          </a:solidFill>
          <a:ln/>
        </p:spPr>
      </p:sp>
      <p:sp>
        <p:nvSpPr>
          <p:cNvPr id="7" name="cov-read-0-519"/>
          <p:cNvSpPr/>
          <p:nvPr/>
        </p:nvSpPr>
        <p:spPr>
          <a:xfrm>
            <a:off x="4750054" y="1188720"/>
            <a:ext cx="566928" cy="109728"/>
          </a:xfrm>
          <a:prstGeom prst="roundRect">
            <a:avLst>
              <a:gd name="adj" fmla="val 50000"/>
            </a:avLst>
          </a:prstGeom>
          <a:solidFill>
            <a:srgbClr val="0F7C8C"/>
          </a:solidFill>
          <a:ln/>
        </p:spPr>
      </p:sp>
      <p:sp>
        <p:nvSpPr>
          <p:cNvPr id="8" name="cov-read-1-53"/>
          <p:cNvSpPr/>
          <p:nvPr/>
        </p:nvSpPr>
        <p:spPr>
          <a:xfrm>
            <a:off x="481480" y="1371600"/>
            <a:ext cx="566928" cy="109728"/>
          </a:xfrm>
          <a:prstGeom prst="roundRect">
            <a:avLst>
              <a:gd name="adj" fmla="val 50000"/>
            </a:avLst>
          </a:prstGeom>
          <a:solidFill>
            <a:srgbClr val="3D5A80"/>
          </a:solidFill>
          <a:ln/>
        </p:spPr>
      </p:sp>
      <p:sp>
        <p:nvSpPr>
          <p:cNvPr id="9" name="cov-read-1-123"/>
          <p:cNvSpPr/>
          <p:nvPr/>
        </p:nvSpPr>
        <p:spPr>
          <a:xfrm>
            <a:off x="1125286" y="1371600"/>
            <a:ext cx="566928" cy="109728"/>
          </a:xfrm>
          <a:prstGeom prst="roundRect">
            <a:avLst>
              <a:gd name="adj" fmla="val 50000"/>
            </a:avLst>
          </a:prstGeom>
          <a:solidFill>
            <a:srgbClr val="3D5A80"/>
          </a:solidFill>
          <a:ln/>
        </p:spPr>
      </p:sp>
      <p:sp>
        <p:nvSpPr>
          <p:cNvPr id="10" name="cov-read-1-226"/>
          <p:cNvSpPr/>
          <p:nvPr/>
        </p:nvSpPr>
        <p:spPr>
          <a:xfrm>
            <a:off x="2061977" y="1371600"/>
            <a:ext cx="566928" cy="109728"/>
          </a:xfrm>
          <a:prstGeom prst="roundRect">
            <a:avLst>
              <a:gd name="adj" fmla="val 50000"/>
            </a:avLst>
          </a:prstGeom>
          <a:solidFill>
            <a:srgbClr val="3D5A80"/>
          </a:solidFill>
          <a:ln/>
        </p:spPr>
      </p:sp>
      <p:sp>
        <p:nvSpPr>
          <p:cNvPr id="11" name="cov-read-1-328"/>
          <p:cNvSpPr/>
          <p:nvPr/>
        </p:nvSpPr>
        <p:spPr>
          <a:xfrm>
            <a:off x="2995106" y="1371600"/>
            <a:ext cx="566928" cy="109728"/>
          </a:xfrm>
          <a:prstGeom prst="roundRect">
            <a:avLst>
              <a:gd name="adj" fmla="val 50000"/>
            </a:avLst>
          </a:prstGeom>
          <a:solidFill>
            <a:srgbClr val="3D5A80"/>
          </a:solidFill>
          <a:ln/>
        </p:spPr>
      </p:sp>
      <p:sp>
        <p:nvSpPr>
          <p:cNvPr id="12" name="cov-read-1-498"/>
          <p:cNvSpPr/>
          <p:nvPr/>
        </p:nvSpPr>
        <p:spPr>
          <a:xfrm>
            <a:off x="4553324" y="1371600"/>
            <a:ext cx="566928" cy="109728"/>
          </a:xfrm>
          <a:prstGeom prst="roundRect">
            <a:avLst>
              <a:gd name="adj" fmla="val 50000"/>
            </a:avLst>
          </a:prstGeom>
          <a:solidFill>
            <a:srgbClr val="3D5A80"/>
          </a:solidFill>
          <a:ln/>
        </p:spPr>
      </p:sp>
      <p:sp>
        <p:nvSpPr>
          <p:cNvPr id="13" name="cov-read-2-80"/>
          <p:cNvSpPr/>
          <p:nvPr/>
        </p:nvSpPr>
        <p:spPr>
          <a:xfrm>
            <a:off x="733822" y="1554480"/>
            <a:ext cx="566928" cy="109728"/>
          </a:xfrm>
          <a:prstGeom prst="roundRect">
            <a:avLst>
              <a:gd name="adj" fmla="val 50000"/>
            </a:avLst>
          </a:prstGeom>
          <a:solidFill>
            <a:srgbClr val="0F7C8C"/>
          </a:solidFill>
          <a:ln/>
        </p:spPr>
      </p:sp>
      <p:sp>
        <p:nvSpPr>
          <p:cNvPr id="14" name="cov-read-2-175"/>
          <p:cNvSpPr/>
          <p:nvPr/>
        </p:nvSpPr>
        <p:spPr>
          <a:xfrm>
            <a:off x="1604419" y="1554480"/>
            <a:ext cx="566928" cy="109728"/>
          </a:xfrm>
          <a:prstGeom prst="roundRect">
            <a:avLst>
              <a:gd name="adj" fmla="val 50000"/>
            </a:avLst>
          </a:prstGeom>
          <a:solidFill>
            <a:srgbClr val="0F7C8C"/>
          </a:solidFill>
          <a:ln/>
        </p:spPr>
      </p:sp>
      <p:sp>
        <p:nvSpPr>
          <p:cNvPr id="15" name="cov-read-2-271"/>
          <p:cNvSpPr/>
          <p:nvPr/>
        </p:nvSpPr>
        <p:spPr>
          <a:xfrm>
            <a:off x="2475782" y="1554480"/>
            <a:ext cx="566928" cy="109728"/>
          </a:xfrm>
          <a:prstGeom prst="roundRect">
            <a:avLst>
              <a:gd name="adj" fmla="val 50000"/>
            </a:avLst>
          </a:prstGeom>
          <a:solidFill>
            <a:srgbClr val="0F7C8C"/>
          </a:solidFill>
          <a:ln/>
        </p:spPr>
      </p:sp>
      <p:sp>
        <p:nvSpPr>
          <p:cNvPr id="16" name="cov-read-3-68"/>
          <p:cNvSpPr/>
          <p:nvPr/>
        </p:nvSpPr>
        <p:spPr>
          <a:xfrm>
            <a:off x="622919" y="1737360"/>
            <a:ext cx="566928" cy="109728"/>
          </a:xfrm>
          <a:prstGeom prst="roundRect">
            <a:avLst>
              <a:gd name="adj" fmla="val 50000"/>
            </a:avLst>
          </a:prstGeom>
          <a:solidFill>
            <a:srgbClr val="3D5A80"/>
          </a:solidFill>
          <a:ln/>
        </p:spPr>
      </p:sp>
      <p:sp>
        <p:nvSpPr>
          <p:cNvPr id="17" name="cov-read-3-153"/>
          <p:cNvSpPr/>
          <p:nvPr/>
        </p:nvSpPr>
        <p:spPr>
          <a:xfrm>
            <a:off x="1398812" y="1737360"/>
            <a:ext cx="566928" cy="109728"/>
          </a:xfrm>
          <a:prstGeom prst="roundRect">
            <a:avLst>
              <a:gd name="adj" fmla="val 50000"/>
            </a:avLst>
          </a:prstGeom>
          <a:solidFill>
            <a:srgbClr val="3D5A80"/>
          </a:solidFill>
          <a:ln/>
        </p:spPr>
      </p:sp>
      <p:sp>
        <p:nvSpPr>
          <p:cNvPr id="18" name="cov-read-3-224"/>
          <p:cNvSpPr/>
          <p:nvPr/>
        </p:nvSpPr>
        <p:spPr>
          <a:xfrm>
            <a:off x="2050029" y="1737360"/>
            <a:ext cx="566928" cy="109728"/>
          </a:xfrm>
          <a:prstGeom prst="roundRect">
            <a:avLst>
              <a:gd name="adj" fmla="val 50000"/>
            </a:avLst>
          </a:prstGeom>
          <a:solidFill>
            <a:srgbClr val="3D5A80"/>
          </a:solidFill>
          <a:ln/>
        </p:spPr>
      </p:sp>
      <p:sp>
        <p:nvSpPr>
          <p:cNvPr id="19" name="cov-read-3-318"/>
          <p:cNvSpPr/>
          <p:nvPr/>
        </p:nvSpPr>
        <p:spPr>
          <a:xfrm>
            <a:off x="2911575" y="1737360"/>
            <a:ext cx="566928" cy="109728"/>
          </a:xfrm>
          <a:prstGeom prst="roundRect">
            <a:avLst>
              <a:gd name="adj" fmla="val 50000"/>
            </a:avLst>
          </a:prstGeom>
          <a:solidFill>
            <a:srgbClr val="3D5A80"/>
          </a:solidFill>
          <a:ln/>
        </p:spPr>
      </p:sp>
      <p:sp>
        <p:nvSpPr>
          <p:cNvPr id="20" name="cov-read-3-496"/>
          <p:cNvSpPr/>
          <p:nvPr/>
        </p:nvSpPr>
        <p:spPr>
          <a:xfrm>
            <a:off x="4536747" y="1737360"/>
            <a:ext cx="566928" cy="109728"/>
          </a:xfrm>
          <a:prstGeom prst="roundRect">
            <a:avLst>
              <a:gd name="adj" fmla="val 50000"/>
            </a:avLst>
          </a:prstGeom>
          <a:solidFill>
            <a:srgbClr val="3D5A80"/>
          </a:solidFill>
          <a:ln/>
        </p:spPr>
      </p:sp>
      <p:sp>
        <p:nvSpPr>
          <p:cNvPr id="21" name="cov-read-4-99"/>
          <p:cNvSpPr/>
          <p:nvPr/>
        </p:nvSpPr>
        <p:spPr>
          <a:xfrm>
            <a:off x="906062" y="1920240"/>
            <a:ext cx="566928" cy="109728"/>
          </a:xfrm>
          <a:prstGeom prst="roundRect">
            <a:avLst>
              <a:gd name="adj" fmla="val 50000"/>
            </a:avLst>
          </a:prstGeom>
          <a:solidFill>
            <a:srgbClr val="0F7C8C"/>
          </a:solidFill>
          <a:ln/>
        </p:spPr>
      </p:sp>
      <p:sp>
        <p:nvSpPr>
          <p:cNvPr id="22" name="cov-read-4-171"/>
          <p:cNvSpPr/>
          <p:nvPr/>
        </p:nvSpPr>
        <p:spPr>
          <a:xfrm>
            <a:off x="1566920" y="1920240"/>
            <a:ext cx="566928" cy="109728"/>
          </a:xfrm>
          <a:prstGeom prst="roundRect">
            <a:avLst>
              <a:gd name="adj" fmla="val 50000"/>
            </a:avLst>
          </a:prstGeom>
          <a:solidFill>
            <a:srgbClr val="0F7C8C"/>
          </a:solidFill>
          <a:ln/>
        </p:spPr>
      </p:sp>
      <p:sp>
        <p:nvSpPr>
          <p:cNvPr id="23" name="cov-read-4-255"/>
          <p:cNvSpPr/>
          <p:nvPr/>
        </p:nvSpPr>
        <p:spPr>
          <a:xfrm>
            <a:off x="2334259" y="1920240"/>
            <a:ext cx="566928" cy="109728"/>
          </a:xfrm>
          <a:prstGeom prst="roundRect">
            <a:avLst>
              <a:gd name="adj" fmla="val 50000"/>
            </a:avLst>
          </a:prstGeom>
          <a:solidFill>
            <a:srgbClr val="0F7C8C"/>
          </a:solidFill>
          <a:ln/>
        </p:spPr>
      </p:sp>
      <p:sp>
        <p:nvSpPr>
          <p:cNvPr id="24" name="cov-read-4-483"/>
          <p:cNvSpPr/>
          <p:nvPr/>
        </p:nvSpPr>
        <p:spPr>
          <a:xfrm>
            <a:off x="4416737" y="1920240"/>
            <a:ext cx="566928" cy="109728"/>
          </a:xfrm>
          <a:prstGeom prst="roundRect">
            <a:avLst>
              <a:gd name="adj" fmla="val 50000"/>
            </a:avLst>
          </a:prstGeom>
          <a:solidFill>
            <a:srgbClr val="0F7C8C"/>
          </a:solidFill>
          <a:ln/>
        </p:spPr>
      </p:sp>
      <p:sp>
        <p:nvSpPr>
          <p:cNvPr id="25" name="cov-read-5-89"/>
          <p:cNvSpPr/>
          <p:nvPr/>
        </p:nvSpPr>
        <p:spPr>
          <a:xfrm>
            <a:off x="810537" y="2103120"/>
            <a:ext cx="566928" cy="109728"/>
          </a:xfrm>
          <a:prstGeom prst="roundRect">
            <a:avLst>
              <a:gd name="adj" fmla="val 50000"/>
            </a:avLst>
          </a:prstGeom>
          <a:solidFill>
            <a:srgbClr val="3D5A80"/>
          </a:solidFill>
          <a:ln/>
        </p:spPr>
      </p:sp>
      <p:sp>
        <p:nvSpPr>
          <p:cNvPr id="26" name="cov-read-5-160"/>
          <p:cNvSpPr/>
          <p:nvPr/>
        </p:nvSpPr>
        <p:spPr>
          <a:xfrm>
            <a:off x="1459386" y="2103120"/>
            <a:ext cx="566928" cy="109728"/>
          </a:xfrm>
          <a:prstGeom prst="roundRect">
            <a:avLst>
              <a:gd name="adj" fmla="val 50000"/>
            </a:avLst>
          </a:prstGeom>
          <a:solidFill>
            <a:srgbClr val="3D5A80"/>
          </a:solidFill>
          <a:ln/>
        </p:spPr>
      </p:sp>
      <p:sp>
        <p:nvSpPr>
          <p:cNvPr id="27" name="cov-read-5-249"/>
          <p:cNvSpPr/>
          <p:nvPr/>
        </p:nvSpPr>
        <p:spPr>
          <a:xfrm>
            <a:off x="2274984" y="2103120"/>
            <a:ext cx="566928" cy="109728"/>
          </a:xfrm>
          <a:prstGeom prst="roundRect">
            <a:avLst>
              <a:gd name="adj" fmla="val 50000"/>
            </a:avLst>
          </a:prstGeom>
          <a:solidFill>
            <a:srgbClr val="3D5A80"/>
          </a:solidFill>
          <a:ln/>
        </p:spPr>
      </p:sp>
      <p:sp>
        <p:nvSpPr>
          <p:cNvPr id="28" name="cov-read-5-515"/>
          <p:cNvSpPr/>
          <p:nvPr/>
        </p:nvSpPr>
        <p:spPr>
          <a:xfrm>
            <a:off x="4710859" y="2103120"/>
            <a:ext cx="566928" cy="109728"/>
          </a:xfrm>
          <a:prstGeom prst="roundRect">
            <a:avLst>
              <a:gd name="adj" fmla="val 50000"/>
            </a:avLst>
          </a:prstGeom>
          <a:solidFill>
            <a:srgbClr val="3D5A80"/>
          </a:solidFill>
          <a:ln/>
        </p:spPr>
      </p:sp>
      <p:sp>
        <p:nvSpPr>
          <p:cNvPr id="29" name="cov-read-6-66"/>
          <p:cNvSpPr/>
          <p:nvPr/>
        </p:nvSpPr>
        <p:spPr>
          <a:xfrm>
            <a:off x="600195" y="2286000"/>
            <a:ext cx="566928" cy="109728"/>
          </a:xfrm>
          <a:prstGeom prst="roundRect">
            <a:avLst>
              <a:gd name="adj" fmla="val 50000"/>
            </a:avLst>
          </a:prstGeom>
          <a:solidFill>
            <a:srgbClr val="0F7C8C"/>
          </a:solidFill>
          <a:ln/>
        </p:spPr>
      </p:sp>
      <p:sp>
        <p:nvSpPr>
          <p:cNvPr id="30" name="cov-read-6-152"/>
          <p:cNvSpPr/>
          <p:nvPr/>
        </p:nvSpPr>
        <p:spPr>
          <a:xfrm>
            <a:off x="1385996" y="2286000"/>
            <a:ext cx="566928" cy="109728"/>
          </a:xfrm>
          <a:prstGeom prst="roundRect">
            <a:avLst>
              <a:gd name="adj" fmla="val 50000"/>
            </a:avLst>
          </a:prstGeom>
          <a:solidFill>
            <a:srgbClr val="0F7C8C"/>
          </a:solidFill>
          <a:ln/>
        </p:spPr>
      </p:sp>
      <p:sp>
        <p:nvSpPr>
          <p:cNvPr id="31" name="cov-read-6-244"/>
          <p:cNvSpPr/>
          <p:nvPr/>
        </p:nvSpPr>
        <p:spPr>
          <a:xfrm>
            <a:off x="2235557" y="2286000"/>
            <a:ext cx="566928" cy="109728"/>
          </a:xfrm>
          <a:prstGeom prst="roundRect">
            <a:avLst>
              <a:gd name="adj" fmla="val 50000"/>
            </a:avLst>
          </a:prstGeom>
          <a:solidFill>
            <a:srgbClr val="0F7C8C"/>
          </a:solidFill>
          <a:ln/>
        </p:spPr>
      </p:sp>
      <p:sp>
        <p:nvSpPr>
          <p:cNvPr id="32" name="cov-read-6-323"/>
          <p:cNvSpPr/>
          <p:nvPr/>
        </p:nvSpPr>
        <p:spPr>
          <a:xfrm>
            <a:off x="2956483" y="2286000"/>
            <a:ext cx="566928" cy="109728"/>
          </a:xfrm>
          <a:prstGeom prst="roundRect">
            <a:avLst>
              <a:gd name="adj" fmla="val 50000"/>
            </a:avLst>
          </a:prstGeom>
          <a:solidFill>
            <a:srgbClr val="0F7C8C"/>
          </a:solidFill>
          <a:ln/>
        </p:spPr>
      </p:sp>
      <p:sp>
        <p:nvSpPr>
          <p:cNvPr id="33" name="cov-read-6-495"/>
          <p:cNvSpPr/>
          <p:nvPr/>
        </p:nvSpPr>
        <p:spPr>
          <a:xfrm>
            <a:off x="4530455" y="2286000"/>
            <a:ext cx="566928" cy="109728"/>
          </a:xfrm>
          <a:prstGeom prst="roundRect">
            <a:avLst>
              <a:gd name="adj" fmla="val 50000"/>
            </a:avLst>
          </a:prstGeom>
          <a:solidFill>
            <a:srgbClr val="0F7C8C"/>
          </a:solidFill>
          <a:ln/>
        </p:spPr>
      </p:sp>
      <p:sp>
        <p:nvSpPr>
          <p:cNvPr id="34" name="cov-bin-0"/>
          <p:cNvSpPr/>
          <p:nvPr/>
        </p:nvSpPr>
        <p:spPr>
          <a:xfrm>
            <a:off x="457200" y="3337560"/>
            <a:ext cx="82296" cy="91440"/>
          </a:xfrm>
          <a:prstGeom prst="rect">
            <a:avLst/>
          </a:prstGeom>
          <a:solidFill>
            <a:srgbClr val="0F7C8C"/>
          </a:solidFill>
          <a:ln/>
        </p:spPr>
      </p:sp>
      <p:sp>
        <p:nvSpPr>
          <p:cNvPr id="35" name="cov-bin-1"/>
          <p:cNvSpPr/>
          <p:nvPr/>
        </p:nvSpPr>
        <p:spPr>
          <a:xfrm>
            <a:off x="548640" y="3063240"/>
            <a:ext cx="82296" cy="365760"/>
          </a:xfrm>
          <a:prstGeom prst="rect">
            <a:avLst/>
          </a:prstGeom>
          <a:solidFill>
            <a:srgbClr val="0F7C8C"/>
          </a:solidFill>
          <a:ln/>
        </p:spPr>
      </p:sp>
      <p:sp>
        <p:nvSpPr>
          <p:cNvPr id="36" name="cov-bin-2"/>
          <p:cNvSpPr/>
          <p:nvPr/>
        </p:nvSpPr>
        <p:spPr>
          <a:xfrm>
            <a:off x="640080" y="3063240"/>
            <a:ext cx="82296" cy="365760"/>
          </a:xfrm>
          <a:prstGeom prst="rect">
            <a:avLst/>
          </a:prstGeom>
          <a:solidFill>
            <a:srgbClr val="0F7C8C"/>
          </a:solidFill>
          <a:ln/>
        </p:spPr>
      </p:sp>
      <p:sp>
        <p:nvSpPr>
          <p:cNvPr id="37" name="cov-bin-3"/>
          <p:cNvSpPr/>
          <p:nvPr/>
        </p:nvSpPr>
        <p:spPr>
          <a:xfrm>
            <a:off x="731520" y="2880360"/>
            <a:ext cx="82296" cy="548640"/>
          </a:xfrm>
          <a:prstGeom prst="rect">
            <a:avLst/>
          </a:prstGeom>
          <a:solidFill>
            <a:srgbClr val="0F7C8C"/>
          </a:solidFill>
          <a:ln/>
        </p:spPr>
      </p:sp>
      <p:sp>
        <p:nvSpPr>
          <p:cNvPr id="38" name="cov-bin-4"/>
          <p:cNvSpPr/>
          <p:nvPr/>
        </p:nvSpPr>
        <p:spPr>
          <a:xfrm>
            <a:off x="822960" y="2788920"/>
            <a:ext cx="82296" cy="640080"/>
          </a:xfrm>
          <a:prstGeom prst="rect">
            <a:avLst/>
          </a:prstGeom>
          <a:solidFill>
            <a:srgbClr val="0F7C8C"/>
          </a:solidFill>
          <a:ln/>
        </p:spPr>
      </p:sp>
      <p:sp>
        <p:nvSpPr>
          <p:cNvPr id="39" name="cov-bin-5"/>
          <p:cNvSpPr/>
          <p:nvPr/>
        </p:nvSpPr>
        <p:spPr>
          <a:xfrm>
            <a:off x="914400" y="2788920"/>
            <a:ext cx="82296" cy="640080"/>
          </a:xfrm>
          <a:prstGeom prst="rect">
            <a:avLst/>
          </a:prstGeom>
          <a:solidFill>
            <a:srgbClr val="0F7C8C"/>
          </a:solidFill>
          <a:ln/>
        </p:spPr>
      </p:sp>
      <p:sp>
        <p:nvSpPr>
          <p:cNvPr id="40" name="cov-bin-6"/>
          <p:cNvSpPr/>
          <p:nvPr/>
        </p:nvSpPr>
        <p:spPr>
          <a:xfrm>
            <a:off x="1005840" y="2788920"/>
            <a:ext cx="82296" cy="640080"/>
          </a:xfrm>
          <a:prstGeom prst="rect">
            <a:avLst/>
          </a:prstGeom>
          <a:solidFill>
            <a:srgbClr val="0F7C8C"/>
          </a:solidFill>
          <a:ln/>
        </p:spPr>
      </p:sp>
      <p:sp>
        <p:nvSpPr>
          <p:cNvPr id="41" name="cov-bin-7"/>
          <p:cNvSpPr/>
          <p:nvPr/>
        </p:nvSpPr>
        <p:spPr>
          <a:xfrm>
            <a:off x="1097280" y="2788920"/>
            <a:ext cx="82296" cy="640080"/>
          </a:xfrm>
          <a:prstGeom prst="rect">
            <a:avLst/>
          </a:prstGeom>
          <a:solidFill>
            <a:srgbClr val="0F7C8C"/>
          </a:solidFill>
          <a:ln/>
        </p:spPr>
      </p:sp>
      <p:sp>
        <p:nvSpPr>
          <p:cNvPr id="42" name="cov-bin-8"/>
          <p:cNvSpPr/>
          <p:nvPr/>
        </p:nvSpPr>
        <p:spPr>
          <a:xfrm>
            <a:off x="1188720" y="2971800"/>
            <a:ext cx="82296" cy="457200"/>
          </a:xfrm>
          <a:prstGeom prst="rect">
            <a:avLst/>
          </a:prstGeom>
          <a:solidFill>
            <a:srgbClr val="0F7C8C"/>
          </a:solidFill>
          <a:ln/>
        </p:spPr>
      </p:sp>
      <p:sp>
        <p:nvSpPr>
          <p:cNvPr id="43" name="cov-bin-9"/>
          <p:cNvSpPr/>
          <p:nvPr/>
        </p:nvSpPr>
        <p:spPr>
          <a:xfrm>
            <a:off x="1280160" y="3063240"/>
            <a:ext cx="82296" cy="365760"/>
          </a:xfrm>
          <a:prstGeom prst="rect">
            <a:avLst/>
          </a:prstGeom>
          <a:solidFill>
            <a:srgbClr val="0F7C8C"/>
          </a:solidFill>
          <a:ln/>
        </p:spPr>
      </p:sp>
      <p:sp>
        <p:nvSpPr>
          <p:cNvPr id="44" name="cov-bin-10"/>
          <p:cNvSpPr/>
          <p:nvPr/>
        </p:nvSpPr>
        <p:spPr>
          <a:xfrm>
            <a:off x="1371600" y="2880360"/>
            <a:ext cx="82296" cy="548640"/>
          </a:xfrm>
          <a:prstGeom prst="rect">
            <a:avLst/>
          </a:prstGeom>
          <a:solidFill>
            <a:srgbClr val="0F7C8C"/>
          </a:solidFill>
          <a:ln/>
        </p:spPr>
      </p:sp>
      <p:sp>
        <p:nvSpPr>
          <p:cNvPr id="45" name="cov-bin-11"/>
          <p:cNvSpPr/>
          <p:nvPr/>
        </p:nvSpPr>
        <p:spPr>
          <a:xfrm>
            <a:off x="1463040" y="2880360"/>
            <a:ext cx="82296" cy="548640"/>
          </a:xfrm>
          <a:prstGeom prst="rect">
            <a:avLst/>
          </a:prstGeom>
          <a:solidFill>
            <a:srgbClr val="0F7C8C"/>
          </a:solidFill>
          <a:ln/>
        </p:spPr>
      </p:sp>
      <p:sp>
        <p:nvSpPr>
          <p:cNvPr id="46" name="cov-bin-12"/>
          <p:cNvSpPr/>
          <p:nvPr/>
        </p:nvSpPr>
        <p:spPr>
          <a:xfrm>
            <a:off x="1554480" y="2788920"/>
            <a:ext cx="82296" cy="640080"/>
          </a:xfrm>
          <a:prstGeom prst="rect">
            <a:avLst/>
          </a:prstGeom>
          <a:solidFill>
            <a:srgbClr val="0F7C8C"/>
          </a:solidFill>
          <a:ln/>
        </p:spPr>
      </p:sp>
      <p:sp>
        <p:nvSpPr>
          <p:cNvPr id="47" name="cov-bin-13"/>
          <p:cNvSpPr/>
          <p:nvPr/>
        </p:nvSpPr>
        <p:spPr>
          <a:xfrm>
            <a:off x="1645920" y="2788920"/>
            <a:ext cx="82296" cy="640080"/>
          </a:xfrm>
          <a:prstGeom prst="rect">
            <a:avLst/>
          </a:prstGeom>
          <a:solidFill>
            <a:srgbClr val="0F7C8C"/>
          </a:solidFill>
          <a:ln/>
        </p:spPr>
      </p:sp>
      <p:sp>
        <p:nvSpPr>
          <p:cNvPr id="48" name="cov-bin-14"/>
          <p:cNvSpPr/>
          <p:nvPr/>
        </p:nvSpPr>
        <p:spPr>
          <a:xfrm>
            <a:off x="1737360" y="2880360"/>
            <a:ext cx="82296" cy="548640"/>
          </a:xfrm>
          <a:prstGeom prst="rect">
            <a:avLst/>
          </a:prstGeom>
          <a:solidFill>
            <a:srgbClr val="0F7C8C"/>
          </a:solidFill>
          <a:ln/>
        </p:spPr>
      </p:sp>
      <p:sp>
        <p:nvSpPr>
          <p:cNvPr id="49" name="cov-bin-15"/>
          <p:cNvSpPr/>
          <p:nvPr/>
        </p:nvSpPr>
        <p:spPr>
          <a:xfrm>
            <a:off x="1828800" y="2880360"/>
            <a:ext cx="82296" cy="548640"/>
          </a:xfrm>
          <a:prstGeom prst="rect">
            <a:avLst/>
          </a:prstGeom>
          <a:solidFill>
            <a:srgbClr val="0F7C8C"/>
          </a:solidFill>
          <a:ln/>
        </p:spPr>
      </p:sp>
      <p:sp>
        <p:nvSpPr>
          <p:cNvPr id="50" name="cov-bin-16"/>
          <p:cNvSpPr/>
          <p:nvPr/>
        </p:nvSpPr>
        <p:spPr>
          <a:xfrm>
            <a:off x="1920240" y="2880360"/>
            <a:ext cx="82296" cy="548640"/>
          </a:xfrm>
          <a:prstGeom prst="rect">
            <a:avLst/>
          </a:prstGeom>
          <a:solidFill>
            <a:srgbClr val="0F7C8C"/>
          </a:solidFill>
          <a:ln/>
        </p:spPr>
      </p:sp>
      <p:sp>
        <p:nvSpPr>
          <p:cNvPr id="51" name="cov-bin-17"/>
          <p:cNvSpPr/>
          <p:nvPr/>
        </p:nvSpPr>
        <p:spPr>
          <a:xfrm>
            <a:off x="2011680" y="2880360"/>
            <a:ext cx="82296" cy="548640"/>
          </a:xfrm>
          <a:prstGeom prst="rect">
            <a:avLst/>
          </a:prstGeom>
          <a:solidFill>
            <a:srgbClr val="0F7C8C"/>
          </a:solidFill>
          <a:ln/>
        </p:spPr>
      </p:sp>
      <p:sp>
        <p:nvSpPr>
          <p:cNvPr id="52" name="cov-bin-18"/>
          <p:cNvSpPr/>
          <p:nvPr/>
        </p:nvSpPr>
        <p:spPr>
          <a:xfrm>
            <a:off x="2103120" y="3063240"/>
            <a:ext cx="82296" cy="365760"/>
          </a:xfrm>
          <a:prstGeom prst="rect">
            <a:avLst/>
          </a:prstGeom>
          <a:solidFill>
            <a:srgbClr val="0F7C8C"/>
          </a:solidFill>
          <a:ln/>
        </p:spPr>
      </p:sp>
      <p:sp>
        <p:nvSpPr>
          <p:cNvPr id="53" name="cov-bin-19"/>
          <p:cNvSpPr/>
          <p:nvPr/>
        </p:nvSpPr>
        <p:spPr>
          <a:xfrm>
            <a:off x="2194560" y="3063240"/>
            <a:ext cx="82296" cy="365760"/>
          </a:xfrm>
          <a:prstGeom prst="rect">
            <a:avLst/>
          </a:prstGeom>
          <a:solidFill>
            <a:srgbClr val="0F7C8C"/>
          </a:solidFill>
          <a:ln/>
        </p:spPr>
      </p:sp>
      <p:sp>
        <p:nvSpPr>
          <p:cNvPr id="54" name="cov-bin-20"/>
          <p:cNvSpPr/>
          <p:nvPr/>
        </p:nvSpPr>
        <p:spPr>
          <a:xfrm>
            <a:off x="2286000" y="2880360"/>
            <a:ext cx="82296" cy="548640"/>
          </a:xfrm>
          <a:prstGeom prst="rect">
            <a:avLst/>
          </a:prstGeom>
          <a:solidFill>
            <a:srgbClr val="0F7C8C"/>
          </a:solidFill>
          <a:ln/>
        </p:spPr>
      </p:sp>
      <p:sp>
        <p:nvSpPr>
          <p:cNvPr id="55" name="cov-bin-21"/>
          <p:cNvSpPr/>
          <p:nvPr/>
        </p:nvSpPr>
        <p:spPr>
          <a:xfrm>
            <a:off x="2377440" y="2880360"/>
            <a:ext cx="82296" cy="548640"/>
          </a:xfrm>
          <a:prstGeom prst="rect">
            <a:avLst/>
          </a:prstGeom>
          <a:solidFill>
            <a:srgbClr val="0F7C8C"/>
          </a:solidFill>
          <a:ln/>
        </p:spPr>
      </p:sp>
      <p:sp>
        <p:nvSpPr>
          <p:cNvPr id="56" name="cov-bin-22"/>
          <p:cNvSpPr/>
          <p:nvPr/>
        </p:nvSpPr>
        <p:spPr>
          <a:xfrm>
            <a:off x="2468880" y="2788920"/>
            <a:ext cx="82296" cy="640080"/>
          </a:xfrm>
          <a:prstGeom prst="rect">
            <a:avLst/>
          </a:prstGeom>
          <a:solidFill>
            <a:srgbClr val="0F7C8C"/>
          </a:solidFill>
          <a:ln/>
        </p:spPr>
      </p:sp>
      <p:sp>
        <p:nvSpPr>
          <p:cNvPr id="57" name="cov-bin-23"/>
          <p:cNvSpPr/>
          <p:nvPr/>
        </p:nvSpPr>
        <p:spPr>
          <a:xfrm>
            <a:off x="2560320" y="2788920"/>
            <a:ext cx="82296" cy="640080"/>
          </a:xfrm>
          <a:prstGeom prst="rect">
            <a:avLst/>
          </a:prstGeom>
          <a:solidFill>
            <a:srgbClr val="0F7C8C"/>
          </a:solidFill>
          <a:ln/>
        </p:spPr>
      </p:sp>
      <p:sp>
        <p:nvSpPr>
          <p:cNvPr id="58" name="cov-bin-24"/>
          <p:cNvSpPr/>
          <p:nvPr/>
        </p:nvSpPr>
        <p:spPr>
          <a:xfrm>
            <a:off x="2651760" y="2971800"/>
            <a:ext cx="82296" cy="457200"/>
          </a:xfrm>
          <a:prstGeom prst="rect">
            <a:avLst/>
          </a:prstGeom>
          <a:solidFill>
            <a:srgbClr val="0F7C8C"/>
          </a:solidFill>
          <a:ln/>
        </p:spPr>
      </p:sp>
      <p:sp>
        <p:nvSpPr>
          <p:cNvPr id="59" name="cov-bin-25"/>
          <p:cNvSpPr/>
          <p:nvPr/>
        </p:nvSpPr>
        <p:spPr>
          <a:xfrm>
            <a:off x="2743200" y="2971800"/>
            <a:ext cx="82296" cy="457200"/>
          </a:xfrm>
          <a:prstGeom prst="rect">
            <a:avLst/>
          </a:prstGeom>
          <a:solidFill>
            <a:srgbClr val="0F7C8C"/>
          </a:solidFill>
          <a:ln/>
        </p:spPr>
      </p:sp>
      <p:sp>
        <p:nvSpPr>
          <p:cNvPr id="60" name="cov-bin-26"/>
          <p:cNvSpPr/>
          <p:nvPr/>
        </p:nvSpPr>
        <p:spPr>
          <a:xfrm>
            <a:off x="2834640" y="2971800"/>
            <a:ext cx="82296" cy="457200"/>
          </a:xfrm>
          <a:prstGeom prst="rect">
            <a:avLst/>
          </a:prstGeom>
          <a:solidFill>
            <a:srgbClr val="0F7C8C"/>
          </a:solidFill>
          <a:ln/>
        </p:spPr>
      </p:sp>
      <p:sp>
        <p:nvSpPr>
          <p:cNvPr id="61" name="cov-bin-27"/>
          <p:cNvSpPr/>
          <p:nvPr/>
        </p:nvSpPr>
        <p:spPr>
          <a:xfrm>
            <a:off x="2926080" y="3063240"/>
            <a:ext cx="82296" cy="365760"/>
          </a:xfrm>
          <a:prstGeom prst="rect">
            <a:avLst/>
          </a:prstGeom>
          <a:solidFill>
            <a:srgbClr val="0F7C8C"/>
          </a:solidFill>
          <a:ln/>
        </p:spPr>
      </p:sp>
      <p:sp>
        <p:nvSpPr>
          <p:cNvPr id="62" name="cov-bin-28"/>
          <p:cNvSpPr/>
          <p:nvPr/>
        </p:nvSpPr>
        <p:spPr>
          <a:xfrm>
            <a:off x="3017520" y="3063240"/>
            <a:ext cx="82296" cy="365760"/>
          </a:xfrm>
          <a:prstGeom prst="rect">
            <a:avLst/>
          </a:prstGeom>
          <a:solidFill>
            <a:srgbClr val="0F7C8C"/>
          </a:solidFill>
          <a:ln/>
        </p:spPr>
      </p:sp>
      <p:sp>
        <p:nvSpPr>
          <p:cNvPr id="63" name="cov-bin-29"/>
          <p:cNvSpPr/>
          <p:nvPr/>
        </p:nvSpPr>
        <p:spPr>
          <a:xfrm>
            <a:off x="3108960" y="3154680"/>
            <a:ext cx="82296" cy="274320"/>
          </a:xfrm>
          <a:prstGeom prst="rect">
            <a:avLst/>
          </a:prstGeom>
          <a:solidFill>
            <a:srgbClr val="0F7C8C"/>
          </a:solidFill>
          <a:ln/>
        </p:spPr>
      </p:sp>
      <p:sp>
        <p:nvSpPr>
          <p:cNvPr id="64" name="cov-bin-30"/>
          <p:cNvSpPr/>
          <p:nvPr/>
        </p:nvSpPr>
        <p:spPr>
          <a:xfrm>
            <a:off x="3200400" y="3154680"/>
            <a:ext cx="82296" cy="274320"/>
          </a:xfrm>
          <a:prstGeom prst="rect">
            <a:avLst/>
          </a:prstGeom>
          <a:solidFill>
            <a:srgbClr val="0F7C8C"/>
          </a:solidFill>
          <a:ln/>
        </p:spPr>
      </p:sp>
      <p:sp>
        <p:nvSpPr>
          <p:cNvPr id="65" name="cov-bin-31"/>
          <p:cNvSpPr/>
          <p:nvPr/>
        </p:nvSpPr>
        <p:spPr>
          <a:xfrm>
            <a:off x="3291840" y="3154680"/>
            <a:ext cx="82296" cy="274320"/>
          </a:xfrm>
          <a:prstGeom prst="rect">
            <a:avLst/>
          </a:prstGeom>
          <a:solidFill>
            <a:srgbClr val="0F7C8C"/>
          </a:solidFill>
          <a:ln/>
        </p:spPr>
      </p:sp>
      <p:sp>
        <p:nvSpPr>
          <p:cNvPr id="66" name="cov-bin-32"/>
          <p:cNvSpPr/>
          <p:nvPr/>
        </p:nvSpPr>
        <p:spPr>
          <a:xfrm>
            <a:off x="3383280" y="3154680"/>
            <a:ext cx="82296" cy="274320"/>
          </a:xfrm>
          <a:prstGeom prst="rect">
            <a:avLst/>
          </a:prstGeom>
          <a:solidFill>
            <a:srgbClr val="0F7C8C"/>
          </a:solidFill>
          <a:ln/>
        </p:spPr>
      </p:sp>
      <p:sp>
        <p:nvSpPr>
          <p:cNvPr id="67" name="cov-bin-33"/>
          <p:cNvSpPr/>
          <p:nvPr/>
        </p:nvSpPr>
        <p:spPr>
          <a:xfrm>
            <a:off x="3474720" y="3154680"/>
            <a:ext cx="82296" cy="274320"/>
          </a:xfrm>
          <a:prstGeom prst="rect">
            <a:avLst/>
          </a:prstGeom>
          <a:solidFill>
            <a:srgbClr val="0F7C8C"/>
          </a:solidFill>
          <a:ln/>
        </p:spPr>
      </p:sp>
      <p:sp>
        <p:nvSpPr>
          <p:cNvPr id="68" name="cov-bin-43"/>
          <p:cNvSpPr/>
          <p:nvPr/>
        </p:nvSpPr>
        <p:spPr>
          <a:xfrm>
            <a:off x="4389120" y="3337560"/>
            <a:ext cx="82296" cy="91440"/>
          </a:xfrm>
          <a:prstGeom prst="rect">
            <a:avLst/>
          </a:prstGeom>
          <a:solidFill>
            <a:srgbClr val="0F7C8C"/>
          </a:solidFill>
          <a:ln/>
        </p:spPr>
      </p:sp>
      <p:sp>
        <p:nvSpPr>
          <p:cNvPr id="69" name="cov-bin-44"/>
          <p:cNvSpPr/>
          <p:nvPr/>
        </p:nvSpPr>
        <p:spPr>
          <a:xfrm>
            <a:off x="4480560" y="3063240"/>
            <a:ext cx="82296" cy="365760"/>
          </a:xfrm>
          <a:prstGeom prst="rect">
            <a:avLst/>
          </a:prstGeom>
          <a:solidFill>
            <a:srgbClr val="0F7C8C"/>
          </a:solidFill>
          <a:ln/>
        </p:spPr>
      </p:sp>
      <p:sp>
        <p:nvSpPr>
          <p:cNvPr id="70" name="cov-bin-45"/>
          <p:cNvSpPr/>
          <p:nvPr/>
        </p:nvSpPr>
        <p:spPr>
          <a:xfrm>
            <a:off x="4572000" y="3063240"/>
            <a:ext cx="82296" cy="365760"/>
          </a:xfrm>
          <a:prstGeom prst="rect">
            <a:avLst/>
          </a:prstGeom>
          <a:solidFill>
            <a:srgbClr val="0F7C8C"/>
          </a:solidFill>
          <a:ln/>
        </p:spPr>
      </p:sp>
      <p:sp>
        <p:nvSpPr>
          <p:cNvPr id="71" name="cov-bin-46"/>
          <p:cNvSpPr/>
          <p:nvPr/>
        </p:nvSpPr>
        <p:spPr>
          <a:xfrm>
            <a:off x="4663440" y="2880360"/>
            <a:ext cx="82296" cy="548640"/>
          </a:xfrm>
          <a:prstGeom prst="rect">
            <a:avLst/>
          </a:prstGeom>
          <a:solidFill>
            <a:srgbClr val="0F7C8C"/>
          </a:solidFill>
          <a:ln/>
        </p:spPr>
      </p:sp>
      <p:sp>
        <p:nvSpPr>
          <p:cNvPr id="72" name="cov-bin-47"/>
          <p:cNvSpPr/>
          <p:nvPr/>
        </p:nvSpPr>
        <p:spPr>
          <a:xfrm>
            <a:off x="4754880" y="2880360"/>
            <a:ext cx="82296" cy="548640"/>
          </a:xfrm>
          <a:prstGeom prst="rect">
            <a:avLst/>
          </a:prstGeom>
          <a:solidFill>
            <a:srgbClr val="0F7C8C"/>
          </a:solidFill>
          <a:ln/>
        </p:spPr>
      </p:sp>
      <p:sp>
        <p:nvSpPr>
          <p:cNvPr id="73" name="cov-bin-48"/>
          <p:cNvSpPr/>
          <p:nvPr/>
        </p:nvSpPr>
        <p:spPr>
          <a:xfrm>
            <a:off x="4846320" y="2880360"/>
            <a:ext cx="82296" cy="548640"/>
          </a:xfrm>
          <a:prstGeom prst="rect">
            <a:avLst/>
          </a:prstGeom>
          <a:solidFill>
            <a:srgbClr val="0F7C8C"/>
          </a:solidFill>
          <a:ln/>
        </p:spPr>
      </p:sp>
      <p:sp>
        <p:nvSpPr>
          <p:cNvPr id="74" name="cov-bin-49"/>
          <p:cNvSpPr/>
          <p:nvPr/>
        </p:nvSpPr>
        <p:spPr>
          <a:xfrm>
            <a:off x="4937760" y="2880360"/>
            <a:ext cx="82296" cy="548640"/>
          </a:xfrm>
          <a:prstGeom prst="rect">
            <a:avLst/>
          </a:prstGeom>
          <a:solidFill>
            <a:srgbClr val="0F7C8C"/>
          </a:solidFill>
          <a:ln/>
        </p:spPr>
      </p:sp>
      <p:sp>
        <p:nvSpPr>
          <p:cNvPr id="75" name="cov-bin-50"/>
          <p:cNvSpPr/>
          <p:nvPr/>
        </p:nvSpPr>
        <p:spPr>
          <a:xfrm>
            <a:off x="5029200" y="2971800"/>
            <a:ext cx="82296" cy="457200"/>
          </a:xfrm>
          <a:prstGeom prst="rect">
            <a:avLst/>
          </a:prstGeom>
          <a:solidFill>
            <a:srgbClr val="0F7C8C"/>
          </a:solidFill>
          <a:ln/>
        </p:spPr>
      </p:sp>
      <p:sp>
        <p:nvSpPr>
          <p:cNvPr id="76" name="cov-bin-51"/>
          <p:cNvSpPr/>
          <p:nvPr/>
        </p:nvSpPr>
        <p:spPr>
          <a:xfrm>
            <a:off x="5120640" y="3246120"/>
            <a:ext cx="82296" cy="182880"/>
          </a:xfrm>
          <a:prstGeom prst="rect">
            <a:avLst/>
          </a:prstGeom>
          <a:solidFill>
            <a:srgbClr val="0F7C8C"/>
          </a:solidFill>
          <a:ln/>
        </p:spPr>
      </p:sp>
      <p:sp>
        <p:nvSpPr>
          <p:cNvPr id="77" name="cov-reference"/>
          <p:cNvSpPr/>
          <p:nvPr/>
        </p:nvSpPr>
        <p:spPr>
          <a:xfrm>
            <a:off x="457200" y="3429000"/>
            <a:ext cx="4754880" cy="109728"/>
          </a:xfrm>
          <a:prstGeom prst="rect">
            <a:avLst/>
          </a:prstGeom>
          <a:solidFill>
            <a:srgbClr val="7A8894"/>
          </a:solidFill>
          <a:ln/>
        </p:spPr>
      </p:sp>
      <p:sp>
        <p:nvSpPr>
          <p:cNvPr id="78" name="Text 75"/>
          <p:cNvSpPr txBox="1"/>
          <p:nvPr/>
        </p:nvSpPr>
        <p:spPr>
          <a:xfrm>
            <a:off x="457200" y="914400"/>
            <a:ext cx="1371600" cy="228600"/>
          </a:xfrm>
          <a:prstGeom prst="rect">
            <a:avLst/>
          </a:prstGeom>
          <a:noFill/>
          <a:ln/>
        </p:spPr>
        <p:txBody>
          <a:bodyPr wrap="square" lIns="0" tIns="0" rIns="0" bIns="0" rtlCol="0" anchor="t"/>
          <a:lstStyle/>
          <a:p>
            <a:pPr indent="0" marL="0">
              <a:buNone/>
            </a:pPr>
            <a:r>
              <a:rPr lang="en-US" sz="1100" dirty="0">
                <a:solidFill>
                  <a:srgbClr val="5E6B75"/>
                </a:solidFill>
              </a:rPr>
              <a:t>reads</a:t>
            </a:r>
            <a:endParaRPr lang="en-US" sz="1100" dirty="0"/>
          </a:p>
        </p:txBody>
      </p:sp>
      <p:sp>
        <p:nvSpPr>
          <p:cNvPr id="79" name="Text 76"/>
          <p:cNvSpPr txBox="1"/>
          <p:nvPr/>
        </p:nvSpPr>
        <p:spPr>
          <a:xfrm>
            <a:off x="457200" y="2487168"/>
            <a:ext cx="1371600" cy="228600"/>
          </a:xfrm>
          <a:prstGeom prst="rect">
            <a:avLst/>
          </a:prstGeom>
          <a:noFill/>
          <a:ln/>
        </p:spPr>
        <p:txBody>
          <a:bodyPr wrap="square" lIns="0" tIns="0" rIns="0" bIns="0" rtlCol="0" anchor="t"/>
          <a:lstStyle/>
          <a:p>
            <a:pPr indent="0" marL="0">
              <a:buNone/>
            </a:pPr>
            <a:r>
              <a:rPr lang="en-US" sz="1100" dirty="0">
                <a:solidFill>
                  <a:srgbClr val="5E6B75"/>
                </a:solidFill>
              </a:rPr>
              <a:t>coverage</a:t>
            </a:r>
            <a:endParaRPr lang="en-US" sz="1100" dirty="0"/>
          </a:p>
        </p:txBody>
      </p:sp>
      <p:sp>
        <p:nvSpPr>
          <p:cNvPr id="80" name="Text 77"/>
          <p:cNvSpPr txBox="1"/>
          <p:nvPr/>
        </p:nvSpPr>
        <p:spPr>
          <a:xfrm>
            <a:off x="3566160" y="3584448"/>
            <a:ext cx="1463040" cy="274320"/>
          </a:xfrm>
          <a:prstGeom prst="rect">
            <a:avLst/>
          </a:prstGeom>
          <a:noFill/>
          <a:ln/>
        </p:spPr>
        <p:txBody>
          <a:bodyPr wrap="square" lIns="0" tIns="0" rIns="0" bIns="0" rtlCol="0" anchor="t"/>
          <a:lstStyle/>
          <a:p>
            <a:pPr indent="0" marL="0">
              <a:buNone/>
            </a:pPr>
            <a:r>
              <a:rPr lang="en-US" sz="1100" b="1" dirty="0">
                <a:solidFill>
                  <a:srgbClr val="E4572E"/>
                </a:solidFill>
              </a:rPr>
              <a:t>no reads here</a:t>
            </a:r>
            <a:endParaRPr lang="en-US" sz="1100" dirty="0"/>
          </a:p>
        </p:txBody>
      </p:sp>
      <p:sp>
        <p:nvSpPr>
          <p:cNvPr id="81" name="depth-card"/>
          <p:cNvSpPr/>
          <p:nvPr/>
        </p:nvSpPr>
        <p:spPr>
          <a:xfrm>
            <a:off x="5577840" y="1097280"/>
            <a:ext cx="3108960" cy="3291840"/>
          </a:xfrm>
          <a:prstGeom prst="roundRect">
            <a:avLst>
              <a:gd name="adj" fmla="val 2353"/>
            </a:avLst>
          </a:prstGeom>
          <a:solidFill>
            <a:schemeClr val="bg2"/>
          </a:solidFill>
          <a:ln/>
        </p:spPr>
      </p:sp>
      <p:sp>
        <p:nvSpPr>
          <p:cNvPr id="82" name="Text 79"/>
          <p:cNvSpPr txBox="1"/>
          <p:nvPr/>
        </p:nvSpPr>
        <p:spPr>
          <a:xfrm>
            <a:off x="5806440" y="1280160"/>
            <a:ext cx="2743200" cy="320040"/>
          </a:xfrm>
          <a:prstGeom prst="rect">
            <a:avLst/>
          </a:prstGeom>
          <a:noFill/>
          <a:ln/>
        </p:spPr>
        <p:txBody>
          <a:bodyPr wrap="square" lIns="0" tIns="0" rIns="0" bIns="0" rtlCol="0" anchor="t"/>
          <a:lstStyle/>
          <a:p>
            <a:pPr indent="0" marL="0">
              <a:buNone/>
            </a:pPr>
            <a:r>
              <a:rPr lang="en-US" sz="1600" b="1" dirty="0">
                <a:solidFill>
                  <a:schemeClr val="tx2"/>
                </a:solidFill>
              </a:rPr>
              <a:t>Expected depth</a:t>
            </a:r>
            <a:endParaRPr lang="en-US" sz="1600" dirty="0"/>
          </a:p>
        </p:txBody>
      </p:sp>
      <p:sp>
        <p:nvSpPr>
          <p:cNvPr id="83" name="Text 80"/>
          <p:cNvSpPr txBox="1"/>
          <p:nvPr/>
        </p:nvSpPr>
        <p:spPr>
          <a:xfrm>
            <a:off x="5806440" y="1645920"/>
            <a:ext cx="2743200" cy="640080"/>
          </a:xfrm>
          <a:prstGeom prst="rect">
            <a:avLst/>
          </a:prstGeom>
          <a:noFill/>
          <a:ln/>
        </p:spPr>
        <p:txBody>
          <a:bodyPr wrap="square" lIns="0" tIns="0" rIns="0" bIns="0" rtlCol="0" anchor="t"/>
          <a:lstStyle/>
          <a:p>
            <a:pPr indent="0" marL="0">
              <a:buNone/>
            </a:pPr>
            <a:r>
              <a:rPr lang="en-US" sz="1500" b="1" dirty="0">
                <a:solidFill>
                  <a:schemeClr val="accent1"/>
                </a:solidFill>
              </a:rPr>
              <a:t>reads × read length</a:t>
            </a:r>
            <a:endParaRPr lang="en-US" sz="1500" dirty="0"/>
          </a:p>
          <a:p>
            <a:pPr indent="0" marL="0">
              <a:buNone/>
            </a:pPr>
            <a:r>
              <a:rPr lang="en-US" sz="1500" b="1" dirty="0">
                <a:solidFill>
                  <a:schemeClr val="accent1"/>
                </a:solidFill>
              </a:rPr>
              <a:t>/ genome size</a:t>
            </a:r>
            <a:endParaRPr lang="en-US" sz="1500" dirty="0"/>
          </a:p>
        </p:txBody>
      </p:sp>
      <p:sp>
        <p:nvSpPr>
          <p:cNvPr id="84" name="Text 81"/>
          <p:cNvSpPr txBox="1"/>
          <p:nvPr/>
        </p:nvSpPr>
        <p:spPr>
          <a:xfrm>
            <a:off x="5806440" y="2331720"/>
            <a:ext cx="2743200" cy="320040"/>
          </a:xfrm>
          <a:prstGeom prst="rect">
            <a:avLst/>
          </a:prstGeom>
          <a:noFill/>
          <a:ln/>
        </p:spPr>
        <p:txBody>
          <a:bodyPr wrap="square" lIns="0" tIns="0" rIns="0" bIns="0" rtlCol="0" anchor="t"/>
          <a:lstStyle/>
          <a:p>
            <a:pPr indent="0" marL="0">
              <a:buNone/>
            </a:pPr>
            <a:r>
              <a:rPr lang="en-US" sz="1300" i="1" dirty="0">
                <a:solidFill>
                  <a:srgbClr val="5E6B75"/>
                </a:solidFill>
              </a:rPr>
              <a:t>1,000,000 × 100 bp / 6.3 Mb ≈ 16×</a:t>
            </a:r>
            <a:endParaRPr lang="en-US" sz="1300" dirty="0"/>
          </a:p>
        </p:txBody>
      </p:sp>
      <p:sp>
        <p:nvSpPr>
          <p:cNvPr id="85" name="Text 82"/>
          <p:cNvSpPr txBox="1"/>
          <p:nvPr/>
        </p:nvSpPr>
        <p:spPr>
          <a:xfrm>
            <a:off x="5806440" y="2834640"/>
            <a:ext cx="2743200" cy="320040"/>
          </a:xfrm>
          <a:prstGeom prst="rect">
            <a:avLst/>
          </a:prstGeom>
          <a:noFill/>
          <a:ln/>
        </p:spPr>
        <p:txBody>
          <a:bodyPr wrap="square" lIns="0" tIns="0" rIns="0" bIns="0" rtlCol="0" anchor="t"/>
          <a:lstStyle/>
          <a:p>
            <a:pPr indent="0" marL="0">
              <a:buNone/>
            </a:pPr>
            <a:r>
              <a:rPr lang="en-US" sz="1600" b="1" dirty="0">
                <a:solidFill>
                  <a:schemeClr val="tx2"/>
                </a:solidFill>
              </a:rPr>
              <a:t>Breadth</a:t>
            </a:r>
            <a:endParaRPr lang="en-US" sz="1600" dirty="0"/>
          </a:p>
        </p:txBody>
      </p:sp>
      <p:sp>
        <p:nvSpPr>
          <p:cNvPr id="86" name="Text 83"/>
          <p:cNvSpPr txBox="1"/>
          <p:nvPr/>
        </p:nvSpPr>
        <p:spPr>
          <a:xfrm>
            <a:off x="5806440" y="3182112"/>
            <a:ext cx="2743200" cy="548640"/>
          </a:xfrm>
          <a:prstGeom prst="rect">
            <a:avLst/>
          </a:prstGeom>
          <a:noFill/>
          <a:ln/>
        </p:spPr>
        <p:txBody>
          <a:bodyPr wrap="square" lIns="0" tIns="0" rIns="0" bIns="0" rtlCol="0" anchor="t"/>
          <a:lstStyle/>
          <a:p>
            <a:pPr indent="0" marL="0">
              <a:buNone/>
            </a:pPr>
            <a:r>
              <a:rPr lang="en-US" sz="1400" dirty="0">
                <a:solidFill>
                  <a:schemeClr val="tx1"/>
                </a:solidFill>
              </a:rPr>
              <a:t>fraction of the reference with at least one read</a:t>
            </a:r>
            <a:endParaRPr lang="en-US" sz="1400" dirty="0"/>
          </a:p>
        </p:txBody>
      </p:sp>
      <p:sp>
        <p:nvSpPr>
          <p:cNvPr id="87" name="Text 84"/>
          <p:cNvSpPr txBox="1"/>
          <p:nvPr/>
        </p:nvSpPr>
        <p:spPr>
          <a:xfrm>
            <a:off x="5806440" y="3749040"/>
            <a:ext cx="2743200" cy="548640"/>
          </a:xfrm>
          <a:prstGeom prst="rect">
            <a:avLst/>
          </a:prstGeom>
          <a:noFill/>
          <a:ln/>
        </p:spPr>
        <p:txBody>
          <a:bodyPr wrap="square" lIns="0" tIns="0" rIns="0" bIns="0" rtlCol="0" anchor="t"/>
          <a:lstStyle/>
          <a:p>
            <a:pPr indent="0" marL="0">
              <a:buNone/>
            </a:pPr>
            <a:r>
              <a:rPr lang="en-US" sz="1300" dirty="0">
                <a:solidFill>
                  <a:srgbClr val="5E6B75"/>
                </a:solidFill>
              </a:rPr>
              <a:t>Mapping rate: fraction of reads that found a place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89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Zero coverage reveals missing genes</a:t>
            </a:r>
            <a:endParaRPr lang="en-US" sz="2800" dirty="0"/>
          </a:p>
        </p:txBody>
      </p:sp>
      <p:sp>
        <p:nvSpPr>
          <p:cNvPr id="4" name="gap-cov-0"/>
          <p:cNvSpPr/>
          <p:nvPr/>
        </p:nvSpPr>
        <p:spPr>
          <a:xfrm>
            <a:off x="457200" y="2128632"/>
            <a:ext cx="75438" cy="385968"/>
          </a:xfrm>
          <a:prstGeom prst="rect">
            <a:avLst/>
          </a:prstGeom>
          <a:solidFill>
            <a:srgbClr val="0F7C8C"/>
          </a:solidFill>
          <a:ln/>
        </p:spPr>
      </p:sp>
      <p:sp>
        <p:nvSpPr>
          <p:cNvPr id="5" name="gap-cov-1"/>
          <p:cNvSpPr/>
          <p:nvPr/>
        </p:nvSpPr>
        <p:spPr>
          <a:xfrm>
            <a:off x="541020" y="2005068"/>
            <a:ext cx="75438" cy="509532"/>
          </a:xfrm>
          <a:prstGeom prst="rect">
            <a:avLst/>
          </a:prstGeom>
          <a:solidFill>
            <a:srgbClr val="0F7C8C"/>
          </a:solidFill>
          <a:ln/>
        </p:spPr>
      </p:sp>
      <p:sp>
        <p:nvSpPr>
          <p:cNvPr id="6" name="gap-cov-2"/>
          <p:cNvSpPr/>
          <p:nvPr/>
        </p:nvSpPr>
        <p:spPr>
          <a:xfrm>
            <a:off x="624840" y="1953621"/>
            <a:ext cx="75438" cy="560979"/>
          </a:xfrm>
          <a:prstGeom prst="rect">
            <a:avLst/>
          </a:prstGeom>
          <a:solidFill>
            <a:srgbClr val="0F7C8C"/>
          </a:solidFill>
          <a:ln/>
        </p:spPr>
      </p:sp>
      <p:sp>
        <p:nvSpPr>
          <p:cNvPr id="7" name="gap-cov-3"/>
          <p:cNvSpPr/>
          <p:nvPr/>
        </p:nvSpPr>
        <p:spPr>
          <a:xfrm>
            <a:off x="708660" y="2143093"/>
            <a:ext cx="75438" cy="371507"/>
          </a:xfrm>
          <a:prstGeom prst="rect">
            <a:avLst/>
          </a:prstGeom>
          <a:solidFill>
            <a:srgbClr val="0F7C8C"/>
          </a:solidFill>
          <a:ln/>
        </p:spPr>
      </p:sp>
      <p:sp>
        <p:nvSpPr>
          <p:cNvPr id="8" name="gap-cov-4"/>
          <p:cNvSpPr/>
          <p:nvPr/>
        </p:nvSpPr>
        <p:spPr>
          <a:xfrm>
            <a:off x="792480" y="1704072"/>
            <a:ext cx="75438" cy="810528"/>
          </a:xfrm>
          <a:prstGeom prst="rect">
            <a:avLst/>
          </a:prstGeom>
          <a:solidFill>
            <a:srgbClr val="0F7C8C"/>
          </a:solidFill>
          <a:ln/>
        </p:spPr>
      </p:sp>
      <p:sp>
        <p:nvSpPr>
          <p:cNvPr id="9" name="gap-cov-5"/>
          <p:cNvSpPr/>
          <p:nvPr/>
        </p:nvSpPr>
        <p:spPr>
          <a:xfrm>
            <a:off x="876300" y="1613943"/>
            <a:ext cx="75438" cy="900657"/>
          </a:xfrm>
          <a:prstGeom prst="rect">
            <a:avLst/>
          </a:prstGeom>
          <a:solidFill>
            <a:srgbClr val="0F7C8C"/>
          </a:solidFill>
          <a:ln/>
        </p:spPr>
      </p:sp>
      <p:sp>
        <p:nvSpPr>
          <p:cNvPr id="10" name="gap-cov-6"/>
          <p:cNvSpPr/>
          <p:nvPr/>
        </p:nvSpPr>
        <p:spPr>
          <a:xfrm>
            <a:off x="960120" y="2136176"/>
            <a:ext cx="75438" cy="378424"/>
          </a:xfrm>
          <a:prstGeom prst="rect">
            <a:avLst/>
          </a:prstGeom>
          <a:solidFill>
            <a:srgbClr val="0F7C8C"/>
          </a:solidFill>
          <a:ln/>
        </p:spPr>
      </p:sp>
      <p:sp>
        <p:nvSpPr>
          <p:cNvPr id="11" name="gap-cov-7"/>
          <p:cNvSpPr/>
          <p:nvPr/>
        </p:nvSpPr>
        <p:spPr>
          <a:xfrm>
            <a:off x="1043940" y="1702349"/>
            <a:ext cx="75438" cy="812251"/>
          </a:xfrm>
          <a:prstGeom prst="rect">
            <a:avLst/>
          </a:prstGeom>
          <a:solidFill>
            <a:srgbClr val="0F7C8C"/>
          </a:solidFill>
          <a:ln/>
        </p:spPr>
      </p:sp>
      <p:sp>
        <p:nvSpPr>
          <p:cNvPr id="12" name="gap-cov-8"/>
          <p:cNvSpPr/>
          <p:nvPr/>
        </p:nvSpPr>
        <p:spPr>
          <a:xfrm>
            <a:off x="1127760" y="2123481"/>
            <a:ext cx="75438" cy="391119"/>
          </a:xfrm>
          <a:prstGeom prst="rect">
            <a:avLst/>
          </a:prstGeom>
          <a:solidFill>
            <a:srgbClr val="0F7C8C"/>
          </a:solidFill>
          <a:ln/>
        </p:spPr>
      </p:sp>
      <p:sp>
        <p:nvSpPr>
          <p:cNvPr id="13" name="gap-cov-9"/>
          <p:cNvSpPr/>
          <p:nvPr/>
        </p:nvSpPr>
        <p:spPr>
          <a:xfrm>
            <a:off x="1211580" y="2135929"/>
            <a:ext cx="75438" cy="378671"/>
          </a:xfrm>
          <a:prstGeom prst="rect">
            <a:avLst/>
          </a:prstGeom>
          <a:solidFill>
            <a:srgbClr val="0F7C8C"/>
          </a:solidFill>
          <a:ln/>
        </p:spPr>
      </p:sp>
      <p:sp>
        <p:nvSpPr>
          <p:cNvPr id="14" name="gap-cov-10"/>
          <p:cNvSpPr/>
          <p:nvPr/>
        </p:nvSpPr>
        <p:spPr>
          <a:xfrm>
            <a:off x="1295400" y="1654350"/>
            <a:ext cx="75438" cy="860250"/>
          </a:xfrm>
          <a:prstGeom prst="rect">
            <a:avLst/>
          </a:prstGeom>
          <a:solidFill>
            <a:srgbClr val="0F7C8C"/>
          </a:solidFill>
          <a:ln/>
        </p:spPr>
      </p:sp>
      <p:sp>
        <p:nvSpPr>
          <p:cNvPr id="15" name="gap-cov-11"/>
          <p:cNvSpPr/>
          <p:nvPr/>
        </p:nvSpPr>
        <p:spPr>
          <a:xfrm>
            <a:off x="1379220" y="2009051"/>
            <a:ext cx="75438" cy="505549"/>
          </a:xfrm>
          <a:prstGeom prst="rect">
            <a:avLst/>
          </a:prstGeom>
          <a:solidFill>
            <a:srgbClr val="0F7C8C"/>
          </a:solidFill>
          <a:ln/>
        </p:spPr>
      </p:sp>
      <p:sp>
        <p:nvSpPr>
          <p:cNvPr id="16" name="gap-cov-12"/>
          <p:cNvSpPr/>
          <p:nvPr/>
        </p:nvSpPr>
        <p:spPr>
          <a:xfrm>
            <a:off x="1463040" y="1948150"/>
            <a:ext cx="75438" cy="566450"/>
          </a:xfrm>
          <a:prstGeom prst="rect">
            <a:avLst/>
          </a:prstGeom>
          <a:solidFill>
            <a:srgbClr val="0F7C8C"/>
          </a:solidFill>
          <a:ln/>
        </p:spPr>
      </p:sp>
      <p:sp>
        <p:nvSpPr>
          <p:cNvPr id="17" name="gap-cov-13"/>
          <p:cNvSpPr/>
          <p:nvPr/>
        </p:nvSpPr>
        <p:spPr>
          <a:xfrm>
            <a:off x="1546860" y="1951026"/>
            <a:ext cx="75438" cy="563574"/>
          </a:xfrm>
          <a:prstGeom prst="rect">
            <a:avLst/>
          </a:prstGeom>
          <a:solidFill>
            <a:srgbClr val="0F7C8C"/>
          </a:solidFill>
          <a:ln/>
        </p:spPr>
      </p:sp>
      <p:sp>
        <p:nvSpPr>
          <p:cNvPr id="18" name="gap-cov-14"/>
          <p:cNvSpPr/>
          <p:nvPr/>
        </p:nvSpPr>
        <p:spPr>
          <a:xfrm>
            <a:off x="1630680" y="1839081"/>
            <a:ext cx="75438" cy="675519"/>
          </a:xfrm>
          <a:prstGeom prst="rect">
            <a:avLst/>
          </a:prstGeom>
          <a:solidFill>
            <a:srgbClr val="0F7C8C"/>
          </a:solidFill>
          <a:ln/>
        </p:spPr>
      </p:sp>
      <p:sp>
        <p:nvSpPr>
          <p:cNvPr id="19" name="gap-cov-15"/>
          <p:cNvSpPr/>
          <p:nvPr/>
        </p:nvSpPr>
        <p:spPr>
          <a:xfrm>
            <a:off x="1714500" y="1754415"/>
            <a:ext cx="75438" cy="760185"/>
          </a:xfrm>
          <a:prstGeom prst="rect">
            <a:avLst/>
          </a:prstGeom>
          <a:solidFill>
            <a:srgbClr val="0F7C8C"/>
          </a:solidFill>
          <a:ln/>
        </p:spPr>
      </p:sp>
      <p:sp>
        <p:nvSpPr>
          <p:cNvPr id="20" name="gap-cov-16"/>
          <p:cNvSpPr/>
          <p:nvPr/>
        </p:nvSpPr>
        <p:spPr>
          <a:xfrm>
            <a:off x="1798320" y="1925432"/>
            <a:ext cx="75438" cy="589168"/>
          </a:xfrm>
          <a:prstGeom prst="rect">
            <a:avLst/>
          </a:prstGeom>
          <a:solidFill>
            <a:srgbClr val="0F7C8C"/>
          </a:solidFill>
          <a:ln/>
        </p:spPr>
      </p:sp>
      <p:sp>
        <p:nvSpPr>
          <p:cNvPr id="21" name="gap-cov-17"/>
          <p:cNvSpPr/>
          <p:nvPr/>
        </p:nvSpPr>
        <p:spPr>
          <a:xfrm>
            <a:off x="1882140" y="1866145"/>
            <a:ext cx="75438" cy="648455"/>
          </a:xfrm>
          <a:prstGeom prst="rect">
            <a:avLst/>
          </a:prstGeom>
          <a:solidFill>
            <a:srgbClr val="0F7C8C"/>
          </a:solidFill>
          <a:ln/>
        </p:spPr>
      </p:sp>
      <p:sp>
        <p:nvSpPr>
          <p:cNvPr id="22" name="gap-cov-18"/>
          <p:cNvSpPr/>
          <p:nvPr/>
        </p:nvSpPr>
        <p:spPr>
          <a:xfrm>
            <a:off x="1965960" y="2011192"/>
            <a:ext cx="75438" cy="503408"/>
          </a:xfrm>
          <a:prstGeom prst="rect">
            <a:avLst/>
          </a:prstGeom>
          <a:solidFill>
            <a:srgbClr val="0F7C8C"/>
          </a:solidFill>
          <a:ln/>
        </p:spPr>
      </p:sp>
      <p:sp>
        <p:nvSpPr>
          <p:cNvPr id="23" name="gap-cov-19"/>
          <p:cNvSpPr/>
          <p:nvPr/>
        </p:nvSpPr>
        <p:spPr>
          <a:xfrm>
            <a:off x="2049780" y="1920743"/>
            <a:ext cx="75438" cy="593857"/>
          </a:xfrm>
          <a:prstGeom prst="rect">
            <a:avLst/>
          </a:prstGeom>
          <a:solidFill>
            <a:srgbClr val="0F7C8C"/>
          </a:solidFill>
          <a:ln/>
        </p:spPr>
      </p:sp>
      <p:sp>
        <p:nvSpPr>
          <p:cNvPr id="24" name="gap-cov-20"/>
          <p:cNvSpPr/>
          <p:nvPr/>
        </p:nvSpPr>
        <p:spPr>
          <a:xfrm>
            <a:off x="2133600" y="2107592"/>
            <a:ext cx="75438" cy="407008"/>
          </a:xfrm>
          <a:prstGeom prst="rect">
            <a:avLst/>
          </a:prstGeom>
          <a:solidFill>
            <a:srgbClr val="0F7C8C"/>
          </a:solidFill>
          <a:ln/>
        </p:spPr>
      </p:sp>
      <p:sp>
        <p:nvSpPr>
          <p:cNvPr id="25" name="gap-cov-21"/>
          <p:cNvSpPr/>
          <p:nvPr/>
        </p:nvSpPr>
        <p:spPr>
          <a:xfrm>
            <a:off x="2217420" y="1691990"/>
            <a:ext cx="75438" cy="822610"/>
          </a:xfrm>
          <a:prstGeom prst="rect">
            <a:avLst/>
          </a:prstGeom>
          <a:solidFill>
            <a:srgbClr val="0F7C8C"/>
          </a:solidFill>
          <a:ln/>
        </p:spPr>
      </p:sp>
      <p:sp>
        <p:nvSpPr>
          <p:cNvPr id="26" name="gap-cov-22"/>
          <p:cNvSpPr/>
          <p:nvPr/>
        </p:nvSpPr>
        <p:spPr>
          <a:xfrm>
            <a:off x="2301240" y="1664524"/>
            <a:ext cx="75438" cy="850076"/>
          </a:xfrm>
          <a:prstGeom prst="rect">
            <a:avLst/>
          </a:prstGeom>
          <a:solidFill>
            <a:srgbClr val="0F7C8C"/>
          </a:solidFill>
          <a:ln/>
        </p:spPr>
      </p:sp>
      <p:sp>
        <p:nvSpPr>
          <p:cNvPr id="27" name="gap-cov-23"/>
          <p:cNvSpPr/>
          <p:nvPr/>
        </p:nvSpPr>
        <p:spPr>
          <a:xfrm>
            <a:off x="2385060" y="2169888"/>
            <a:ext cx="75438" cy="344712"/>
          </a:xfrm>
          <a:prstGeom prst="rect">
            <a:avLst/>
          </a:prstGeom>
          <a:solidFill>
            <a:srgbClr val="0F7C8C"/>
          </a:solidFill>
          <a:ln/>
        </p:spPr>
      </p:sp>
      <p:sp>
        <p:nvSpPr>
          <p:cNvPr id="28" name="gap-cov-24"/>
          <p:cNvSpPr/>
          <p:nvPr/>
        </p:nvSpPr>
        <p:spPr>
          <a:xfrm>
            <a:off x="2468880" y="1986219"/>
            <a:ext cx="75438" cy="528381"/>
          </a:xfrm>
          <a:prstGeom prst="rect">
            <a:avLst/>
          </a:prstGeom>
          <a:solidFill>
            <a:srgbClr val="0F7C8C"/>
          </a:solidFill>
          <a:ln/>
        </p:spPr>
      </p:sp>
      <p:sp>
        <p:nvSpPr>
          <p:cNvPr id="29" name="gap-cov-25"/>
          <p:cNvSpPr/>
          <p:nvPr/>
        </p:nvSpPr>
        <p:spPr>
          <a:xfrm>
            <a:off x="2552700" y="2108590"/>
            <a:ext cx="75438" cy="406010"/>
          </a:xfrm>
          <a:prstGeom prst="rect">
            <a:avLst/>
          </a:prstGeom>
          <a:solidFill>
            <a:srgbClr val="0F7C8C"/>
          </a:solidFill>
          <a:ln/>
        </p:spPr>
      </p:sp>
      <p:sp>
        <p:nvSpPr>
          <p:cNvPr id="30" name="gap-cov-26"/>
          <p:cNvSpPr/>
          <p:nvPr/>
        </p:nvSpPr>
        <p:spPr>
          <a:xfrm>
            <a:off x="2636520" y="1799431"/>
            <a:ext cx="75438" cy="715169"/>
          </a:xfrm>
          <a:prstGeom prst="rect">
            <a:avLst/>
          </a:prstGeom>
          <a:solidFill>
            <a:srgbClr val="0F7C8C"/>
          </a:solidFill>
          <a:ln/>
        </p:spPr>
      </p:sp>
      <p:sp>
        <p:nvSpPr>
          <p:cNvPr id="31" name="gap-cov-27"/>
          <p:cNvSpPr/>
          <p:nvPr/>
        </p:nvSpPr>
        <p:spPr>
          <a:xfrm>
            <a:off x="2720340" y="2180826"/>
            <a:ext cx="75438" cy="333774"/>
          </a:xfrm>
          <a:prstGeom prst="rect">
            <a:avLst/>
          </a:prstGeom>
          <a:solidFill>
            <a:srgbClr val="0F7C8C"/>
          </a:solidFill>
          <a:ln/>
        </p:spPr>
      </p:sp>
      <p:sp>
        <p:nvSpPr>
          <p:cNvPr id="32" name="gap-cov-28"/>
          <p:cNvSpPr/>
          <p:nvPr/>
        </p:nvSpPr>
        <p:spPr>
          <a:xfrm>
            <a:off x="2804160" y="1946658"/>
            <a:ext cx="75438" cy="567942"/>
          </a:xfrm>
          <a:prstGeom prst="rect">
            <a:avLst/>
          </a:prstGeom>
          <a:solidFill>
            <a:srgbClr val="0F7C8C"/>
          </a:solidFill>
          <a:ln/>
        </p:spPr>
      </p:sp>
      <p:sp>
        <p:nvSpPr>
          <p:cNvPr id="33" name="gap-cov-29"/>
          <p:cNvSpPr/>
          <p:nvPr/>
        </p:nvSpPr>
        <p:spPr>
          <a:xfrm>
            <a:off x="2887980" y="1560862"/>
            <a:ext cx="75438" cy="953738"/>
          </a:xfrm>
          <a:prstGeom prst="rect">
            <a:avLst/>
          </a:prstGeom>
          <a:solidFill>
            <a:srgbClr val="0F7C8C"/>
          </a:solidFill>
          <a:ln/>
        </p:spPr>
      </p:sp>
      <p:sp>
        <p:nvSpPr>
          <p:cNvPr id="34" name="gap-cov-42"/>
          <p:cNvSpPr/>
          <p:nvPr/>
        </p:nvSpPr>
        <p:spPr>
          <a:xfrm>
            <a:off x="3977640" y="1641299"/>
            <a:ext cx="75438" cy="873301"/>
          </a:xfrm>
          <a:prstGeom prst="rect">
            <a:avLst/>
          </a:prstGeom>
          <a:solidFill>
            <a:srgbClr val="0F7C8C"/>
          </a:solidFill>
          <a:ln/>
        </p:spPr>
      </p:sp>
      <p:sp>
        <p:nvSpPr>
          <p:cNvPr id="35" name="gap-cov-43"/>
          <p:cNvSpPr/>
          <p:nvPr/>
        </p:nvSpPr>
        <p:spPr>
          <a:xfrm>
            <a:off x="4061460" y="1694957"/>
            <a:ext cx="75438" cy="819643"/>
          </a:xfrm>
          <a:prstGeom prst="rect">
            <a:avLst/>
          </a:prstGeom>
          <a:solidFill>
            <a:srgbClr val="0F7C8C"/>
          </a:solidFill>
          <a:ln/>
        </p:spPr>
      </p:sp>
      <p:sp>
        <p:nvSpPr>
          <p:cNvPr id="36" name="gap-cov-44"/>
          <p:cNvSpPr/>
          <p:nvPr/>
        </p:nvSpPr>
        <p:spPr>
          <a:xfrm>
            <a:off x="4145280" y="1531203"/>
            <a:ext cx="75438" cy="983397"/>
          </a:xfrm>
          <a:prstGeom prst="rect">
            <a:avLst/>
          </a:prstGeom>
          <a:solidFill>
            <a:srgbClr val="0F7C8C"/>
          </a:solidFill>
          <a:ln/>
        </p:spPr>
      </p:sp>
      <p:sp>
        <p:nvSpPr>
          <p:cNvPr id="37" name="gap-cov-45"/>
          <p:cNvSpPr/>
          <p:nvPr/>
        </p:nvSpPr>
        <p:spPr>
          <a:xfrm>
            <a:off x="4229100" y="2181621"/>
            <a:ext cx="75438" cy="332979"/>
          </a:xfrm>
          <a:prstGeom prst="rect">
            <a:avLst/>
          </a:prstGeom>
          <a:solidFill>
            <a:srgbClr val="0F7C8C"/>
          </a:solidFill>
          <a:ln/>
        </p:spPr>
      </p:sp>
      <p:sp>
        <p:nvSpPr>
          <p:cNvPr id="38" name="gap-cov-46"/>
          <p:cNvSpPr/>
          <p:nvPr/>
        </p:nvSpPr>
        <p:spPr>
          <a:xfrm>
            <a:off x="4312920" y="1946078"/>
            <a:ext cx="75438" cy="568522"/>
          </a:xfrm>
          <a:prstGeom prst="rect">
            <a:avLst/>
          </a:prstGeom>
          <a:solidFill>
            <a:srgbClr val="0F7C8C"/>
          </a:solidFill>
          <a:ln/>
        </p:spPr>
      </p:sp>
      <p:sp>
        <p:nvSpPr>
          <p:cNvPr id="39" name="gap-cov-47"/>
          <p:cNvSpPr/>
          <p:nvPr/>
        </p:nvSpPr>
        <p:spPr>
          <a:xfrm>
            <a:off x="4396740" y="1662696"/>
            <a:ext cx="75438" cy="851904"/>
          </a:xfrm>
          <a:prstGeom prst="rect">
            <a:avLst/>
          </a:prstGeom>
          <a:solidFill>
            <a:srgbClr val="0F7C8C"/>
          </a:solidFill>
          <a:ln/>
        </p:spPr>
      </p:sp>
      <p:sp>
        <p:nvSpPr>
          <p:cNvPr id="40" name="gap-cov-48"/>
          <p:cNvSpPr/>
          <p:nvPr/>
        </p:nvSpPr>
        <p:spPr>
          <a:xfrm>
            <a:off x="4480560" y="2172708"/>
            <a:ext cx="75438" cy="341892"/>
          </a:xfrm>
          <a:prstGeom prst="rect">
            <a:avLst/>
          </a:prstGeom>
          <a:solidFill>
            <a:srgbClr val="0F7C8C"/>
          </a:solidFill>
          <a:ln/>
        </p:spPr>
      </p:sp>
      <p:sp>
        <p:nvSpPr>
          <p:cNvPr id="41" name="gap-cov-49"/>
          <p:cNvSpPr/>
          <p:nvPr/>
        </p:nvSpPr>
        <p:spPr>
          <a:xfrm>
            <a:off x="4564380" y="2047556"/>
            <a:ext cx="75438" cy="467044"/>
          </a:xfrm>
          <a:prstGeom prst="rect">
            <a:avLst/>
          </a:prstGeom>
          <a:solidFill>
            <a:srgbClr val="0F7C8C"/>
          </a:solidFill>
          <a:ln/>
        </p:spPr>
      </p:sp>
      <p:sp>
        <p:nvSpPr>
          <p:cNvPr id="42" name="gap-cov-50"/>
          <p:cNvSpPr/>
          <p:nvPr/>
        </p:nvSpPr>
        <p:spPr>
          <a:xfrm>
            <a:off x="4648200" y="1605105"/>
            <a:ext cx="75438" cy="909495"/>
          </a:xfrm>
          <a:prstGeom prst="rect">
            <a:avLst/>
          </a:prstGeom>
          <a:solidFill>
            <a:srgbClr val="0F7C8C"/>
          </a:solidFill>
          <a:ln/>
        </p:spPr>
      </p:sp>
      <p:sp>
        <p:nvSpPr>
          <p:cNvPr id="43" name="gap-cov-51"/>
          <p:cNvSpPr/>
          <p:nvPr/>
        </p:nvSpPr>
        <p:spPr>
          <a:xfrm>
            <a:off x="4732020" y="2073461"/>
            <a:ext cx="75438" cy="441139"/>
          </a:xfrm>
          <a:prstGeom prst="rect">
            <a:avLst/>
          </a:prstGeom>
          <a:solidFill>
            <a:srgbClr val="0F7C8C"/>
          </a:solidFill>
          <a:ln/>
        </p:spPr>
      </p:sp>
      <p:sp>
        <p:nvSpPr>
          <p:cNvPr id="44" name="gap-cov-52"/>
          <p:cNvSpPr/>
          <p:nvPr/>
        </p:nvSpPr>
        <p:spPr>
          <a:xfrm>
            <a:off x="4815840" y="2000654"/>
            <a:ext cx="75438" cy="513946"/>
          </a:xfrm>
          <a:prstGeom prst="rect">
            <a:avLst/>
          </a:prstGeom>
          <a:solidFill>
            <a:srgbClr val="0F7C8C"/>
          </a:solidFill>
          <a:ln/>
        </p:spPr>
      </p:sp>
      <p:sp>
        <p:nvSpPr>
          <p:cNvPr id="45" name="gap-cov-53"/>
          <p:cNvSpPr/>
          <p:nvPr/>
        </p:nvSpPr>
        <p:spPr>
          <a:xfrm>
            <a:off x="4899660" y="1597039"/>
            <a:ext cx="75438" cy="917561"/>
          </a:xfrm>
          <a:prstGeom prst="rect">
            <a:avLst/>
          </a:prstGeom>
          <a:solidFill>
            <a:srgbClr val="0F7C8C"/>
          </a:solidFill>
          <a:ln/>
        </p:spPr>
      </p:sp>
      <p:sp>
        <p:nvSpPr>
          <p:cNvPr id="46" name="gap-cov-54"/>
          <p:cNvSpPr/>
          <p:nvPr/>
        </p:nvSpPr>
        <p:spPr>
          <a:xfrm>
            <a:off x="4983480" y="1988600"/>
            <a:ext cx="75438" cy="526000"/>
          </a:xfrm>
          <a:prstGeom prst="rect">
            <a:avLst/>
          </a:prstGeom>
          <a:solidFill>
            <a:srgbClr val="0F7C8C"/>
          </a:solidFill>
          <a:ln/>
        </p:spPr>
      </p:sp>
      <p:sp>
        <p:nvSpPr>
          <p:cNvPr id="47" name="gap-cov-55"/>
          <p:cNvSpPr/>
          <p:nvPr/>
        </p:nvSpPr>
        <p:spPr>
          <a:xfrm>
            <a:off x="5067300" y="1551305"/>
            <a:ext cx="75438" cy="963295"/>
          </a:xfrm>
          <a:prstGeom prst="rect">
            <a:avLst/>
          </a:prstGeom>
          <a:solidFill>
            <a:srgbClr val="0F7C8C"/>
          </a:solidFill>
          <a:ln/>
        </p:spPr>
      </p:sp>
      <p:sp>
        <p:nvSpPr>
          <p:cNvPr id="48" name="gap-cov-56"/>
          <p:cNvSpPr/>
          <p:nvPr/>
        </p:nvSpPr>
        <p:spPr>
          <a:xfrm>
            <a:off x="5151120" y="1697022"/>
            <a:ext cx="75438" cy="817578"/>
          </a:xfrm>
          <a:prstGeom prst="rect">
            <a:avLst/>
          </a:prstGeom>
          <a:solidFill>
            <a:srgbClr val="0F7C8C"/>
          </a:solidFill>
          <a:ln/>
        </p:spPr>
      </p:sp>
      <p:sp>
        <p:nvSpPr>
          <p:cNvPr id="49" name="gap-cov-57"/>
          <p:cNvSpPr/>
          <p:nvPr/>
        </p:nvSpPr>
        <p:spPr>
          <a:xfrm>
            <a:off x="5234940" y="2088514"/>
            <a:ext cx="75438" cy="426086"/>
          </a:xfrm>
          <a:prstGeom prst="rect">
            <a:avLst/>
          </a:prstGeom>
          <a:solidFill>
            <a:srgbClr val="0F7C8C"/>
          </a:solidFill>
          <a:ln/>
        </p:spPr>
      </p:sp>
      <p:sp>
        <p:nvSpPr>
          <p:cNvPr id="50" name="gap-cov-58"/>
          <p:cNvSpPr/>
          <p:nvPr/>
        </p:nvSpPr>
        <p:spPr>
          <a:xfrm>
            <a:off x="5318760" y="1877656"/>
            <a:ext cx="75438" cy="636944"/>
          </a:xfrm>
          <a:prstGeom prst="rect">
            <a:avLst/>
          </a:prstGeom>
          <a:solidFill>
            <a:srgbClr val="0F7C8C"/>
          </a:solidFill>
          <a:ln/>
        </p:spPr>
      </p:sp>
      <p:sp>
        <p:nvSpPr>
          <p:cNvPr id="51" name="gap-cov-59"/>
          <p:cNvSpPr/>
          <p:nvPr/>
        </p:nvSpPr>
        <p:spPr>
          <a:xfrm>
            <a:off x="5402580" y="1787631"/>
            <a:ext cx="75438" cy="726969"/>
          </a:xfrm>
          <a:prstGeom prst="rect">
            <a:avLst/>
          </a:prstGeom>
          <a:solidFill>
            <a:srgbClr val="0F7C8C"/>
          </a:solidFill>
          <a:ln/>
        </p:spPr>
      </p:sp>
      <p:sp>
        <p:nvSpPr>
          <p:cNvPr id="52" name="gap-axis"/>
          <p:cNvSpPr/>
          <p:nvPr/>
        </p:nvSpPr>
        <p:spPr>
          <a:xfrm>
            <a:off x="457200" y="2514600"/>
            <a:ext cx="5029200" cy="91440"/>
          </a:xfrm>
          <a:prstGeom prst="rect">
            <a:avLst/>
          </a:prstGeom>
          <a:solidFill>
            <a:srgbClr val="7A8894"/>
          </a:solidFill>
          <a:ln/>
        </p:spPr>
      </p:sp>
      <p:sp>
        <p:nvSpPr>
          <p:cNvPr id="53" name="Text 50"/>
          <p:cNvSpPr txBox="1"/>
          <p:nvPr/>
        </p:nvSpPr>
        <p:spPr>
          <a:xfrm>
            <a:off x="457200" y="1143000"/>
            <a:ext cx="1371600" cy="228600"/>
          </a:xfrm>
          <a:prstGeom prst="rect">
            <a:avLst/>
          </a:prstGeom>
          <a:noFill/>
          <a:ln/>
        </p:spPr>
        <p:txBody>
          <a:bodyPr wrap="square" lIns="0" tIns="0" rIns="0" bIns="0" rtlCol="0" anchor="t"/>
          <a:lstStyle/>
          <a:p>
            <a:pPr indent="0" marL="0">
              <a:buNone/>
            </a:pPr>
            <a:r>
              <a:rPr lang="en-US" sz="1100" dirty="0">
                <a:solidFill>
                  <a:srgbClr val="5E6B75"/>
                </a:solidFill>
              </a:rPr>
              <a:t>coverage</a:t>
            </a:r>
            <a:endParaRPr lang="en-US" sz="1100" dirty="0"/>
          </a:p>
        </p:txBody>
      </p:sp>
      <p:sp>
        <p:nvSpPr>
          <p:cNvPr id="54" name="gene-0"/>
          <p:cNvSpPr/>
          <p:nvPr/>
        </p:nvSpPr>
        <p:spPr>
          <a:xfrm>
            <a:off x="548640" y="2880360"/>
            <a:ext cx="822960" cy="292608"/>
          </a:xfrm>
          <a:prstGeom prst="homePlate">
            <a:avLst/>
          </a:prstGeom>
          <a:solidFill>
            <a:srgbClr val="B9C7CD"/>
          </a:solidFill>
          <a:ln/>
        </p:spPr>
      </p:sp>
      <p:sp>
        <p:nvSpPr>
          <p:cNvPr id="55" name="gene-1"/>
          <p:cNvSpPr/>
          <p:nvPr/>
        </p:nvSpPr>
        <p:spPr>
          <a:xfrm>
            <a:off x="1508760" y="2880360"/>
            <a:ext cx="548640" cy="292608"/>
          </a:xfrm>
          <a:prstGeom prst="homePlate">
            <a:avLst/>
          </a:prstGeom>
          <a:solidFill>
            <a:srgbClr val="B9C7CD"/>
          </a:solidFill>
          <a:ln/>
        </p:spPr>
      </p:sp>
      <p:sp>
        <p:nvSpPr>
          <p:cNvPr id="56" name="gene-2"/>
          <p:cNvSpPr/>
          <p:nvPr/>
        </p:nvSpPr>
        <p:spPr>
          <a:xfrm>
            <a:off x="2194560" y="2880360"/>
            <a:ext cx="685800" cy="292608"/>
          </a:xfrm>
          <a:prstGeom prst="homePlate">
            <a:avLst/>
          </a:prstGeom>
          <a:solidFill>
            <a:srgbClr val="B9C7CD"/>
          </a:solidFill>
          <a:ln/>
        </p:spPr>
      </p:sp>
      <p:sp>
        <p:nvSpPr>
          <p:cNvPr id="57" name="gene-3"/>
          <p:cNvSpPr/>
          <p:nvPr/>
        </p:nvSpPr>
        <p:spPr>
          <a:xfrm>
            <a:off x="3017520" y="2880360"/>
            <a:ext cx="411480" cy="292608"/>
          </a:xfrm>
          <a:prstGeom prst="homePlate">
            <a:avLst/>
          </a:prstGeom>
          <a:solidFill>
            <a:srgbClr val="E4572E"/>
          </a:solidFill>
          <a:ln/>
        </p:spPr>
      </p:sp>
      <p:sp>
        <p:nvSpPr>
          <p:cNvPr id="58" name="gene-4"/>
          <p:cNvSpPr/>
          <p:nvPr/>
        </p:nvSpPr>
        <p:spPr>
          <a:xfrm>
            <a:off x="3520440" y="2880360"/>
            <a:ext cx="411480" cy="292608"/>
          </a:xfrm>
          <a:prstGeom prst="homePlate">
            <a:avLst/>
          </a:prstGeom>
          <a:solidFill>
            <a:srgbClr val="E4572E"/>
          </a:solidFill>
          <a:ln/>
        </p:spPr>
      </p:sp>
      <p:sp>
        <p:nvSpPr>
          <p:cNvPr id="59" name="gene-5"/>
          <p:cNvSpPr/>
          <p:nvPr/>
        </p:nvSpPr>
        <p:spPr>
          <a:xfrm>
            <a:off x="4114800" y="2880360"/>
            <a:ext cx="548640" cy="292608"/>
          </a:xfrm>
          <a:prstGeom prst="homePlate">
            <a:avLst/>
          </a:prstGeom>
          <a:solidFill>
            <a:srgbClr val="B9C7CD"/>
          </a:solidFill>
          <a:ln/>
        </p:spPr>
      </p:sp>
      <p:sp>
        <p:nvSpPr>
          <p:cNvPr id="60" name="gene-6"/>
          <p:cNvSpPr/>
          <p:nvPr/>
        </p:nvSpPr>
        <p:spPr>
          <a:xfrm>
            <a:off x="4800600" y="2880360"/>
            <a:ext cx="548640" cy="292608"/>
          </a:xfrm>
          <a:prstGeom prst="homePlate">
            <a:avLst/>
          </a:prstGeom>
          <a:solidFill>
            <a:srgbClr val="B9C7CD"/>
          </a:solidFill>
          <a:ln/>
        </p:spPr>
      </p:sp>
      <p:sp>
        <p:nvSpPr>
          <p:cNvPr id="61" name="Text 58"/>
          <p:cNvSpPr txBox="1"/>
          <p:nvPr/>
        </p:nvSpPr>
        <p:spPr>
          <a:xfrm>
            <a:off x="457200" y="3246120"/>
            <a:ext cx="1828800" cy="228600"/>
          </a:xfrm>
          <a:prstGeom prst="rect">
            <a:avLst/>
          </a:prstGeom>
          <a:noFill/>
          <a:ln/>
        </p:spPr>
        <p:txBody>
          <a:bodyPr wrap="square" lIns="0" tIns="0" rIns="0" bIns="0" rtlCol="0" anchor="t"/>
          <a:lstStyle/>
          <a:p>
            <a:pPr indent="0" marL="0">
              <a:buNone/>
            </a:pPr>
            <a:r>
              <a:rPr lang="en-US" sz="1100" dirty="0">
                <a:solidFill>
                  <a:srgbClr val="5E6B75"/>
                </a:solidFill>
              </a:rPr>
              <a:t>genes in PAO1</a:t>
            </a:r>
            <a:endParaRPr lang="en-US" sz="1100" dirty="0"/>
          </a:p>
        </p:txBody>
      </p:sp>
      <p:sp>
        <p:nvSpPr>
          <p:cNvPr id="62" name="Text 59"/>
          <p:cNvSpPr txBox="1"/>
          <p:nvPr/>
        </p:nvSpPr>
        <p:spPr>
          <a:xfrm>
            <a:off x="2971800" y="3246120"/>
            <a:ext cx="1645920" cy="228600"/>
          </a:xfrm>
          <a:prstGeom prst="rect">
            <a:avLst/>
          </a:prstGeom>
          <a:noFill/>
          <a:ln/>
        </p:spPr>
        <p:txBody>
          <a:bodyPr wrap="square" lIns="0" tIns="0" rIns="0" bIns="0" rtlCol="0" anchor="t"/>
          <a:lstStyle/>
          <a:p>
            <a:pPr indent="0" marL="0">
              <a:buNone/>
            </a:pPr>
            <a:r>
              <a:rPr lang="en-US" sz="1100" b="1" dirty="0">
                <a:solidFill>
                  <a:srgbClr val="E4572E"/>
                </a:solidFill>
              </a:rPr>
              <a:t>missing in DK2</a:t>
            </a:r>
            <a:endParaRPr lang="en-US" sz="1100" dirty="0"/>
          </a:p>
        </p:txBody>
      </p:sp>
      <p:sp>
        <p:nvSpPr>
          <p:cNvPr id="63" name="rule-card-0"/>
          <p:cNvSpPr/>
          <p:nvPr/>
        </p:nvSpPr>
        <p:spPr>
          <a:xfrm>
            <a:off x="5852160" y="1143000"/>
            <a:ext cx="2834640" cy="914400"/>
          </a:xfrm>
          <a:prstGeom prst="roundRect">
            <a:avLst>
              <a:gd name="adj" fmla="val 8000"/>
            </a:avLst>
          </a:prstGeom>
          <a:solidFill>
            <a:schemeClr val="bg2"/>
          </a:solidFill>
          <a:ln/>
        </p:spPr>
      </p:sp>
      <p:sp>
        <p:nvSpPr>
          <p:cNvPr id="64" name="Text 61"/>
          <p:cNvSpPr txBox="1"/>
          <p:nvPr/>
        </p:nvSpPr>
        <p:spPr>
          <a:xfrm>
            <a:off x="6035040" y="1252728"/>
            <a:ext cx="2560320" cy="274320"/>
          </a:xfrm>
          <a:prstGeom prst="rect">
            <a:avLst/>
          </a:prstGeom>
          <a:noFill/>
          <a:ln/>
        </p:spPr>
        <p:txBody>
          <a:bodyPr wrap="square" lIns="0" tIns="0" rIns="0" bIns="0" rtlCol="0" anchor="t"/>
          <a:lstStyle/>
          <a:p>
            <a:pPr indent="0" marL="0">
              <a:buNone/>
            </a:pPr>
            <a:r>
              <a:rPr lang="en-US" sz="1400" b="1" dirty="0">
                <a:solidFill>
                  <a:schemeClr val="tx2"/>
                </a:solidFill>
              </a:rPr>
              <a:t>Rule</a:t>
            </a:r>
            <a:endParaRPr lang="en-US" sz="1400" dirty="0"/>
          </a:p>
        </p:txBody>
      </p:sp>
      <p:sp>
        <p:nvSpPr>
          <p:cNvPr id="65" name="Text 62"/>
          <p:cNvSpPr txBox="1"/>
          <p:nvPr/>
        </p:nvSpPr>
        <p:spPr>
          <a:xfrm>
            <a:off x="6035040" y="1527048"/>
            <a:ext cx="2560320" cy="502920"/>
          </a:xfrm>
          <a:prstGeom prst="rect">
            <a:avLst/>
          </a:prstGeom>
          <a:noFill/>
          <a:ln/>
        </p:spPr>
        <p:txBody>
          <a:bodyPr wrap="square" lIns="0" tIns="0" rIns="0" bIns="0" rtlCol="0" anchor="t"/>
          <a:lstStyle/>
          <a:p>
            <a:pPr indent="0" marL="0">
              <a:buNone/>
            </a:pPr>
            <a:r>
              <a:rPr lang="en-US" sz="1300" dirty="0">
                <a:solidFill>
                  <a:schemeClr val="tx1"/>
                </a:solidFill>
              </a:rPr>
              <a:t>zero reads over at least 1 kb, and at least 90 % of the gene inside</a:t>
            </a:r>
            <a:endParaRPr lang="en-US" sz="1300" dirty="0"/>
          </a:p>
        </p:txBody>
      </p:sp>
      <p:sp>
        <p:nvSpPr>
          <p:cNvPr id="66" name="rule-card-1"/>
          <p:cNvSpPr/>
          <p:nvPr/>
        </p:nvSpPr>
        <p:spPr>
          <a:xfrm>
            <a:off x="5852160" y="2194560"/>
            <a:ext cx="2834640" cy="914400"/>
          </a:xfrm>
          <a:prstGeom prst="roundRect">
            <a:avLst>
              <a:gd name="adj" fmla="val 8000"/>
            </a:avLst>
          </a:prstGeom>
          <a:solidFill>
            <a:schemeClr val="bg2"/>
          </a:solidFill>
          <a:ln/>
        </p:spPr>
      </p:sp>
      <p:sp>
        <p:nvSpPr>
          <p:cNvPr id="67" name="Text 64"/>
          <p:cNvSpPr txBox="1"/>
          <p:nvPr/>
        </p:nvSpPr>
        <p:spPr>
          <a:xfrm>
            <a:off x="6035040" y="2304288"/>
            <a:ext cx="2560320" cy="274320"/>
          </a:xfrm>
          <a:prstGeom prst="rect">
            <a:avLst/>
          </a:prstGeom>
          <a:noFill/>
          <a:ln/>
        </p:spPr>
        <p:txBody>
          <a:bodyPr wrap="square" lIns="0" tIns="0" rIns="0" bIns="0" rtlCol="0" anchor="t"/>
          <a:lstStyle/>
          <a:p>
            <a:pPr indent="0" marL="0">
              <a:buNone/>
            </a:pPr>
            <a:r>
              <a:rPr lang="en-US" sz="1400" b="1" dirty="0">
                <a:solidFill>
                  <a:schemeClr val="tx2"/>
                </a:solidFill>
              </a:rPr>
              <a:t>Why strict</a:t>
            </a:r>
            <a:endParaRPr lang="en-US" sz="1400" dirty="0"/>
          </a:p>
        </p:txBody>
      </p:sp>
      <p:sp>
        <p:nvSpPr>
          <p:cNvPr id="68" name="Text 65"/>
          <p:cNvSpPr txBox="1"/>
          <p:nvPr/>
        </p:nvSpPr>
        <p:spPr>
          <a:xfrm>
            <a:off x="6035040" y="2578608"/>
            <a:ext cx="2560320" cy="502920"/>
          </a:xfrm>
          <a:prstGeom prst="rect">
            <a:avLst/>
          </a:prstGeom>
          <a:noFill/>
          <a:ln/>
        </p:spPr>
        <p:txBody>
          <a:bodyPr wrap="square" lIns="0" tIns="0" rIns="0" bIns="0" rtlCol="0" anchor="t"/>
          <a:lstStyle/>
          <a:p>
            <a:pPr indent="0" marL="0">
              <a:buNone/>
            </a:pPr>
            <a:r>
              <a:rPr lang="en-US" sz="1300" dirty="0">
                <a:solidFill>
                  <a:schemeClr val="tx1"/>
                </a:solidFill>
              </a:rPr>
              <a:t>very GC-rich DNA can get few reads for technical reasons</a:t>
            </a:r>
            <a:endParaRPr lang="en-US" sz="1300" dirty="0"/>
          </a:p>
        </p:txBody>
      </p:sp>
      <p:sp>
        <p:nvSpPr>
          <p:cNvPr id="69" name="rule-card-2"/>
          <p:cNvSpPr/>
          <p:nvPr/>
        </p:nvSpPr>
        <p:spPr>
          <a:xfrm>
            <a:off x="5852160" y="3246120"/>
            <a:ext cx="2834640" cy="914400"/>
          </a:xfrm>
          <a:prstGeom prst="roundRect">
            <a:avLst>
              <a:gd name="adj" fmla="val 8000"/>
            </a:avLst>
          </a:prstGeom>
          <a:solidFill>
            <a:schemeClr val="bg2"/>
          </a:solidFill>
          <a:ln/>
        </p:spPr>
      </p:sp>
      <p:sp>
        <p:nvSpPr>
          <p:cNvPr id="70" name="Text 67"/>
          <p:cNvSpPr txBox="1"/>
          <p:nvPr/>
        </p:nvSpPr>
        <p:spPr>
          <a:xfrm>
            <a:off x="6035040" y="3355848"/>
            <a:ext cx="2560320" cy="274320"/>
          </a:xfrm>
          <a:prstGeom prst="rect">
            <a:avLst/>
          </a:prstGeom>
          <a:noFill/>
          <a:ln/>
        </p:spPr>
        <p:txBody>
          <a:bodyPr wrap="square" lIns="0" tIns="0" rIns="0" bIns="0" rtlCol="0" anchor="t"/>
          <a:lstStyle/>
          <a:p>
            <a:pPr indent="0" marL="0">
              <a:buNone/>
            </a:pPr>
            <a:r>
              <a:rPr lang="en-US" sz="1400" b="1" dirty="0">
                <a:solidFill>
                  <a:schemeClr val="accent2"/>
                </a:solidFill>
              </a:rPr>
              <a:t>Limit</a:t>
            </a:r>
            <a:endParaRPr lang="en-US" sz="1400" dirty="0"/>
          </a:p>
        </p:txBody>
      </p:sp>
      <p:sp>
        <p:nvSpPr>
          <p:cNvPr id="71" name="Text 68"/>
          <p:cNvSpPr txBox="1"/>
          <p:nvPr/>
        </p:nvSpPr>
        <p:spPr>
          <a:xfrm>
            <a:off x="6035040" y="3630168"/>
            <a:ext cx="2560320" cy="502920"/>
          </a:xfrm>
          <a:prstGeom prst="rect">
            <a:avLst/>
          </a:prstGeom>
          <a:noFill/>
          <a:ln/>
        </p:spPr>
        <p:txBody>
          <a:bodyPr wrap="square" lIns="0" tIns="0" rIns="0" bIns="0" rtlCol="0" anchor="t"/>
          <a:lstStyle/>
          <a:p>
            <a:pPr indent="0" marL="0">
              <a:buNone/>
            </a:pPr>
            <a:r>
              <a:rPr lang="en-US" sz="1300" dirty="0">
                <a:solidFill>
                  <a:schemeClr val="tx1"/>
                </a:solidFill>
              </a:rPr>
              <a:t>lost in DK2 or gained by PAO1? One reference cannot tell</a:t>
            </a:r>
            <a:endParaRPr lang="en-US" sz="1300" dirty="0"/>
          </a:p>
        </p:txBody>
      </p:sp>
      <p:sp>
        <p:nvSpPr>
          <p:cNvPr id="72" name="Text 69"/>
          <p:cNvSpPr txBox="1"/>
          <p:nvPr/>
        </p:nvSpPr>
        <p:spPr>
          <a:xfrm>
            <a:off x="457200" y="3840480"/>
            <a:ext cx="5029200" cy="365760"/>
          </a:xfrm>
          <a:prstGeom prst="rect">
            <a:avLst/>
          </a:prstGeom>
          <a:noFill/>
          <a:ln/>
        </p:spPr>
        <p:txBody>
          <a:bodyPr wrap="square" lIns="0" tIns="0" rIns="0" bIns="0" rtlCol="0" anchor="t"/>
          <a:lstStyle/>
          <a:p>
            <a:pPr indent="0" marL="0">
              <a:buNone/>
            </a:pPr>
            <a:r>
              <a:rPr lang="en-US" sz="1400" i="1" dirty="0">
                <a:solidFill>
                  <a:schemeClr val="tx2"/>
                </a:solidFill>
              </a:rPr>
              <a:t>A cheap way to compare gene content without assembling a genome.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89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005840"/>
          </a:xfrm>
          <a:prstGeom prst="rect">
            <a:avLst/>
          </a:prstGeom>
          <a:noFill/>
          <a:ln/>
        </p:spPr>
        <p:txBody>
          <a:bodyPr wrap="square" lIns="0" tIns="0" rIns="0" bIns="0" rtlCol="0" anchor="b"/>
          <a:lstStyle/>
          <a:p>
            <a:pPr indent="0" marL="0">
              <a:buNone/>
            </a:pPr>
            <a:r>
              <a:rPr lang="en-US" sz="3800" b="1" dirty="0">
                <a:solidFill>
                  <a:schemeClr val="bg1"/>
                </a:solidFill>
              </a:rPr>
              <a:t>Part 2 · Variant calling</a:t>
            </a:r>
            <a:endParaRPr lang="en-US" sz="3800" dirty="0"/>
          </a:p>
        </p:txBody>
      </p:sp>
      <p:sp>
        <p:nvSpPr>
          <p:cNvPr id="3" name="Text 0"/>
          <p:cNvSpPr/>
          <p:nvPr>
            <p:ph idx="101" type="body" hasCustomPrompt="1"/>
          </p:nvPr>
        </p:nvSpPr>
        <p:spPr>
          <a:xfrm>
            <a:off x="548640" y="2697480"/>
            <a:ext cx="8046720" cy="731520"/>
          </a:xfrm>
          <a:prstGeom prst="rect">
            <a:avLst/>
          </a:prstGeom>
          <a:noFill/>
          <a:ln/>
        </p:spPr>
        <p:txBody>
          <a:bodyPr wrap="square" lIns="0" tIns="0" rIns="0" bIns="0" rtlCol="0" anchor="t"/>
          <a:lstStyle/>
          <a:p>
            <a:pPr indent="0" marL="0">
              <a:buNone/>
            </a:pPr>
            <a:r>
              <a:rPr lang="en-US" sz="2000" dirty="0">
                <a:solidFill>
                  <a:schemeClr val="bg1"/>
                </a:solidFill>
              </a:rPr>
              <a:t>Where does the sample differ from the reference?</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From a pileup to a genotype</a:t>
            </a:r>
            <a:endParaRPr lang="en-US" sz="2800" dirty="0"/>
          </a:p>
        </p:txBody>
      </p:sp>
      <p:sp>
        <p:nvSpPr>
          <p:cNvPr id="4" name="Text 1"/>
          <p:cNvSpPr txBox="1"/>
          <p:nvPr/>
        </p:nvSpPr>
        <p:spPr>
          <a:xfrm>
            <a:off x="548640"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A</a:t>
            </a:r>
            <a:endParaRPr lang="en-US" sz="1200" dirty="0"/>
          </a:p>
        </p:txBody>
      </p:sp>
      <p:sp>
        <p:nvSpPr>
          <p:cNvPr id="5" name="Text 2"/>
          <p:cNvSpPr txBox="1"/>
          <p:nvPr/>
        </p:nvSpPr>
        <p:spPr>
          <a:xfrm>
            <a:off x="850392"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C</a:t>
            </a:r>
            <a:endParaRPr lang="en-US" sz="1200" dirty="0"/>
          </a:p>
        </p:txBody>
      </p:sp>
      <p:sp>
        <p:nvSpPr>
          <p:cNvPr id="6" name="Text 3"/>
          <p:cNvSpPr txBox="1"/>
          <p:nvPr/>
        </p:nvSpPr>
        <p:spPr>
          <a:xfrm>
            <a:off x="1152144"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G</a:t>
            </a:r>
            <a:endParaRPr lang="en-US" sz="1200" dirty="0"/>
          </a:p>
        </p:txBody>
      </p:sp>
      <p:sp>
        <p:nvSpPr>
          <p:cNvPr id="7" name="Text 4"/>
          <p:cNvSpPr txBox="1"/>
          <p:nvPr/>
        </p:nvSpPr>
        <p:spPr>
          <a:xfrm>
            <a:off x="1453896"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T</a:t>
            </a:r>
            <a:endParaRPr lang="en-US" sz="1200" dirty="0"/>
          </a:p>
        </p:txBody>
      </p:sp>
      <p:sp>
        <p:nvSpPr>
          <p:cNvPr id="8" name="Text 5"/>
          <p:cNvSpPr txBox="1"/>
          <p:nvPr/>
        </p:nvSpPr>
        <p:spPr>
          <a:xfrm>
            <a:off x="1755648"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T</a:t>
            </a:r>
            <a:endParaRPr lang="en-US" sz="1200" dirty="0"/>
          </a:p>
        </p:txBody>
      </p:sp>
      <p:sp>
        <p:nvSpPr>
          <p:cNvPr id="9" name="Text 6"/>
          <p:cNvSpPr txBox="1"/>
          <p:nvPr/>
        </p:nvSpPr>
        <p:spPr>
          <a:xfrm>
            <a:off x="2057400"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G</a:t>
            </a:r>
            <a:endParaRPr lang="en-US" sz="1200" dirty="0"/>
          </a:p>
        </p:txBody>
      </p:sp>
      <p:sp>
        <p:nvSpPr>
          <p:cNvPr id="10" name="Text 7"/>
          <p:cNvSpPr txBox="1"/>
          <p:nvPr/>
        </p:nvSpPr>
        <p:spPr>
          <a:xfrm>
            <a:off x="2359152"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A</a:t>
            </a:r>
            <a:endParaRPr lang="en-US" sz="1200" dirty="0"/>
          </a:p>
        </p:txBody>
      </p:sp>
      <p:sp>
        <p:nvSpPr>
          <p:cNvPr id="11" name="Text 8"/>
          <p:cNvSpPr txBox="1"/>
          <p:nvPr/>
        </p:nvSpPr>
        <p:spPr>
          <a:xfrm>
            <a:off x="2660904"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C</a:t>
            </a:r>
            <a:endParaRPr lang="en-US" sz="1200" dirty="0"/>
          </a:p>
        </p:txBody>
      </p:sp>
      <p:sp>
        <p:nvSpPr>
          <p:cNvPr id="12" name="Text 9"/>
          <p:cNvSpPr txBox="1"/>
          <p:nvPr/>
        </p:nvSpPr>
        <p:spPr>
          <a:xfrm>
            <a:off x="2962656"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C</a:t>
            </a:r>
            <a:endParaRPr lang="en-US" sz="1200" dirty="0"/>
          </a:p>
        </p:txBody>
      </p:sp>
      <p:sp>
        <p:nvSpPr>
          <p:cNvPr id="13" name="Text 10"/>
          <p:cNvSpPr txBox="1"/>
          <p:nvPr/>
        </p:nvSpPr>
        <p:spPr>
          <a:xfrm>
            <a:off x="3264408"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T</a:t>
            </a:r>
            <a:endParaRPr lang="en-US" sz="1200" dirty="0"/>
          </a:p>
        </p:txBody>
      </p:sp>
      <p:sp>
        <p:nvSpPr>
          <p:cNvPr id="14" name="Text 11"/>
          <p:cNvSpPr txBox="1"/>
          <p:nvPr/>
        </p:nvSpPr>
        <p:spPr>
          <a:xfrm>
            <a:off x="3566160"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A</a:t>
            </a:r>
            <a:endParaRPr lang="en-US" sz="1200" dirty="0"/>
          </a:p>
        </p:txBody>
      </p:sp>
      <p:sp>
        <p:nvSpPr>
          <p:cNvPr id="15" name="Text 12"/>
          <p:cNvSpPr txBox="1"/>
          <p:nvPr/>
        </p:nvSpPr>
        <p:spPr>
          <a:xfrm>
            <a:off x="3867912"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G</a:t>
            </a:r>
            <a:endParaRPr lang="en-US" sz="1200" dirty="0"/>
          </a:p>
        </p:txBody>
      </p:sp>
      <p:sp>
        <p:nvSpPr>
          <p:cNvPr id="16" name="Text 13"/>
          <p:cNvSpPr txBox="1"/>
          <p:nvPr/>
        </p:nvSpPr>
        <p:spPr>
          <a:xfrm>
            <a:off x="4169664"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G</a:t>
            </a:r>
            <a:endParaRPr lang="en-US" sz="1200" dirty="0"/>
          </a:p>
        </p:txBody>
      </p:sp>
      <p:sp>
        <p:nvSpPr>
          <p:cNvPr id="17" name="Text 14"/>
          <p:cNvSpPr txBox="1"/>
          <p:nvPr/>
        </p:nvSpPr>
        <p:spPr>
          <a:xfrm>
            <a:off x="4471416" y="1252728"/>
            <a:ext cx="301752" cy="256032"/>
          </a:xfrm>
          <a:prstGeom prst="rect">
            <a:avLst/>
          </a:prstGeom>
          <a:noFill/>
          <a:ln/>
        </p:spPr>
        <p:txBody>
          <a:bodyPr wrap="square" lIns="0" tIns="0" rIns="0" bIns="0" rtlCol="0" anchor="t"/>
          <a:lstStyle/>
          <a:p>
            <a:pPr algn="ctr" indent="0" marL="0">
              <a:buNone/>
            </a:pPr>
            <a:r>
              <a:rPr lang="en-US" sz="1200" b="1" dirty="0">
                <a:solidFill>
                  <a:schemeClr val="tx2"/>
                </a:solidFill>
              </a:rPr>
              <a:t>A</a:t>
            </a:r>
            <a:endParaRPr lang="en-US" sz="1200" dirty="0"/>
          </a:p>
        </p:txBody>
      </p:sp>
      <p:sp>
        <p:nvSpPr>
          <p:cNvPr id="18" name="Text 15"/>
          <p:cNvSpPr txBox="1"/>
          <p:nvPr/>
        </p:nvSpPr>
        <p:spPr>
          <a:xfrm>
            <a:off x="548640" y="1005840"/>
            <a:ext cx="4114800" cy="228600"/>
          </a:xfrm>
          <a:prstGeom prst="rect">
            <a:avLst/>
          </a:prstGeom>
          <a:noFill/>
          <a:ln/>
        </p:spPr>
        <p:txBody>
          <a:bodyPr wrap="square" lIns="0" tIns="0" rIns="0" bIns="0" rtlCol="0" anchor="t"/>
          <a:lstStyle/>
          <a:p>
            <a:pPr indent="0" marL="0">
              <a:buNone/>
            </a:pPr>
            <a:r>
              <a:rPr lang="en-US" sz="1100" dirty="0">
                <a:solidFill>
                  <a:srgbClr val="5E6B75"/>
                </a:solidFill>
              </a:rPr>
              <a:t>reference sequence and the reads covering it</a:t>
            </a:r>
            <a:endParaRPr lang="en-US" sz="1100" dirty="0"/>
          </a:p>
        </p:txBody>
      </p:sp>
      <p:sp>
        <p:nvSpPr>
          <p:cNvPr id="19" name="pile-read-0"/>
          <p:cNvSpPr/>
          <p:nvPr/>
        </p:nvSpPr>
        <p:spPr>
          <a:xfrm>
            <a:off x="566928" y="1600200"/>
            <a:ext cx="4187952" cy="146304"/>
          </a:xfrm>
          <a:prstGeom prst="roundRect">
            <a:avLst>
              <a:gd name="adj" fmla="val 50000"/>
            </a:avLst>
          </a:prstGeom>
          <a:solidFill>
            <a:srgbClr val="D9E4E8"/>
          </a:solidFill>
          <a:ln/>
        </p:spPr>
      </p:sp>
      <p:sp>
        <p:nvSpPr>
          <p:cNvPr id="20" name="het-0"/>
          <p:cNvSpPr/>
          <p:nvPr/>
        </p:nvSpPr>
        <p:spPr>
          <a:xfrm>
            <a:off x="1819656" y="1581912"/>
            <a:ext cx="173736" cy="182880"/>
          </a:xfrm>
          <a:prstGeom prst="rect">
            <a:avLst/>
          </a:prstGeom>
          <a:solidFill>
            <a:srgbClr val="E4572E"/>
          </a:solidFill>
          <a:ln/>
        </p:spPr>
      </p:sp>
      <p:sp>
        <p:nvSpPr>
          <p:cNvPr id="21" name="hom-0"/>
          <p:cNvSpPr/>
          <p:nvPr/>
        </p:nvSpPr>
        <p:spPr>
          <a:xfrm>
            <a:off x="3630168" y="1581912"/>
            <a:ext cx="173736" cy="182880"/>
          </a:xfrm>
          <a:prstGeom prst="rect">
            <a:avLst/>
          </a:prstGeom>
          <a:solidFill>
            <a:srgbClr val="E4572E"/>
          </a:solidFill>
          <a:ln/>
        </p:spPr>
      </p:sp>
      <p:sp>
        <p:nvSpPr>
          <p:cNvPr id="22" name="pile-read-1"/>
          <p:cNvSpPr/>
          <p:nvPr/>
        </p:nvSpPr>
        <p:spPr>
          <a:xfrm>
            <a:off x="566928" y="1847088"/>
            <a:ext cx="4187952" cy="146304"/>
          </a:xfrm>
          <a:prstGeom prst="roundRect">
            <a:avLst>
              <a:gd name="adj" fmla="val 50000"/>
            </a:avLst>
          </a:prstGeom>
          <a:solidFill>
            <a:srgbClr val="C9D6DB"/>
          </a:solidFill>
          <a:ln/>
        </p:spPr>
      </p:sp>
      <p:sp>
        <p:nvSpPr>
          <p:cNvPr id="23" name="hom-1"/>
          <p:cNvSpPr/>
          <p:nvPr/>
        </p:nvSpPr>
        <p:spPr>
          <a:xfrm>
            <a:off x="3630168" y="1828800"/>
            <a:ext cx="173736" cy="182880"/>
          </a:xfrm>
          <a:prstGeom prst="rect">
            <a:avLst/>
          </a:prstGeom>
          <a:solidFill>
            <a:srgbClr val="E4572E"/>
          </a:solidFill>
          <a:ln/>
        </p:spPr>
      </p:sp>
      <p:sp>
        <p:nvSpPr>
          <p:cNvPr id="24" name="pile-read-2"/>
          <p:cNvSpPr/>
          <p:nvPr/>
        </p:nvSpPr>
        <p:spPr>
          <a:xfrm>
            <a:off x="566928" y="2093976"/>
            <a:ext cx="4187952" cy="146304"/>
          </a:xfrm>
          <a:prstGeom prst="roundRect">
            <a:avLst>
              <a:gd name="adj" fmla="val 50000"/>
            </a:avLst>
          </a:prstGeom>
          <a:solidFill>
            <a:srgbClr val="D9E4E8"/>
          </a:solidFill>
          <a:ln/>
        </p:spPr>
      </p:sp>
      <p:sp>
        <p:nvSpPr>
          <p:cNvPr id="25" name="het-2"/>
          <p:cNvSpPr/>
          <p:nvPr/>
        </p:nvSpPr>
        <p:spPr>
          <a:xfrm>
            <a:off x="1819656" y="2075688"/>
            <a:ext cx="173736" cy="182880"/>
          </a:xfrm>
          <a:prstGeom prst="rect">
            <a:avLst/>
          </a:prstGeom>
          <a:solidFill>
            <a:srgbClr val="E4572E"/>
          </a:solidFill>
          <a:ln/>
        </p:spPr>
      </p:sp>
      <p:sp>
        <p:nvSpPr>
          <p:cNvPr id="26" name="hom-2"/>
          <p:cNvSpPr/>
          <p:nvPr/>
        </p:nvSpPr>
        <p:spPr>
          <a:xfrm>
            <a:off x="3630168" y="2075688"/>
            <a:ext cx="173736" cy="182880"/>
          </a:xfrm>
          <a:prstGeom prst="rect">
            <a:avLst/>
          </a:prstGeom>
          <a:solidFill>
            <a:srgbClr val="E4572E"/>
          </a:solidFill>
          <a:ln/>
        </p:spPr>
      </p:sp>
      <p:sp>
        <p:nvSpPr>
          <p:cNvPr id="27" name="err-2"/>
          <p:cNvSpPr/>
          <p:nvPr/>
        </p:nvSpPr>
        <p:spPr>
          <a:xfrm>
            <a:off x="2423160" y="2075688"/>
            <a:ext cx="173736" cy="182880"/>
          </a:xfrm>
          <a:prstGeom prst="rect">
            <a:avLst/>
          </a:prstGeom>
          <a:solidFill>
            <a:srgbClr val="E4572E"/>
          </a:solidFill>
          <a:ln/>
        </p:spPr>
      </p:sp>
      <p:sp>
        <p:nvSpPr>
          <p:cNvPr id="28" name="pile-read-3"/>
          <p:cNvSpPr/>
          <p:nvPr/>
        </p:nvSpPr>
        <p:spPr>
          <a:xfrm>
            <a:off x="566928" y="2340864"/>
            <a:ext cx="4187952" cy="146304"/>
          </a:xfrm>
          <a:prstGeom prst="roundRect">
            <a:avLst>
              <a:gd name="adj" fmla="val 50000"/>
            </a:avLst>
          </a:prstGeom>
          <a:solidFill>
            <a:srgbClr val="C9D6DB"/>
          </a:solidFill>
          <a:ln/>
        </p:spPr>
      </p:sp>
      <p:sp>
        <p:nvSpPr>
          <p:cNvPr id="29" name="het-3"/>
          <p:cNvSpPr/>
          <p:nvPr/>
        </p:nvSpPr>
        <p:spPr>
          <a:xfrm>
            <a:off x="1819656" y="2322576"/>
            <a:ext cx="173736" cy="182880"/>
          </a:xfrm>
          <a:prstGeom prst="rect">
            <a:avLst/>
          </a:prstGeom>
          <a:solidFill>
            <a:srgbClr val="E4572E"/>
          </a:solidFill>
          <a:ln/>
        </p:spPr>
      </p:sp>
      <p:sp>
        <p:nvSpPr>
          <p:cNvPr id="30" name="hom-3"/>
          <p:cNvSpPr/>
          <p:nvPr/>
        </p:nvSpPr>
        <p:spPr>
          <a:xfrm>
            <a:off x="3630168" y="2322576"/>
            <a:ext cx="173736" cy="182880"/>
          </a:xfrm>
          <a:prstGeom prst="rect">
            <a:avLst/>
          </a:prstGeom>
          <a:solidFill>
            <a:srgbClr val="E4572E"/>
          </a:solidFill>
          <a:ln/>
        </p:spPr>
      </p:sp>
      <p:sp>
        <p:nvSpPr>
          <p:cNvPr id="31" name="pile-read-4"/>
          <p:cNvSpPr/>
          <p:nvPr/>
        </p:nvSpPr>
        <p:spPr>
          <a:xfrm>
            <a:off x="566928" y="2587752"/>
            <a:ext cx="4187952" cy="146304"/>
          </a:xfrm>
          <a:prstGeom prst="roundRect">
            <a:avLst>
              <a:gd name="adj" fmla="val 50000"/>
            </a:avLst>
          </a:prstGeom>
          <a:solidFill>
            <a:srgbClr val="D9E4E8"/>
          </a:solidFill>
          <a:ln/>
        </p:spPr>
      </p:sp>
      <p:sp>
        <p:nvSpPr>
          <p:cNvPr id="32" name="hom-4"/>
          <p:cNvSpPr/>
          <p:nvPr/>
        </p:nvSpPr>
        <p:spPr>
          <a:xfrm>
            <a:off x="3630168" y="2569464"/>
            <a:ext cx="173736" cy="182880"/>
          </a:xfrm>
          <a:prstGeom prst="rect">
            <a:avLst/>
          </a:prstGeom>
          <a:solidFill>
            <a:srgbClr val="E4572E"/>
          </a:solidFill>
          <a:ln/>
        </p:spPr>
      </p:sp>
      <p:sp>
        <p:nvSpPr>
          <p:cNvPr id="33" name="pile-read-5"/>
          <p:cNvSpPr/>
          <p:nvPr/>
        </p:nvSpPr>
        <p:spPr>
          <a:xfrm>
            <a:off x="566928" y="2834640"/>
            <a:ext cx="4187952" cy="146304"/>
          </a:xfrm>
          <a:prstGeom prst="roundRect">
            <a:avLst>
              <a:gd name="adj" fmla="val 50000"/>
            </a:avLst>
          </a:prstGeom>
          <a:solidFill>
            <a:srgbClr val="C9D6DB"/>
          </a:solidFill>
          <a:ln/>
        </p:spPr>
      </p:sp>
      <p:sp>
        <p:nvSpPr>
          <p:cNvPr id="34" name="hom-5"/>
          <p:cNvSpPr/>
          <p:nvPr/>
        </p:nvSpPr>
        <p:spPr>
          <a:xfrm>
            <a:off x="3630168" y="2816352"/>
            <a:ext cx="173736" cy="182880"/>
          </a:xfrm>
          <a:prstGeom prst="rect">
            <a:avLst/>
          </a:prstGeom>
          <a:solidFill>
            <a:srgbClr val="E4572E"/>
          </a:solidFill>
          <a:ln/>
        </p:spPr>
      </p:sp>
      <p:sp>
        <p:nvSpPr>
          <p:cNvPr id="35" name="pile-read-6"/>
          <p:cNvSpPr/>
          <p:nvPr/>
        </p:nvSpPr>
        <p:spPr>
          <a:xfrm>
            <a:off x="566928" y="3081528"/>
            <a:ext cx="4187952" cy="146304"/>
          </a:xfrm>
          <a:prstGeom prst="roundRect">
            <a:avLst>
              <a:gd name="adj" fmla="val 50000"/>
            </a:avLst>
          </a:prstGeom>
          <a:solidFill>
            <a:srgbClr val="D9E4E8"/>
          </a:solidFill>
          <a:ln/>
        </p:spPr>
      </p:sp>
      <p:sp>
        <p:nvSpPr>
          <p:cNvPr id="36" name="het-6"/>
          <p:cNvSpPr/>
          <p:nvPr/>
        </p:nvSpPr>
        <p:spPr>
          <a:xfrm>
            <a:off x="1819656" y="3063240"/>
            <a:ext cx="173736" cy="182880"/>
          </a:xfrm>
          <a:prstGeom prst="rect">
            <a:avLst/>
          </a:prstGeom>
          <a:solidFill>
            <a:srgbClr val="E4572E"/>
          </a:solidFill>
          <a:ln/>
        </p:spPr>
      </p:sp>
      <p:sp>
        <p:nvSpPr>
          <p:cNvPr id="37" name="hom-6"/>
          <p:cNvSpPr/>
          <p:nvPr/>
        </p:nvSpPr>
        <p:spPr>
          <a:xfrm>
            <a:off x="3630168" y="3063240"/>
            <a:ext cx="173736" cy="182880"/>
          </a:xfrm>
          <a:prstGeom prst="rect">
            <a:avLst/>
          </a:prstGeom>
          <a:solidFill>
            <a:srgbClr val="E4572E"/>
          </a:solidFill>
          <a:ln/>
        </p:spPr>
      </p:sp>
      <p:sp>
        <p:nvSpPr>
          <p:cNvPr id="38" name="pile-read-7"/>
          <p:cNvSpPr/>
          <p:nvPr/>
        </p:nvSpPr>
        <p:spPr>
          <a:xfrm>
            <a:off x="566928" y="3328416"/>
            <a:ext cx="4187952" cy="146304"/>
          </a:xfrm>
          <a:prstGeom prst="roundRect">
            <a:avLst>
              <a:gd name="adj" fmla="val 50000"/>
            </a:avLst>
          </a:prstGeom>
          <a:solidFill>
            <a:srgbClr val="C9D6DB"/>
          </a:solidFill>
          <a:ln/>
        </p:spPr>
      </p:sp>
      <p:sp>
        <p:nvSpPr>
          <p:cNvPr id="39" name="hom-7"/>
          <p:cNvSpPr/>
          <p:nvPr/>
        </p:nvSpPr>
        <p:spPr>
          <a:xfrm>
            <a:off x="3630168" y="3310128"/>
            <a:ext cx="173736" cy="182880"/>
          </a:xfrm>
          <a:prstGeom prst="rect">
            <a:avLst/>
          </a:prstGeom>
          <a:solidFill>
            <a:srgbClr val="E4572E"/>
          </a:solidFill>
          <a:ln/>
        </p:spPr>
      </p:sp>
      <p:sp>
        <p:nvSpPr>
          <p:cNvPr id="40" name="Text 37"/>
          <p:cNvSpPr txBox="1"/>
          <p:nvPr/>
        </p:nvSpPr>
        <p:spPr>
          <a:xfrm>
            <a:off x="1481328" y="3621024"/>
            <a:ext cx="850392" cy="457200"/>
          </a:xfrm>
          <a:prstGeom prst="rect">
            <a:avLst/>
          </a:prstGeom>
          <a:noFill/>
          <a:ln/>
        </p:spPr>
        <p:txBody>
          <a:bodyPr wrap="square" lIns="0" tIns="0" rIns="0" bIns="0" rtlCol="0" anchor="t"/>
          <a:lstStyle/>
          <a:p>
            <a:pPr algn="ctr" indent="0" marL="0">
              <a:buNone/>
            </a:pPr>
            <a:r>
              <a:rPr lang="en-US" sz="1200" b="1" dirty="0">
                <a:solidFill>
                  <a:srgbClr val="E4572E"/>
                </a:solidFill>
              </a:rPr>
              <a:t>0/1</a:t>
            </a:r>
            <a:endParaRPr lang="en-US" sz="1200" dirty="0"/>
          </a:p>
          <a:p>
            <a:pPr algn="ctr" indent="0" marL="0">
              <a:buNone/>
            </a:pPr>
            <a:r>
              <a:rPr lang="en-US" sz="1200" b="1" dirty="0">
                <a:solidFill>
                  <a:srgbClr val="E4572E"/>
                </a:solidFill>
              </a:rPr>
              <a:t>het</a:t>
            </a:r>
            <a:endParaRPr lang="en-US" sz="1200" dirty="0"/>
          </a:p>
        </p:txBody>
      </p:sp>
      <p:sp>
        <p:nvSpPr>
          <p:cNvPr id="41" name="Text 38"/>
          <p:cNvSpPr txBox="1"/>
          <p:nvPr/>
        </p:nvSpPr>
        <p:spPr>
          <a:xfrm>
            <a:off x="2084832" y="3621024"/>
            <a:ext cx="850392" cy="457200"/>
          </a:xfrm>
          <a:prstGeom prst="rect">
            <a:avLst/>
          </a:prstGeom>
          <a:noFill/>
          <a:ln/>
        </p:spPr>
        <p:txBody>
          <a:bodyPr wrap="square" lIns="0" tIns="0" rIns="0" bIns="0" rtlCol="0" anchor="t"/>
          <a:lstStyle/>
          <a:p>
            <a:pPr algn="ctr" indent="0" marL="0">
              <a:buNone/>
            </a:pPr>
            <a:r>
              <a:rPr lang="en-US" sz="1200" dirty="0">
                <a:solidFill>
                  <a:srgbClr val="5E6B75"/>
                </a:solidFill>
              </a:rPr>
              <a:t>error</a:t>
            </a:r>
            <a:endParaRPr lang="en-US" sz="1200" dirty="0"/>
          </a:p>
        </p:txBody>
      </p:sp>
      <p:sp>
        <p:nvSpPr>
          <p:cNvPr id="42" name="Text 39"/>
          <p:cNvSpPr txBox="1"/>
          <p:nvPr/>
        </p:nvSpPr>
        <p:spPr>
          <a:xfrm>
            <a:off x="3291840" y="3621024"/>
            <a:ext cx="850392" cy="457200"/>
          </a:xfrm>
          <a:prstGeom prst="rect">
            <a:avLst/>
          </a:prstGeom>
          <a:noFill/>
          <a:ln/>
        </p:spPr>
        <p:txBody>
          <a:bodyPr wrap="square" lIns="0" tIns="0" rIns="0" bIns="0" rtlCol="0" anchor="t"/>
          <a:lstStyle/>
          <a:p>
            <a:pPr algn="ctr" indent="0" marL="0">
              <a:buNone/>
            </a:pPr>
            <a:r>
              <a:rPr lang="en-US" sz="1200" b="1" dirty="0">
                <a:solidFill>
                  <a:srgbClr val="E4572E"/>
                </a:solidFill>
              </a:rPr>
              <a:t>1/1</a:t>
            </a:r>
            <a:endParaRPr lang="en-US" sz="1200" dirty="0"/>
          </a:p>
          <a:p>
            <a:pPr algn="ctr" indent="0" marL="0">
              <a:buNone/>
            </a:pPr>
            <a:r>
              <a:rPr lang="en-US" sz="1200" b="1" dirty="0">
                <a:solidFill>
                  <a:srgbClr val="E4572E"/>
                </a:solidFill>
              </a:rPr>
              <a:t>hom alt</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349240" y="1143000"/>
          <a:ext cx="3337560" cy="914400"/>
        </p:xfrm>
        <a:graphic>
          <a:graphicData uri="http://schemas.openxmlformats.org/drawingml/2006/table">
            <a:tbl>
              <a:tblPr/>
              <a:tblGrid>
                <a:gridCol w="1508760"/>
                <a:gridCol w="685800"/>
                <a:gridCol w="1143000"/>
              </a:tblGrid>
              <a:tr h="384048">
                <a:tc>
                  <a:txBody>
                    <a:bodyPr/>
                    <a:lstStyle/>
                    <a:p>
                      <a:pPr indent="0" marL="0">
                        <a:buNone/>
                      </a:pPr>
                      <a:r>
                        <a:rPr lang="en-US" sz="1300" b="1" dirty="0">
                          <a:solidFill>
                            <a:srgbClr val="FFFFFF"/>
                          </a:solidFill>
                        </a:rPr>
                        <a:t>Genotype</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0E3B47"/>
                    </a:solidFill>
                  </a:tcPr>
                </a:tc>
                <a:tc>
                  <a:txBody>
                    <a:bodyPr/>
                    <a:lstStyle/>
                    <a:p>
                      <a:pPr indent="0" marL="0">
                        <a:buNone/>
                      </a:pPr>
                      <a:r>
                        <a:rPr lang="en-US" sz="1300" b="1" dirty="0">
                          <a:solidFill>
                            <a:srgbClr val="FFFFFF"/>
                          </a:solidFill>
                        </a:rPr>
                        <a:t>VCF</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0E3B47"/>
                    </a:solidFill>
                  </a:tcPr>
                </a:tc>
                <a:tc>
                  <a:txBody>
                    <a:bodyPr/>
                    <a:lstStyle/>
                    <a:p>
                      <a:pPr indent="0" marL="0">
                        <a:buNone/>
                      </a:pPr>
                      <a:r>
                        <a:rPr lang="en-US" sz="1300" b="1" dirty="0">
                          <a:solidFill>
                            <a:srgbClr val="FFFFFF"/>
                          </a:solidFill>
                        </a:rPr>
                        <a:t>Alt reads</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0E3B47"/>
                    </a:solidFill>
                  </a:tcPr>
                </a:tc>
              </a:tr>
              <a:tr h="384048">
                <a:tc>
                  <a:txBody>
                    <a:bodyPr/>
                    <a:lstStyle/>
                    <a:p>
                      <a:pPr indent="0" marL="0">
                        <a:buNone/>
                      </a:pPr>
                      <a:r>
                        <a:rPr lang="en-US" sz="1300" b="1" dirty="0">
                          <a:solidFill>
                            <a:srgbClr val="1B2B34"/>
                          </a:solidFill>
                        </a:rPr>
                        <a:t>haploid: ref / alt</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0 / 1</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0 % / 100 %</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B34"/>
                          </a:solidFill>
                        </a:rPr>
                        <a:t>diploid: hom ref</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0/0</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~0 %</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B34"/>
                          </a:solidFill>
                        </a:rPr>
                        <a:t>diploid: het</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0/1</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~50 %</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B2B34"/>
                          </a:solidFill>
                        </a:rPr>
                        <a:t>diploid: hom alt</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1/1</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rPr>
                        <a:t>~100 %</a:t>
                      </a:r>
                      <a:endParaRPr lang="en-US" sz="1300" dirty="0"/>
                    </a:p>
                  </a:txBody>
                  <a:tcPr marL="54864" marR="54864" marT="54864" marB="54864" anchor="ctr">
                    <a:lnL w="9525" cap="flat" cmpd="sng" algn="ctr">
                      <a:solidFill>
                        <a:srgbClr val="D5DEE2"/>
                      </a:solidFill>
                      <a:prstDash val="solid"/>
                      <a:round/>
                      <a:headEnd type="none" w="med" len="med"/>
                      <a:tailEnd type="none" w="med" len="med"/>
                    </a:lnL>
                    <a:lnR w="9525" cap="flat" cmpd="sng" algn="ctr">
                      <a:solidFill>
                        <a:srgbClr val="D5DEE2"/>
                      </a:solidFill>
                      <a:prstDash val="solid"/>
                      <a:round/>
                      <a:headEnd type="none" w="med" len="med"/>
                      <a:tailEnd type="none" w="med" len="med"/>
                    </a:lnR>
                    <a:lnT w="9525" cap="flat" cmpd="sng" algn="ctr">
                      <a:solidFill>
                        <a:srgbClr val="D5DEE2"/>
                      </a:solidFill>
                      <a:prstDash val="solid"/>
                      <a:round/>
                      <a:headEnd type="none" w="med" len="med"/>
                      <a:tailEnd type="none" w="med" len="med"/>
                    </a:lnT>
                    <a:lnB w="9525" cap="flat" cmpd="sng" algn="ctr">
                      <a:solidFill>
                        <a:srgbClr val="D5DEE2"/>
                      </a:solidFill>
                      <a:prstDash val="solid"/>
                      <a:round/>
                      <a:headEnd type="none" w="med" len="med"/>
                      <a:tailEnd type="none" w="med" len="med"/>
                    </a:lnB>
                    <a:solidFill>
                      <a:srgbClr val="FFFFFF"/>
                    </a:solidFill>
                  </a:tcPr>
                </a:tc>
              </a:tr>
            </a:tbl>
          </a:graphicData>
        </a:graphic>
      </p:graphicFrame>
      <p:sp>
        <p:nvSpPr>
          <p:cNvPr id="44" name="Text 40"/>
          <p:cNvSpPr txBox="1"/>
          <p:nvPr/>
        </p:nvSpPr>
        <p:spPr>
          <a:xfrm>
            <a:off x="5349240" y="3246120"/>
            <a:ext cx="3337560" cy="1097280"/>
          </a:xfrm>
          <a:prstGeom prst="rect">
            <a:avLst/>
          </a:prstGeom>
          <a:noFill/>
          <a:ln/>
        </p:spPr>
        <p:txBody>
          <a:bodyPr wrap="square" lIns="0" tIns="0" rIns="0" bIns="0" rtlCol="0" anchor="t"/>
          <a:lstStyle/>
          <a:p>
            <a:pPr indent="0" marL="0">
              <a:buNone/>
            </a:pPr>
            <a:r>
              <a:rPr lang="en-US" sz="1300" dirty="0">
                <a:solidFill>
                  <a:srgbClr val="5E6B75"/>
                </a:solidFill>
              </a:rPr>
              <a:t>The caller weighs these possibilities for every position (genotype likelihoods) and reports the most likely one. QUAL says how sure it is that the site is variant.</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89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Depth decides whether a heterozygote is seen</a:t>
            </a:r>
            <a:endParaRPr lang="en-US" sz="2800" dirty="0"/>
          </a:p>
        </p:txBody>
      </p:sp>
      <p:graphicFrame>
        <p:nvGraphicFramePr>
          <p:cNvPr id="4" name="Chart 0" descr=""/>
          <p:cNvGraphicFramePr/>
          <p:nvPr/>
        </p:nvGraphicFramePr>
        <p:xfrm>
          <a:off x="457200" y="1051560"/>
          <a:ext cx="5120640" cy="35204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943600" y="1188720"/>
            <a:ext cx="2743200" cy="54864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12.5 %</a:t>
            </a:r>
            <a:endParaRPr lang="en-US" sz="3400" dirty="0"/>
          </a:p>
        </p:txBody>
      </p:sp>
      <p:sp>
        <p:nvSpPr>
          <p:cNvPr id="6" name="Text 2"/>
          <p:cNvSpPr txBox="1"/>
          <p:nvPr/>
        </p:nvSpPr>
        <p:spPr>
          <a:xfrm>
            <a:off x="5943600" y="1737360"/>
            <a:ext cx="2743200" cy="320040"/>
          </a:xfrm>
          <a:prstGeom prst="rect">
            <a:avLst/>
          </a:prstGeom>
          <a:noFill/>
          <a:ln/>
        </p:spPr>
        <p:txBody>
          <a:bodyPr wrap="square" lIns="0" tIns="0" rIns="0" bIns="0" rtlCol="0" anchor="t"/>
          <a:lstStyle/>
          <a:p>
            <a:pPr indent="0" marL="0">
              <a:buNone/>
            </a:pPr>
            <a:r>
              <a:rPr lang="en-US" sz="1300" dirty="0">
                <a:solidFill>
                  <a:srgbClr val="5E6B75"/>
                </a:solidFill>
              </a:rPr>
              <a:t>at 3× depth</a:t>
            </a:r>
            <a:endParaRPr lang="en-US" sz="1300" dirty="0"/>
          </a:p>
        </p:txBody>
      </p:sp>
      <p:sp>
        <p:nvSpPr>
          <p:cNvPr id="7" name="Text 3"/>
          <p:cNvSpPr txBox="1"/>
          <p:nvPr/>
        </p:nvSpPr>
        <p:spPr>
          <a:xfrm>
            <a:off x="5943600" y="2212848"/>
            <a:ext cx="2743200" cy="54864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3 %</a:t>
            </a:r>
            <a:endParaRPr lang="en-US" sz="3400" dirty="0"/>
          </a:p>
        </p:txBody>
      </p:sp>
      <p:sp>
        <p:nvSpPr>
          <p:cNvPr id="8" name="Text 4"/>
          <p:cNvSpPr txBox="1"/>
          <p:nvPr/>
        </p:nvSpPr>
        <p:spPr>
          <a:xfrm>
            <a:off x="5943600" y="2761488"/>
            <a:ext cx="2743200" cy="320040"/>
          </a:xfrm>
          <a:prstGeom prst="rect">
            <a:avLst/>
          </a:prstGeom>
          <a:noFill/>
          <a:ln/>
        </p:spPr>
        <p:txBody>
          <a:bodyPr wrap="square" lIns="0" tIns="0" rIns="0" bIns="0" rtlCol="0" anchor="t"/>
          <a:lstStyle/>
          <a:p>
            <a:pPr indent="0" marL="0">
              <a:buNone/>
            </a:pPr>
            <a:r>
              <a:rPr lang="en-US" sz="1300" dirty="0">
                <a:solidFill>
                  <a:srgbClr val="5E6B75"/>
                </a:solidFill>
              </a:rPr>
              <a:t>at 5× depth</a:t>
            </a:r>
            <a:endParaRPr lang="en-US" sz="1300" dirty="0"/>
          </a:p>
        </p:txBody>
      </p:sp>
      <p:sp>
        <p:nvSpPr>
          <p:cNvPr id="9" name="Text 5"/>
          <p:cNvSpPr txBox="1"/>
          <p:nvPr/>
        </p:nvSpPr>
        <p:spPr>
          <a:xfrm>
            <a:off x="5943600" y="3236976"/>
            <a:ext cx="2743200" cy="548640"/>
          </a:xfrm>
          <a:prstGeom prst="rect">
            <a:avLst/>
          </a:prstGeom>
          <a:noFill/>
          <a:ln/>
        </p:spPr>
        <p:txBody>
          <a:bodyPr wrap="square" lIns="0" tIns="0" rIns="0" bIns="0" rtlCol="0" anchor="t"/>
          <a:lstStyle/>
          <a:p>
            <a:pPr indent="0" marL="0">
              <a:buNone/>
            </a:pPr>
            <a:r>
              <a:rPr lang="en-US" sz="3400" b="1" dirty="0">
                <a:solidFill>
                  <a:schemeClr val="accent2"/>
                </a:solidFill>
                <a:latin typeface="Cambria" pitchFamily="34" charset="0"/>
                <a:ea typeface="Cambria" pitchFamily="34" charset="-122"/>
                <a:cs typeface="Cambria" pitchFamily="34" charset="-120"/>
              </a:rPr>
              <a:t>0.1 %</a:t>
            </a:r>
            <a:endParaRPr lang="en-US" sz="3400" dirty="0"/>
          </a:p>
        </p:txBody>
      </p:sp>
      <p:sp>
        <p:nvSpPr>
          <p:cNvPr id="10" name="Text 6"/>
          <p:cNvSpPr txBox="1"/>
          <p:nvPr/>
        </p:nvSpPr>
        <p:spPr>
          <a:xfrm>
            <a:off x="5943600" y="3785616"/>
            <a:ext cx="2743200" cy="320040"/>
          </a:xfrm>
          <a:prstGeom prst="rect">
            <a:avLst/>
          </a:prstGeom>
          <a:noFill/>
          <a:ln/>
        </p:spPr>
        <p:txBody>
          <a:bodyPr wrap="square" lIns="0" tIns="0" rIns="0" bIns="0" rtlCol="0" anchor="t"/>
          <a:lstStyle/>
          <a:p>
            <a:pPr indent="0" marL="0">
              <a:buNone/>
            </a:pPr>
            <a:r>
              <a:rPr lang="en-US" sz="1300" dirty="0">
                <a:solidFill>
                  <a:srgbClr val="5E6B75"/>
                </a:solidFill>
              </a:rPr>
              <a:t>at 10× depth</a:t>
            </a:r>
            <a:endParaRPr lang="en-US" sz="1300" dirty="0"/>
          </a:p>
        </p:txBody>
      </p:sp>
      <p:sp>
        <p:nvSpPr>
          <p:cNvPr id="11" name="Text 7"/>
          <p:cNvSpPr txBox="1"/>
          <p:nvPr/>
        </p:nvSpPr>
        <p:spPr>
          <a:xfrm>
            <a:off x="5943600" y="4251960"/>
            <a:ext cx="2743200" cy="320040"/>
          </a:xfrm>
          <a:prstGeom prst="rect">
            <a:avLst/>
          </a:prstGeom>
          <a:noFill/>
          <a:ln/>
        </p:spPr>
        <p:txBody>
          <a:bodyPr wrap="square" lIns="0" tIns="0" rIns="0" bIns="0" rtlCol="0" anchor="t"/>
          <a:lstStyle/>
          <a:p>
            <a:pPr indent="0" marL="0">
              <a:buNone/>
            </a:pPr>
            <a:r>
              <a:rPr lang="en-US" sz="1300" i="1" dirty="0">
                <a:solidFill>
                  <a:schemeClr val="tx2"/>
                </a:solidFill>
              </a:rPr>
              <a:t>P(no alternative read) = 0.5^depth</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89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Not every read is independent evidence</a:t>
            </a:r>
            <a:endParaRPr lang="en-US" sz="2800" dirty="0"/>
          </a:p>
        </p:txBody>
      </p:sp>
      <p:sp>
        <p:nvSpPr>
          <p:cNvPr id="4" name="evidence-card-0"/>
          <p:cNvSpPr/>
          <p:nvPr/>
        </p:nvSpPr>
        <p:spPr>
          <a:xfrm>
            <a:off x="457200" y="1097280"/>
            <a:ext cx="2606040" cy="3383280"/>
          </a:xfrm>
          <a:prstGeom prst="roundRect">
            <a:avLst>
              <a:gd name="adj" fmla="val 2807"/>
            </a:avLst>
          </a:prstGeom>
          <a:solidFill>
            <a:schemeClr val="bg2"/>
          </a:solidFill>
          <a:ln/>
        </p:spPr>
      </p:sp>
      <p:sp>
        <p:nvSpPr>
          <p:cNvPr id="5" name="dup-0"/>
          <p:cNvSpPr/>
          <p:nvPr/>
        </p:nvSpPr>
        <p:spPr>
          <a:xfrm>
            <a:off x="731520" y="1371600"/>
            <a:ext cx="1463040" cy="109728"/>
          </a:xfrm>
          <a:prstGeom prst="roundRect">
            <a:avLst>
              <a:gd name="adj" fmla="val 50000"/>
            </a:avLst>
          </a:prstGeom>
          <a:solidFill>
            <a:srgbClr val="0F7C8C"/>
          </a:solidFill>
          <a:ln/>
        </p:spPr>
      </p:sp>
      <p:sp>
        <p:nvSpPr>
          <p:cNvPr id="6" name="dup-err-0"/>
          <p:cNvSpPr/>
          <p:nvPr/>
        </p:nvSpPr>
        <p:spPr>
          <a:xfrm>
            <a:off x="1554480" y="1371600"/>
            <a:ext cx="91440" cy="109728"/>
          </a:xfrm>
          <a:prstGeom prst="rect">
            <a:avLst/>
          </a:prstGeom>
          <a:solidFill>
            <a:srgbClr val="E4572E"/>
          </a:solidFill>
          <a:ln/>
        </p:spPr>
      </p:sp>
      <p:sp>
        <p:nvSpPr>
          <p:cNvPr id="7" name="dup-1"/>
          <p:cNvSpPr/>
          <p:nvPr/>
        </p:nvSpPr>
        <p:spPr>
          <a:xfrm>
            <a:off x="731520" y="1536192"/>
            <a:ext cx="1463040" cy="109728"/>
          </a:xfrm>
          <a:prstGeom prst="roundRect">
            <a:avLst>
              <a:gd name="adj" fmla="val 50000"/>
            </a:avLst>
          </a:prstGeom>
          <a:solidFill>
            <a:srgbClr val="0F7C8C"/>
          </a:solidFill>
          <a:ln/>
        </p:spPr>
      </p:sp>
      <p:sp>
        <p:nvSpPr>
          <p:cNvPr id="8" name="dup-err-1"/>
          <p:cNvSpPr/>
          <p:nvPr/>
        </p:nvSpPr>
        <p:spPr>
          <a:xfrm>
            <a:off x="1554480" y="1536192"/>
            <a:ext cx="91440" cy="109728"/>
          </a:xfrm>
          <a:prstGeom prst="rect">
            <a:avLst/>
          </a:prstGeom>
          <a:solidFill>
            <a:srgbClr val="E4572E"/>
          </a:solidFill>
          <a:ln/>
        </p:spPr>
      </p:sp>
      <p:sp>
        <p:nvSpPr>
          <p:cNvPr id="9" name="dup-2"/>
          <p:cNvSpPr/>
          <p:nvPr/>
        </p:nvSpPr>
        <p:spPr>
          <a:xfrm>
            <a:off x="731520" y="1700784"/>
            <a:ext cx="1463040" cy="109728"/>
          </a:xfrm>
          <a:prstGeom prst="roundRect">
            <a:avLst>
              <a:gd name="adj" fmla="val 50000"/>
            </a:avLst>
          </a:prstGeom>
          <a:solidFill>
            <a:srgbClr val="0F7C8C"/>
          </a:solidFill>
          <a:ln/>
        </p:spPr>
      </p:sp>
      <p:sp>
        <p:nvSpPr>
          <p:cNvPr id="10" name="dup-err-2"/>
          <p:cNvSpPr/>
          <p:nvPr/>
        </p:nvSpPr>
        <p:spPr>
          <a:xfrm>
            <a:off x="1554480" y="1700784"/>
            <a:ext cx="91440" cy="109728"/>
          </a:xfrm>
          <a:prstGeom prst="rect">
            <a:avLst/>
          </a:prstGeom>
          <a:solidFill>
            <a:srgbClr val="E4572E"/>
          </a:solidFill>
          <a:ln/>
        </p:spPr>
      </p:sp>
      <p:sp>
        <p:nvSpPr>
          <p:cNvPr id="11" name="Text 8"/>
          <p:cNvSpPr txBox="1"/>
          <p:nvPr/>
        </p:nvSpPr>
        <p:spPr>
          <a:xfrm>
            <a:off x="685800" y="1965960"/>
            <a:ext cx="2148840" cy="365760"/>
          </a:xfrm>
          <a:prstGeom prst="rect">
            <a:avLst/>
          </a:prstGeom>
          <a:noFill/>
          <a:ln/>
        </p:spPr>
        <p:txBody>
          <a:bodyPr wrap="square" lIns="0" tIns="0" rIns="0" bIns="0" rtlCol="0" anchor="t"/>
          <a:lstStyle/>
          <a:p>
            <a:pPr indent="0" marL="0">
              <a:buNone/>
            </a:pPr>
            <a:r>
              <a:rPr lang="en-US" sz="1600" b="1" dirty="0">
                <a:solidFill>
                  <a:schemeClr val="tx2"/>
                </a:solidFill>
              </a:rPr>
              <a:t>PCR duplicates</a:t>
            </a:r>
            <a:endParaRPr lang="en-US" sz="1600" dirty="0"/>
          </a:p>
        </p:txBody>
      </p:sp>
      <p:sp>
        <p:nvSpPr>
          <p:cNvPr id="12" name="Text 9"/>
          <p:cNvSpPr txBox="1"/>
          <p:nvPr/>
        </p:nvSpPr>
        <p:spPr>
          <a:xfrm>
            <a:off x="685800" y="2377440"/>
            <a:ext cx="2148840" cy="1280160"/>
          </a:xfrm>
          <a:prstGeom prst="rect">
            <a:avLst/>
          </a:prstGeom>
          <a:noFill/>
          <a:ln/>
        </p:spPr>
        <p:txBody>
          <a:bodyPr wrap="square" lIns="0" tIns="0" rIns="0" bIns="0" rtlCol="0" anchor="t"/>
          <a:lstStyle/>
          <a:p>
            <a:pPr indent="0" marL="0">
              <a:buNone/>
            </a:pPr>
            <a:r>
              <a:rPr lang="en-US" sz="1300" dirty="0">
                <a:solidFill>
                  <a:schemeClr val="tx1"/>
                </a:solidFill>
              </a:rPr>
              <a:t>Same start and end: copies of one DNA molecule. One PCR error copied many times looks like strong support.</a:t>
            </a:r>
            <a:endParaRPr lang="en-US" sz="1300" dirty="0"/>
          </a:p>
        </p:txBody>
      </p:sp>
      <p:sp>
        <p:nvSpPr>
          <p:cNvPr id="13" name="Text 10"/>
          <p:cNvSpPr txBox="1"/>
          <p:nvPr/>
        </p:nvSpPr>
        <p:spPr>
          <a:xfrm>
            <a:off x="685800" y="3749040"/>
            <a:ext cx="2148840" cy="548640"/>
          </a:xfrm>
          <a:prstGeom prst="rect">
            <a:avLst/>
          </a:prstGeom>
          <a:noFill/>
          <a:ln/>
        </p:spPr>
        <p:txBody>
          <a:bodyPr wrap="square" lIns="0" tIns="0" rIns="0" bIns="0" rtlCol="0" anchor="t"/>
          <a:lstStyle/>
          <a:p>
            <a:pPr indent="0" marL="0">
              <a:buNone/>
            </a:pPr>
            <a:r>
              <a:rPr lang="en-US" sz="1300" b="1" dirty="0">
                <a:solidFill>
                  <a:schemeClr val="accent1"/>
                </a:solidFill>
              </a:rPr>
              <a:t>Mark them; the caller ignores them.</a:t>
            </a:r>
            <a:endParaRPr lang="en-US" sz="1300" dirty="0"/>
          </a:p>
        </p:txBody>
      </p:sp>
      <p:sp>
        <p:nvSpPr>
          <p:cNvPr id="14" name="evidence-card-1"/>
          <p:cNvSpPr/>
          <p:nvPr/>
        </p:nvSpPr>
        <p:spPr>
          <a:xfrm>
            <a:off x="3264408" y="1097280"/>
            <a:ext cx="2606040" cy="3383280"/>
          </a:xfrm>
          <a:prstGeom prst="roundRect">
            <a:avLst>
              <a:gd name="adj" fmla="val 2807"/>
            </a:avLst>
          </a:prstGeom>
          <a:solidFill>
            <a:schemeClr val="bg2"/>
          </a:solidFill>
          <a:ln/>
        </p:spPr>
      </p:sp>
      <p:sp>
        <p:nvSpPr>
          <p:cNvPr id="15" name="mq-good"/>
          <p:cNvSpPr/>
          <p:nvPr/>
        </p:nvSpPr>
        <p:spPr>
          <a:xfrm>
            <a:off x="3538728" y="1371600"/>
            <a:ext cx="1463040" cy="109728"/>
          </a:xfrm>
          <a:prstGeom prst="roundRect">
            <a:avLst>
              <a:gd name="adj" fmla="val 50000"/>
            </a:avLst>
          </a:prstGeom>
          <a:solidFill>
            <a:srgbClr val="0F7C8C"/>
          </a:solidFill>
          <a:ln/>
        </p:spPr>
      </p:sp>
      <p:sp>
        <p:nvSpPr>
          <p:cNvPr id="16" name="mq-low"/>
          <p:cNvSpPr/>
          <p:nvPr/>
        </p:nvSpPr>
        <p:spPr>
          <a:xfrm>
            <a:off x="3538728" y="1572768"/>
            <a:ext cx="1463040" cy="109728"/>
          </a:xfrm>
          <a:prstGeom prst="roundRect">
            <a:avLst>
              <a:gd name="adj" fmla="val 50000"/>
            </a:avLst>
          </a:prstGeom>
          <a:solidFill>
            <a:srgbClr val="0F7C8C">
              <a:alpha val="30000"/>
            </a:srgbClr>
          </a:solidFill>
          <a:ln/>
        </p:spPr>
      </p:sp>
      <p:sp>
        <p:nvSpPr>
          <p:cNvPr id="17" name="Text 14"/>
          <p:cNvSpPr txBox="1"/>
          <p:nvPr/>
        </p:nvSpPr>
        <p:spPr>
          <a:xfrm>
            <a:off x="5093208" y="1316736"/>
            <a:ext cx="731520" cy="201168"/>
          </a:xfrm>
          <a:prstGeom prst="rect">
            <a:avLst/>
          </a:prstGeom>
          <a:noFill/>
          <a:ln/>
        </p:spPr>
        <p:txBody>
          <a:bodyPr wrap="square" lIns="0" tIns="0" rIns="0" bIns="0" rtlCol="0" anchor="t"/>
          <a:lstStyle/>
          <a:p>
            <a:pPr indent="0" marL="0">
              <a:buNone/>
            </a:pPr>
            <a:r>
              <a:rPr lang="en-US" sz="1000" dirty="0">
                <a:solidFill>
                  <a:srgbClr val="5E6B75"/>
                </a:solidFill>
              </a:rPr>
              <a:t>MAPQ 60</a:t>
            </a:r>
            <a:endParaRPr lang="en-US" sz="1000" dirty="0"/>
          </a:p>
        </p:txBody>
      </p:sp>
      <p:sp>
        <p:nvSpPr>
          <p:cNvPr id="18" name="Text 15"/>
          <p:cNvSpPr txBox="1"/>
          <p:nvPr/>
        </p:nvSpPr>
        <p:spPr>
          <a:xfrm>
            <a:off x="5093208" y="1517904"/>
            <a:ext cx="731520" cy="201168"/>
          </a:xfrm>
          <a:prstGeom prst="rect">
            <a:avLst/>
          </a:prstGeom>
          <a:noFill/>
          <a:ln/>
        </p:spPr>
        <p:txBody>
          <a:bodyPr wrap="square" lIns="0" tIns="0" rIns="0" bIns="0" rtlCol="0" anchor="t"/>
          <a:lstStyle/>
          <a:p>
            <a:pPr indent="0" marL="0">
              <a:buNone/>
            </a:pPr>
            <a:r>
              <a:rPr lang="en-US" sz="1000" dirty="0">
                <a:solidFill>
                  <a:srgbClr val="5E6B75"/>
                </a:solidFill>
              </a:rPr>
              <a:t>MAPQ 0</a:t>
            </a:r>
            <a:endParaRPr lang="en-US" sz="1000" dirty="0"/>
          </a:p>
        </p:txBody>
      </p:sp>
      <p:sp>
        <p:nvSpPr>
          <p:cNvPr id="19" name="Text 16"/>
          <p:cNvSpPr txBox="1"/>
          <p:nvPr/>
        </p:nvSpPr>
        <p:spPr>
          <a:xfrm>
            <a:off x="3493008" y="1965960"/>
            <a:ext cx="2148840" cy="365760"/>
          </a:xfrm>
          <a:prstGeom prst="rect">
            <a:avLst/>
          </a:prstGeom>
          <a:noFill/>
          <a:ln/>
        </p:spPr>
        <p:txBody>
          <a:bodyPr wrap="square" lIns="0" tIns="0" rIns="0" bIns="0" rtlCol="0" anchor="t"/>
          <a:lstStyle/>
          <a:p>
            <a:pPr indent="0" marL="0">
              <a:buNone/>
            </a:pPr>
            <a:r>
              <a:rPr lang="en-US" sz="1600" b="1" dirty="0">
                <a:solidFill>
                  <a:schemeClr val="tx2"/>
                </a:solidFill>
              </a:rPr>
              <a:t>Mapping quality</a:t>
            </a:r>
            <a:endParaRPr lang="en-US" sz="1600" dirty="0"/>
          </a:p>
        </p:txBody>
      </p:sp>
      <p:sp>
        <p:nvSpPr>
          <p:cNvPr id="20" name="Text 17"/>
          <p:cNvSpPr txBox="1"/>
          <p:nvPr/>
        </p:nvSpPr>
        <p:spPr>
          <a:xfrm>
            <a:off x="3493008" y="2377440"/>
            <a:ext cx="2148840" cy="1280160"/>
          </a:xfrm>
          <a:prstGeom prst="rect">
            <a:avLst/>
          </a:prstGeom>
          <a:noFill/>
          <a:ln/>
        </p:spPr>
        <p:txBody>
          <a:bodyPr wrap="square" lIns="0" tIns="0" rIns="0" bIns="0" rtlCol="0" anchor="t"/>
          <a:lstStyle/>
          <a:p>
            <a:pPr indent="0" marL="0">
              <a:buNone/>
            </a:pPr>
            <a:r>
              <a:rPr lang="en-US" sz="1300" dirty="0">
                <a:solidFill>
                  <a:schemeClr val="tx1"/>
                </a:solidFill>
              </a:rPr>
              <a:t>MAPQ 0 means the read fits equally well elsewhere, typically in repeats.</a:t>
            </a:r>
            <a:endParaRPr lang="en-US" sz="1300" dirty="0"/>
          </a:p>
        </p:txBody>
      </p:sp>
      <p:sp>
        <p:nvSpPr>
          <p:cNvPr id="21" name="Text 18"/>
          <p:cNvSpPr txBox="1"/>
          <p:nvPr/>
        </p:nvSpPr>
        <p:spPr>
          <a:xfrm>
            <a:off x="3493008" y="3749040"/>
            <a:ext cx="2148840" cy="548640"/>
          </a:xfrm>
          <a:prstGeom prst="rect">
            <a:avLst/>
          </a:prstGeom>
          <a:noFill/>
          <a:ln/>
        </p:spPr>
        <p:txBody>
          <a:bodyPr wrap="square" lIns="0" tIns="0" rIns="0" bIns="0" rtlCol="0" anchor="t"/>
          <a:lstStyle/>
          <a:p>
            <a:pPr indent="0" marL="0">
              <a:buNone/>
            </a:pPr>
            <a:r>
              <a:rPr lang="en-US" sz="1300" b="1" dirty="0">
                <a:solidFill>
                  <a:schemeClr val="accent1"/>
                </a:solidFill>
              </a:rPr>
              <a:t>Skip reads with MAPQ below 20.</a:t>
            </a:r>
            <a:endParaRPr lang="en-US" sz="1300" dirty="0"/>
          </a:p>
        </p:txBody>
      </p:sp>
      <p:sp>
        <p:nvSpPr>
          <p:cNvPr id="22" name="evidence-card-2"/>
          <p:cNvSpPr/>
          <p:nvPr/>
        </p:nvSpPr>
        <p:spPr>
          <a:xfrm>
            <a:off x="6071616" y="1097280"/>
            <a:ext cx="2606040" cy="3383280"/>
          </a:xfrm>
          <a:prstGeom prst="roundRect">
            <a:avLst>
              <a:gd name="adj" fmla="val 2807"/>
            </a:avLst>
          </a:prstGeom>
          <a:solidFill>
            <a:schemeClr val="bg2"/>
          </a:solidFill>
          <a:ln/>
        </p:spPr>
      </p:sp>
      <p:sp>
        <p:nvSpPr>
          <p:cNvPr id="23" name="chr-a"/>
          <p:cNvSpPr/>
          <p:nvPr/>
        </p:nvSpPr>
        <p:spPr>
          <a:xfrm>
            <a:off x="6345936" y="1417320"/>
            <a:ext cx="822960" cy="109728"/>
          </a:xfrm>
          <a:prstGeom prst="rect">
            <a:avLst/>
          </a:prstGeom>
          <a:solidFill>
            <a:srgbClr val="7A8894"/>
          </a:solidFill>
          <a:ln/>
        </p:spPr>
      </p:sp>
      <p:sp>
        <p:nvSpPr>
          <p:cNvPr id="24" name="chr-b"/>
          <p:cNvSpPr/>
          <p:nvPr/>
        </p:nvSpPr>
        <p:spPr>
          <a:xfrm>
            <a:off x="7306056" y="1417320"/>
            <a:ext cx="822960" cy="109728"/>
          </a:xfrm>
          <a:prstGeom prst="rect">
            <a:avLst/>
          </a:prstGeom>
          <a:solidFill>
            <a:srgbClr val="7A8894"/>
          </a:solidFill>
          <a:ln/>
        </p:spPr>
      </p:sp>
      <p:sp>
        <p:nvSpPr>
          <p:cNvPr id="25" name="para-a"/>
          <p:cNvSpPr/>
          <p:nvPr/>
        </p:nvSpPr>
        <p:spPr>
          <a:xfrm>
            <a:off x="6574536" y="1417320"/>
            <a:ext cx="274320" cy="109728"/>
          </a:xfrm>
          <a:prstGeom prst="rect">
            <a:avLst/>
          </a:prstGeom>
          <a:solidFill>
            <a:srgbClr val="F2A541"/>
          </a:solidFill>
          <a:ln/>
        </p:spPr>
      </p:sp>
      <p:sp>
        <p:nvSpPr>
          <p:cNvPr id="26" name="para-b"/>
          <p:cNvSpPr/>
          <p:nvPr/>
        </p:nvSpPr>
        <p:spPr>
          <a:xfrm>
            <a:off x="7534656" y="1417320"/>
            <a:ext cx="274320" cy="109728"/>
          </a:xfrm>
          <a:prstGeom prst="rect">
            <a:avLst/>
          </a:prstGeom>
          <a:solidFill>
            <a:srgbClr val="F2A541"/>
          </a:solidFill>
          <a:ln/>
        </p:spPr>
      </p:sp>
      <p:sp>
        <p:nvSpPr>
          <p:cNvPr id="27" name="Text 24"/>
          <p:cNvSpPr txBox="1"/>
          <p:nvPr/>
        </p:nvSpPr>
        <p:spPr>
          <a:xfrm>
            <a:off x="6345936" y="1572768"/>
            <a:ext cx="2011680" cy="228600"/>
          </a:xfrm>
          <a:prstGeom prst="rect">
            <a:avLst/>
          </a:prstGeom>
          <a:noFill/>
          <a:ln/>
        </p:spPr>
        <p:txBody>
          <a:bodyPr wrap="square" lIns="0" tIns="0" rIns="0" bIns="0" rtlCol="0" anchor="t"/>
          <a:lstStyle/>
          <a:p>
            <a:pPr indent="0" marL="0">
              <a:buNone/>
            </a:pPr>
            <a:r>
              <a:rPr lang="en-US" sz="1000" dirty="0">
                <a:solidFill>
                  <a:srgbClr val="5E6B75"/>
                </a:solidFill>
              </a:rPr>
              <a:t>chr21     chr13</a:t>
            </a:r>
            <a:endParaRPr lang="en-US" sz="1000" dirty="0"/>
          </a:p>
        </p:txBody>
      </p:sp>
      <p:sp>
        <p:nvSpPr>
          <p:cNvPr id="28" name="Text 25"/>
          <p:cNvSpPr txBox="1"/>
          <p:nvPr/>
        </p:nvSpPr>
        <p:spPr>
          <a:xfrm>
            <a:off x="6300216" y="1965960"/>
            <a:ext cx="2148840" cy="365760"/>
          </a:xfrm>
          <a:prstGeom prst="rect">
            <a:avLst/>
          </a:prstGeom>
          <a:noFill/>
          <a:ln/>
        </p:spPr>
        <p:txBody>
          <a:bodyPr wrap="square" lIns="0" tIns="0" rIns="0" bIns="0" rtlCol="0" anchor="t"/>
          <a:lstStyle/>
          <a:p>
            <a:pPr indent="0" marL="0">
              <a:buNone/>
            </a:pPr>
            <a:r>
              <a:rPr lang="en-US" sz="1600" b="1" dirty="0">
                <a:solidFill>
                  <a:schemeClr val="tx2"/>
                </a:solidFill>
              </a:rPr>
              <a:t>Whole-genome reference</a:t>
            </a:r>
            <a:endParaRPr lang="en-US" sz="1600" dirty="0"/>
          </a:p>
        </p:txBody>
      </p:sp>
      <p:sp>
        <p:nvSpPr>
          <p:cNvPr id="29" name="Text 26"/>
          <p:cNvSpPr txBox="1"/>
          <p:nvPr/>
        </p:nvSpPr>
        <p:spPr>
          <a:xfrm>
            <a:off x="6300216" y="2377440"/>
            <a:ext cx="2148840" cy="1280160"/>
          </a:xfrm>
          <a:prstGeom prst="rect">
            <a:avLst/>
          </a:prstGeom>
          <a:noFill/>
          <a:ln/>
        </p:spPr>
        <p:txBody>
          <a:bodyPr wrap="square" lIns="0" tIns="0" rIns="0" bIns="0" rtlCol="0" anchor="t"/>
          <a:lstStyle/>
          <a:p>
            <a:pPr indent="0" marL="0">
              <a:buNone/>
            </a:pPr>
            <a:r>
              <a:rPr lang="en-US" sz="1300" dirty="0">
                <a:solidFill>
                  <a:schemeClr val="tx1"/>
                </a:solidFill>
              </a:rPr>
              <a:t>Offer only chr21 and reads from similar sequences elsewhere are forced onto it: false SNPs.</a:t>
            </a:r>
            <a:endParaRPr lang="en-US" sz="1300" dirty="0"/>
          </a:p>
        </p:txBody>
      </p:sp>
      <p:sp>
        <p:nvSpPr>
          <p:cNvPr id="30" name="Text 27"/>
          <p:cNvSpPr txBox="1"/>
          <p:nvPr/>
        </p:nvSpPr>
        <p:spPr>
          <a:xfrm>
            <a:off x="6300216" y="3749040"/>
            <a:ext cx="2148840" cy="548640"/>
          </a:xfrm>
          <a:prstGeom prst="rect">
            <a:avLst/>
          </a:prstGeom>
          <a:noFill/>
          <a:ln/>
        </p:spPr>
        <p:txBody>
          <a:bodyPr wrap="square" lIns="0" tIns="0" rIns="0" bIns="0" rtlCol="0" anchor="t"/>
          <a:lstStyle/>
          <a:p>
            <a:pPr indent="0" marL="0">
              <a:buNone/>
            </a:pPr>
            <a:r>
              <a:rPr lang="en-US" sz="1300" b="1" dirty="0">
                <a:solidFill>
                  <a:schemeClr val="accent1"/>
                </a:solidFill>
              </a:rPr>
              <a:t>Let every read find its best place.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89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Filter the calls, then check them with Ts/Tv</a:t>
            </a:r>
            <a:endParaRPr lang="en-US" sz="2800" dirty="0"/>
          </a:p>
        </p:txBody>
      </p:sp>
      <p:sp>
        <p:nvSpPr>
          <p:cNvPr id="4" name="filter-card"/>
          <p:cNvSpPr/>
          <p:nvPr/>
        </p:nvSpPr>
        <p:spPr>
          <a:xfrm>
            <a:off x="457200" y="1097280"/>
            <a:ext cx="3931920" cy="3383280"/>
          </a:xfrm>
          <a:prstGeom prst="roundRect">
            <a:avLst>
              <a:gd name="adj" fmla="val 2162"/>
            </a:avLst>
          </a:prstGeom>
          <a:solidFill>
            <a:schemeClr val="bg2"/>
          </a:solidFill>
          <a:ln/>
        </p:spPr>
      </p:sp>
      <p:sp>
        <p:nvSpPr>
          <p:cNvPr id="5" name="Text 2"/>
          <p:cNvSpPr txBox="1"/>
          <p:nvPr/>
        </p:nvSpPr>
        <p:spPr>
          <a:xfrm>
            <a:off x="685800" y="1261872"/>
            <a:ext cx="3566160" cy="320040"/>
          </a:xfrm>
          <a:prstGeom prst="rect">
            <a:avLst/>
          </a:prstGeom>
          <a:noFill/>
          <a:ln/>
        </p:spPr>
        <p:txBody>
          <a:bodyPr wrap="square" lIns="0" tIns="0" rIns="0" bIns="0" rtlCol="0" anchor="t"/>
          <a:lstStyle/>
          <a:p>
            <a:pPr indent="0" marL="0">
              <a:buNone/>
            </a:pPr>
            <a:r>
              <a:rPr lang="en-US" sz="1600" b="1" dirty="0">
                <a:solidFill>
                  <a:schemeClr val="tx2"/>
                </a:solidFill>
              </a:rPr>
              <a:t>Two simple filters</a:t>
            </a:r>
            <a:endParaRPr lang="en-US" sz="1600" dirty="0"/>
          </a:p>
        </p:txBody>
      </p:sp>
      <p:sp>
        <p:nvSpPr>
          <p:cNvPr id="6" name="filter-0"/>
          <p:cNvSpPr/>
          <p:nvPr/>
        </p:nvSpPr>
        <p:spPr>
          <a:xfrm>
            <a:off x="685800" y="1737360"/>
            <a:ext cx="347472" cy="347472"/>
          </a:xfrm>
          <a:prstGeom prst="ellipse">
            <a:avLst/>
          </a:prstGeom>
          <a:solidFill>
            <a:schemeClr val="accent4"/>
          </a:solidFill>
          <a:ln/>
        </p:spPr>
      </p:sp>
      <p:sp>
        <p:nvSpPr>
          <p:cNvPr id="7" name="filter-0-label"/>
          <p:cNvSpPr txBox="1"/>
          <p:nvPr/>
        </p:nvSpPr>
        <p:spPr>
          <a:xfrm>
            <a:off x="685800" y="17373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1188720" y="1709928"/>
            <a:ext cx="3017520" cy="274320"/>
          </a:xfrm>
          <a:prstGeom prst="rect">
            <a:avLst/>
          </a:prstGeom>
          <a:noFill/>
          <a:ln/>
        </p:spPr>
        <p:txBody>
          <a:bodyPr wrap="square" lIns="0" tIns="0" rIns="0" bIns="0" rtlCol="0" anchor="t"/>
          <a:lstStyle/>
          <a:p>
            <a:pPr indent="0" marL="0">
              <a:buNone/>
            </a:pPr>
            <a:r>
              <a:rPr lang="en-US" sz="1400" b="1" dirty="0">
                <a:solidFill>
                  <a:schemeClr val="tx1"/>
                </a:solidFill>
              </a:rPr>
              <a:t>QUAL ≥ 30</a:t>
            </a:r>
            <a:endParaRPr lang="en-US" sz="1400" dirty="0"/>
          </a:p>
        </p:txBody>
      </p:sp>
      <p:sp>
        <p:nvSpPr>
          <p:cNvPr id="9" name="Text 6"/>
          <p:cNvSpPr txBox="1"/>
          <p:nvPr/>
        </p:nvSpPr>
        <p:spPr>
          <a:xfrm>
            <a:off x="1188720" y="1984248"/>
            <a:ext cx="3017520" cy="502920"/>
          </a:xfrm>
          <a:prstGeom prst="rect">
            <a:avLst/>
          </a:prstGeom>
          <a:noFill/>
          <a:ln/>
        </p:spPr>
        <p:txBody>
          <a:bodyPr wrap="square" lIns="0" tIns="0" rIns="0" bIns="0" rtlCol="0" anchor="t"/>
          <a:lstStyle/>
          <a:p>
            <a:pPr indent="0" marL="0">
              <a:buNone/>
            </a:pPr>
            <a:r>
              <a:rPr lang="en-US" sz="1300" dirty="0">
                <a:solidFill>
                  <a:srgbClr val="5E6B75"/>
                </a:solidFill>
              </a:rPr>
              <a:t>the caller is at least 99.9 % sure the site is variant</a:t>
            </a:r>
            <a:endParaRPr lang="en-US" sz="1300" dirty="0"/>
          </a:p>
        </p:txBody>
      </p:sp>
      <p:sp>
        <p:nvSpPr>
          <p:cNvPr id="10" name="filter-1"/>
          <p:cNvSpPr/>
          <p:nvPr/>
        </p:nvSpPr>
        <p:spPr>
          <a:xfrm>
            <a:off x="685800" y="2606040"/>
            <a:ext cx="347472" cy="347472"/>
          </a:xfrm>
          <a:prstGeom prst="ellipse">
            <a:avLst/>
          </a:prstGeom>
          <a:solidFill>
            <a:schemeClr val="accent4"/>
          </a:solidFill>
          <a:ln/>
        </p:spPr>
      </p:sp>
      <p:sp>
        <p:nvSpPr>
          <p:cNvPr id="11" name="filter-1-label"/>
          <p:cNvSpPr txBox="1"/>
          <p:nvPr/>
        </p:nvSpPr>
        <p:spPr>
          <a:xfrm>
            <a:off x="685800" y="260604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1188720" y="2578608"/>
            <a:ext cx="3017520" cy="274320"/>
          </a:xfrm>
          <a:prstGeom prst="rect">
            <a:avLst/>
          </a:prstGeom>
          <a:noFill/>
          <a:ln/>
        </p:spPr>
        <p:txBody>
          <a:bodyPr wrap="square" lIns="0" tIns="0" rIns="0" bIns="0" rtlCol="0" anchor="t"/>
          <a:lstStyle/>
          <a:p>
            <a:pPr indent="0" marL="0">
              <a:buNone/>
            </a:pPr>
            <a:r>
              <a:rPr lang="en-US" sz="1400" b="1" dirty="0">
                <a:solidFill>
                  <a:schemeClr val="tx1"/>
                </a:solidFill>
              </a:rPr>
              <a:t>Depth not too low</a:t>
            </a:r>
            <a:endParaRPr lang="en-US" sz="1400" dirty="0"/>
          </a:p>
        </p:txBody>
      </p:sp>
      <p:sp>
        <p:nvSpPr>
          <p:cNvPr id="13" name="Text 10"/>
          <p:cNvSpPr txBox="1"/>
          <p:nvPr/>
        </p:nvSpPr>
        <p:spPr>
          <a:xfrm>
            <a:off x="1188720" y="2852928"/>
            <a:ext cx="3017520" cy="502920"/>
          </a:xfrm>
          <a:prstGeom prst="rect">
            <a:avLst/>
          </a:prstGeom>
          <a:noFill/>
          <a:ln/>
        </p:spPr>
        <p:txBody>
          <a:bodyPr wrap="square" lIns="0" tIns="0" rIns="0" bIns="0" rtlCol="0" anchor="t"/>
          <a:lstStyle/>
          <a:p>
            <a:pPr indent="0" marL="0">
              <a:buNone/>
            </a:pPr>
            <a:r>
              <a:rPr lang="en-US" sz="1300" dirty="0">
                <a:solidFill>
                  <a:srgbClr val="5E6B75"/>
                </a:solidFill>
              </a:rPr>
              <a:t>a handful of reads is weak evidence</a:t>
            </a:r>
            <a:endParaRPr lang="en-US" sz="1300" dirty="0"/>
          </a:p>
        </p:txBody>
      </p:sp>
      <p:sp>
        <p:nvSpPr>
          <p:cNvPr id="14" name="filter-2"/>
          <p:cNvSpPr/>
          <p:nvPr/>
        </p:nvSpPr>
        <p:spPr>
          <a:xfrm>
            <a:off x="685800" y="3474720"/>
            <a:ext cx="347472" cy="347472"/>
          </a:xfrm>
          <a:prstGeom prst="ellipse">
            <a:avLst/>
          </a:prstGeom>
          <a:solidFill>
            <a:schemeClr val="accent4"/>
          </a:solidFill>
          <a:ln/>
        </p:spPr>
      </p:sp>
      <p:sp>
        <p:nvSpPr>
          <p:cNvPr id="15" name="filter-2-label"/>
          <p:cNvSpPr txBox="1"/>
          <p:nvPr/>
        </p:nvSpPr>
        <p:spPr>
          <a:xfrm>
            <a:off x="685800" y="34747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3"/>
          <p:cNvSpPr txBox="1"/>
          <p:nvPr/>
        </p:nvSpPr>
        <p:spPr>
          <a:xfrm>
            <a:off x="1188720" y="3447288"/>
            <a:ext cx="3017520" cy="274320"/>
          </a:xfrm>
          <a:prstGeom prst="rect">
            <a:avLst/>
          </a:prstGeom>
          <a:noFill/>
          <a:ln/>
        </p:spPr>
        <p:txBody>
          <a:bodyPr wrap="square" lIns="0" tIns="0" rIns="0" bIns="0" rtlCol="0" anchor="t"/>
          <a:lstStyle/>
          <a:p>
            <a:pPr indent="0" marL="0">
              <a:buNone/>
            </a:pPr>
            <a:r>
              <a:rPr lang="en-US" sz="1400" b="1" dirty="0">
                <a:solidFill>
                  <a:schemeClr val="tx1"/>
                </a:solidFill>
              </a:rPr>
              <a:t>Depth not too high</a:t>
            </a:r>
            <a:endParaRPr lang="en-US" sz="1400" dirty="0"/>
          </a:p>
        </p:txBody>
      </p:sp>
      <p:sp>
        <p:nvSpPr>
          <p:cNvPr id="17" name="Text 14"/>
          <p:cNvSpPr txBox="1"/>
          <p:nvPr/>
        </p:nvSpPr>
        <p:spPr>
          <a:xfrm>
            <a:off x="1188720" y="3721608"/>
            <a:ext cx="3017520" cy="502920"/>
          </a:xfrm>
          <a:prstGeom prst="rect">
            <a:avLst/>
          </a:prstGeom>
          <a:noFill/>
          <a:ln/>
        </p:spPr>
        <p:txBody>
          <a:bodyPr wrap="square" lIns="0" tIns="0" rIns="0" bIns="0" rtlCol="0" anchor="t"/>
          <a:lstStyle/>
          <a:p>
            <a:pPr indent="0" marL="0">
              <a:buNone/>
            </a:pPr>
            <a:r>
              <a:rPr lang="en-US" sz="1300" dirty="0">
                <a:solidFill>
                  <a:srgbClr val="5E6B75"/>
                </a:solidFill>
              </a:rPr>
              <a:t>far above average usually means a collapsed repeat</a:t>
            </a:r>
            <a:endParaRPr lang="en-US" sz="1300" dirty="0"/>
          </a:p>
        </p:txBody>
      </p:sp>
      <p:sp>
        <p:nvSpPr>
          <p:cNvPr id="18" name="tv-AC"/>
          <p:cNvSpPr/>
          <p:nvPr/>
        </p:nvSpPr>
        <p:spPr>
          <a:xfrm>
            <a:off x="5404104" y="1655064"/>
            <a:ext cx="914" cy="1371600"/>
          </a:xfrm>
          <a:prstGeom prst="line">
            <a:avLst/>
          </a:prstGeom>
          <a:noFill/>
          <a:ln w="19050">
            <a:solidFill>
              <a:srgbClr val="B9C7CD"/>
            </a:solidFill>
            <a:prstDash val="dash"/>
          </a:ln>
        </p:spPr>
      </p:sp>
      <p:sp>
        <p:nvSpPr>
          <p:cNvPr id="19" name="tv-GT"/>
          <p:cNvSpPr/>
          <p:nvPr/>
        </p:nvSpPr>
        <p:spPr>
          <a:xfrm>
            <a:off x="7232904" y="1655064"/>
            <a:ext cx="914" cy="1371600"/>
          </a:xfrm>
          <a:prstGeom prst="line">
            <a:avLst/>
          </a:prstGeom>
          <a:noFill/>
          <a:ln w="19050">
            <a:solidFill>
              <a:srgbClr val="B9C7CD"/>
            </a:solidFill>
            <a:prstDash val="dash"/>
          </a:ln>
        </p:spPr>
      </p:sp>
      <p:sp>
        <p:nvSpPr>
          <p:cNvPr id="20" name="tv-AT"/>
          <p:cNvSpPr/>
          <p:nvPr/>
        </p:nvSpPr>
        <p:spPr>
          <a:xfrm>
            <a:off x="5404104" y="1655064"/>
            <a:ext cx="1828800" cy="1371600"/>
          </a:xfrm>
          <a:prstGeom prst="line">
            <a:avLst/>
          </a:prstGeom>
          <a:noFill/>
          <a:ln w="19050">
            <a:solidFill>
              <a:srgbClr val="B9C7CD"/>
            </a:solidFill>
            <a:prstDash val="dash"/>
          </a:ln>
        </p:spPr>
      </p:sp>
      <p:sp>
        <p:nvSpPr>
          <p:cNvPr id="21" name="tv-GC"/>
          <p:cNvSpPr/>
          <p:nvPr/>
        </p:nvSpPr>
        <p:spPr>
          <a:xfrm flipV="1">
            <a:off x="5404104" y="1655064"/>
            <a:ext cx="1828800" cy="1371600"/>
          </a:xfrm>
          <a:prstGeom prst="line">
            <a:avLst/>
          </a:prstGeom>
          <a:noFill/>
          <a:ln w="19050">
            <a:solidFill>
              <a:srgbClr val="B9C7CD"/>
            </a:solidFill>
            <a:prstDash val="dash"/>
          </a:ln>
        </p:spPr>
      </p:sp>
      <p:sp>
        <p:nvSpPr>
          <p:cNvPr id="22" name="ts-AG"/>
          <p:cNvSpPr/>
          <p:nvPr/>
        </p:nvSpPr>
        <p:spPr>
          <a:xfrm>
            <a:off x="5404104" y="1655064"/>
            <a:ext cx="1828800" cy="914"/>
          </a:xfrm>
          <a:prstGeom prst="line">
            <a:avLst/>
          </a:prstGeom>
          <a:noFill/>
          <a:ln w="50800">
            <a:solidFill>
              <a:srgbClr val="0F7C8C"/>
            </a:solidFill>
            <a:prstDash val="solid"/>
          </a:ln>
        </p:spPr>
      </p:sp>
      <p:sp>
        <p:nvSpPr>
          <p:cNvPr id="23" name="ts-CT"/>
          <p:cNvSpPr/>
          <p:nvPr/>
        </p:nvSpPr>
        <p:spPr>
          <a:xfrm>
            <a:off x="5404104" y="3026664"/>
            <a:ext cx="1828800" cy="914"/>
          </a:xfrm>
          <a:prstGeom prst="line">
            <a:avLst/>
          </a:prstGeom>
          <a:noFill/>
          <a:ln w="50800">
            <a:solidFill>
              <a:srgbClr val="0F7C8C"/>
            </a:solidFill>
            <a:prstDash val="solid"/>
          </a:ln>
        </p:spPr>
      </p:sp>
      <p:sp>
        <p:nvSpPr>
          <p:cNvPr id="24" name="nt-A"/>
          <p:cNvSpPr/>
          <p:nvPr/>
        </p:nvSpPr>
        <p:spPr>
          <a:xfrm>
            <a:off x="5120640" y="1371600"/>
            <a:ext cx="566928" cy="566928"/>
          </a:xfrm>
          <a:prstGeom prst="ellipse">
            <a:avLst/>
          </a:prstGeom>
          <a:solidFill>
            <a:srgbClr val="0E3B47"/>
          </a:solidFill>
          <a:ln/>
        </p:spPr>
      </p:sp>
      <p:sp>
        <p:nvSpPr>
          <p:cNvPr id="25" name="Text 22"/>
          <p:cNvSpPr txBox="1"/>
          <p:nvPr/>
        </p:nvSpPr>
        <p:spPr>
          <a:xfrm>
            <a:off x="5120640" y="13716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26" name="nt-G"/>
          <p:cNvSpPr/>
          <p:nvPr/>
        </p:nvSpPr>
        <p:spPr>
          <a:xfrm>
            <a:off x="6949440" y="1371600"/>
            <a:ext cx="566928" cy="566928"/>
          </a:xfrm>
          <a:prstGeom prst="ellipse">
            <a:avLst/>
          </a:prstGeom>
          <a:solidFill>
            <a:srgbClr val="0E3B47"/>
          </a:solidFill>
          <a:ln/>
        </p:spPr>
      </p:sp>
      <p:sp>
        <p:nvSpPr>
          <p:cNvPr id="27" name="Text 24"/>
          <p:cNvSpPr txBox="1"/>
          <p:nvPr/>
        </p:nvSpPr>
        <p:spPr>
          <a:xfrm>
            <a:off x="6949440" y="13716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G</a:t>
            </a:r>
            <a:endParaRPr lang="en-US" sz="2000" dirty="0"/>
          </a:p>
        </p:txBody>
      </p:sp>
      <p:sp>
        <p:nvSpPr>
          <p:cNvPr id="28" name="nt-C"/>
          <p:cNvSpPr/>
          <p:nvPr/>
        </p:nvSpPr>
        <p:spPr>
          <a:xfrm>
            <a:off x="5120640" y="2743200"/>
            <a:ext cx="566928" cy="566928"/>
          </a:xfrm>
          <a:prstGeom prst="ellipse">
            <a:avLst/>
          </a:prstGeom>
          <a:solidFill>
            <a:srgbClr val="0E3B47"/>
          </a:solidFill>
          <a:ln/>
        </p:spPr>
      </p:sp>
      <p:sp>
        <p:nvSpPr>
          <p:cNvPr id="29" name="Text 26"/>
          <p:cNvSpPr txBox="1"/>
          <p:nvPr/>
        </p:nvSpPr>
        <p:spPr>
          <a:xfrm>
            <a:off x="5120640" y="27432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30" name="nt-T"/>
          <p:cNvSpPr/>
          <p:nvPr/>
        </p:nvSpPr>
        <p:spPr>
          <a:xfrm>
            <a:off x="6949440" y="2743200"/>
            <a:ext cx="566928" cy="566928"/>
          </a:xfrm>
          <a:prstGeom prst="ellipse">
            <a:avLst/>
          </a:prstGeom>
          <a:solidFill>
            <a:srgbClr val="0E3B47"/>
          </a:solidFill>
          <a:ln/>
        </p:spPr>
      </p:sp>
      <p:sp>
        <p:nvSpPr>
          <p:cNvPr id="31" name="Text 28"/>
          <p:cNvSpPr txBox="1"/>
          <p:nvPr/>
        </p:nvSpPr>
        <p:spPr>
          <a:xfrm>
            <a:off x="6949440" y="27432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T</a:t>
            </a:r>
            <a:endParaRPr lang="en-US" sz="2000" dirty="0"/>
          </a:p>
        </p:txBody>
      </p:sp>
      <p:sp>
        <p:nvSpPr>
          <p:cNvPr id="32" name="Text 29"/>
          <p:cNvSpPr txBox="1"/>
          <p:nvPr/>
        </p:nvSpPr>
        <p:spPr>
          <a:xfrm>
            <a:off x="7635240" y="1508760"/>
            <a:ext cx="1097280" cy="274320"/>
          </a:xfrm>
          <a:prstGeom prst="rect">
            <a:avLst/>
          </a:prstGeom>
          <a:noFill/>
          <a:ln/>
        </p:spPr>
        <p:txBody>
          <a:bodyPr wrap="square" lIns="0" tIns="0" rIns="0" bIns="0" rtlCol="0" anchor="t"/>
          <a:lstStyle/>
          <a:p>
            <a:pPr indent="0" marL="0">
              <a:buNone/>
            </a:pPr>
            <a:r>
              <a:rPr lang="en-US" sz="1100" dirty="0">
                <a:solidFill>
                  <a:srgbClr val="5E6B75"/>
                </a:solidFill>
              </a:rPr>
              <a:t>purines</a:t>
            </a:r>
            <a:endParaRPr lang="en-US" sz="1100" dirty="0"/>
          </a:p>
        </p:txBody>
      </p:sp>
      <p:sp>
        <p:nvSpPr>
          <p:cNvPr id="33" name="Text 30"/>
          <p:cNvSpPr txBox="1"/>
          <p:nvPr/>
        </p:nvSpPr>
        <p:spPr>
          <a:xfrm>
            <a:off x="7635240" y="2880360"/>
            <a:ext cx="1097280" cy="274320"/>
          </a:xfrm>
          <a:prstGeom prst="rect">
            <a:avLst/>
          </a:prstGeom>
          <a:noFill/>
          <a:ln/>
        </p:spPr>
        <p:txBody>
          <a:bodyPr wrap="square" lIns="0" tIns="0" rIns="0" bIns="0" rtlCol="0" anchor="t"/>
          <a:lstStyle/>
          <a:p>
            <a:pPr indent="0" marL="0">
              <a:buNone/>
            </a:pPr>
            <a:r>
              <a:rPr lang="en-US" sz="1100" dirty="0">
                <a:solidFill>
                  <a:srgbClr val="5E6B75"/>
                </a:solidFill>
              </a:rPr>
              <a:t>pyrimidines</a:t>
            </a:r>
            <a:endParaRPr lang="en-US" sz="1100" dirty="0"/>
          </a:p>
        </p:txBody>
      </p:sp>
      <p:sp>
        <p:nvSpPr>
          <p:cNvPr id="34" name="Text 31"/>
          <p:cNvSpPr txBox="1"/>
          <p:nvPr/>
        </p:nvSpPr>
        <p:spPr>
          <a:xfrm>
            <a:off x="4937760" y="3474720"/>
            <a:ext cx="3749040" cy="1097280"/>
          </a:xfrm>
          <a:prstGeom prst="rect">
            <a:avLst/>
          </a:prstGeom>
          <a:noFill/>
          <a:ln/>
        </p:spPr>
        <p:txBody>
          <a:bodyPr wrap="square" lIns="0" tIns="0" rIns="0" bIns="0" rtlCol="0" anchor="t"/>
          <a:lstStyle/>
          <a:p>
            <a:pPr indent="0" marL="0">
              <a:buNone/>
            </a:pPr>
            <a:r>
              <a:rPr lang="en-US" sz="1400" b="1" dirty="0">
                <a:solidFill>
                  <a:schemeClr val="accent1"/>
                </a:solidFill>
              </a:rPr>
              <a:t>Transitions (thick): A↔G, C↔T</a:t>
            </a:r>
            <a:endParaRPr lang="en-US" sz="1400" dirty="0"/>
          </a:p>
          <a:p>
            <a:pPr indent="0" marL="0">
              <a:buNone/>
            </a:pPr>
            <a:r>
              <a:rPr lang="en-US" sz="1400" dirty="0">
                <a:solidFill>
                  <a:srgbClr val="5E6B75"/>
                </a:solidFill>
              </a:rPr>
              <a:t>Transversions (dashed): all other changes</a:t>
            </a:r>
            <a:endParaRPr lang="en-US" sz="1400" dirty="0"/>
          </a:p>
          <a:p>
            <a:pPr indent="0" marL="0">
              <a:buNone/>
            </a:pPr>
            <a:r>
              <a:rPr lang="en-US" sz="1400" dirty="0">
                <a:solidFill>
                  <a:schemeClr val="tx1"/>
                </a:solidFill>
              </a:rPr>
              <a:t>Ts/Tv of real human SNPs ≈ 2.0–2.1</a:t>
            </a:r>
            <a:endParaRPr lang="en-US" sz="1400" dirty="0"/>
          </a:p>
          <a:p>
            <a:pPr indent="0" marL="0">
              <a:buNone/>
            </a:pPr>
            <a:r>
              <a:rPr lang="en-US" sz="1400" dirty="0">
                <a:solidFill>
                  <a:srgbClr val="5E6B75"/>
                </a:solidFill>
              </a:rPr>
              <a:t>random errors ≈ 0.5</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89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indent="0" marL="0">
              <a:buNone/>
            </a:pPr>
            <a:r>
              <a:rPr lang="en-US" sz="2800" b="1" dirty="0">
                <a:solidFill>
                  <a:schemeClr val="tx2"/>
                </a:solidFill>
              </a:rPr>
              <a:t>Look at the reads: real variant or artefact?</a:t>
            </a:r>
            <a:endParaRPr lang="en-US" sz="2800" dirty="0"/>
          </a:p>
        </p:txBody>
      </p:sp>
      <p:sp>
        <p:nvSpPr>
          <p:cNvPr id="4" name="browser-card-0"/>
          <p:cNvSpPr/>
          <p:nvPr/>
        </p:nvSpPr>
        <p:spPr>
          <a:xfrm>
            <a:off x="457200" y="1097280"/>
            <a:ext cx="2606040" cy="2834640"/>
          </a:xfrm>
          <a:prstGeom prst="roundRect">
            <a:avLst>
              <a:gd name="adj" fmla="val 2807"/>
            </a:avLst>
          </a:prstGeom>
          <a:solidFill>
            <a:schemeClr val="bg2"/>
          </a:solidFill>
          <a:ln/>
        </p:spPr>
      </p:sp>
      <p:sp>
        <p:nvSpPr>
          <p:cNvPr id="5" name="br-0-0"/>
          <p:cNvSpPr/>
          <p:nvPr/>
        </p:nvSpPr>
        <p:spPr>
          <a:xfrm>
            <a:off x="685800" y="1371600"/>
            <a:ext cx="1737360" cy="109728"/>
          </a:xfrm>
          <a:prstGeom prst="roundRect">
            <a:avLst>
              <a:gd name="adj" fmla="val 50000"/>
            </a:avLst>
          </a:prstGeom>
          <a:solidFill>
            <a:srgbClr val="0F7C8C"/>
          </a:solidFill>
          <a:ln/>
        </p:spPr>
      </p:sp>
      <p:sp>
        <p:nvSpPr>
          <p:cNvPr id="6" name="br-alt-0-0"/>
          <p:cNvSpPr/>
          <p:nvPr/>
        </p:nvSpPr>
        <p:spPr>
          <a:xfrm>
            <a:off x="1828800" y="1371600"/>
            <a:ext cx="91440" cy="109728"/>
          </a:xfrm>
          <a:prstGeom prst="rect">
            <a:avLst/>
          </a:prstGeom>
          <a:solidFill>
            <a:srgbClr val="E4572E"/>
          </a:solidFill>
          <a:ln/>
        </p:spPr>
      </p:sp>
      <p:sp>
        <p:nvSpPr>
          <p:cNvPr id="7" name="br-0-1"/>
          <p:cNvSpPr/>
          <p:nvPr/>
        </p:nvSpPr>
        <p:spPr>
          <a:xfrm>
            <a:off x="804672" y="1554480"/>
            <a:ext cx="1737360" cy="109728"/>
          </a:xfrm>
          <a:prstGeom prst="roundRect">
            <a:avLst>
              <a:gd name="adj" fmla="val 50000"/>
            </a:avLst>
          </a:prstGeom>
          <a:solidFill>
            <a:srgbClr val="3D5A80"/>
          </a:solidFill>
          <a:ln/>
        </p:spPr>
      </p:sp>
      <p:sp>
        <p:nvSpPr>
          <p:cNvPr id="8" name="br-alt-0-1"/>
          <p:cNvSpPr/>
          <p:nvPr/>
        </p:nvSpPr>
        <p:spPr>
          <a:xfrm>
            <a:off x="1828800" y="1554480"/>
            <a:ext cx="91440" cy="109728"/>
          </a:xfrm>
          <a:prstGeom prst="rect">
            <a:avLst/>
          </a:prstGeom>
          <a:solidFill>
            <a:srgbClr val="E4572E"/>
          </a:solidFill>
          <a:ln/>
        </p:spPr>
      </p:sp>
      <p:sp>
        <p:nvSpPr>
          <p:cNvPr id="9" name="br-0-2"/>
          <p:cNvSpPr/>
          <p:nvPr/>
        </p:nvSpPr>
        <p:spPr>
          <a:xfrm>
            <a:off x="923544" y="1737360"/>
            <a:ext cx="1737360" cy="109728"/>
          </a:xfrm>
          <a:prstGeom prst="roundRect">
            <a:avLst>
              <a:gd name="adj" fmla="val 50000"/>
            </a:avLst>
          </a:prstGeom>
          <a:solidFill>
            <a:srgbClr val="0F7C8C"/>
          </a:solidFill>
          <a:ln/>
        </p:spPr>
      </p:sp>
      <p:sp>
        <p:nvSpPr>
          <p:cNvPr id="10" name="br-0-3"/>
          <p:cNvSpPr/>
          <p:nvPr/>
        </p:nvSpPr>
        <p:spPr>
          <a:xfrm>
            <a:off x="1042416" y="1920240"/>
            <a:ext cx="1737360" cy="109728"/>
          </a:xfrm>
          <a:prstGeom prst="roundRect">
            <a:avLst>
              <a:gd name="adj" fmla="val 50000"/>
            </a:avLst>
          </a:prstGeom>
          <a:solidFill>
            <a:srgbClr val="3D5A80"/>
          </a:solidFill>
          <a:ln/>
        </p:spPr>
      </p:sp>
      <p:sp>
        <p:nvSpPr>
          <p:cNvPr id="11" name="br-0-4"/>
          <p:cNvSpPr/>
          <p:nvPr/>
        </p:nvSpPr>
        <p:spPr>
          <a:xfrm>
            <a:off x="704088" y="2103120"/>
            <a:ext cx="1737360" cy="109728"/>
          </a:xfrm>
          <a:prstGeom prst="roundRect">
            <a:avLst>
              <a:gd name="adj" fmla="val 50000"/>
            </a:avLst>
          </a:prstGeom>
          <a:solidFill>
            <a:srgbClr val="0F7C8C"/>
          </a:solidFill>
          <a:ln/>
        </p:spPr>
      </p:sp>
      <p:sp>
        <p:nvSpPr>
          <p:cNvPr id="12" name="br-alt-0-4"/>
          <p:cNvSpPr/>
          <p:nvPr/>
        </p:nvSpPr>
        <p:spPr>
          <a:xfrm>
            <a:off x="1828800" y="2103120"/>
            <a:ext cx="91440" cy="109728"/>
          </a:xfrm>
          <a:prstGeom prst="rect">
            <a:avLst/>
          </a:prstGeom>
          <a:solidFill>
            <a:srgbClr val="E4572E"/>
          </a:solidFill>
          <a:ln/>
        </p:spPr>
      </p:sp>
      <p:sp>
        <p:nvSpPr>
          <p:cNvPr id="13" name="br-0-5"/>
          <p:cNvSpPr/>
          <p:nvPr/>
        </p:nvSpPr>
        <p:spPr>
          <a:xfrm>
            <a:off x="822960" y="2286000"/>
            <a:ext cx="1737360" cy="109728"/>
          </a:xfrm>
          <a:prstGeom prst="roundRect">
            <a:avLst>
              <a:gd name="adj" fmla="val 50000"/>
            </a:avLst>
          </a:prstGeom>
          <a:solidFill>
            <a:srgbClr val="3D5A80"/>
          </a:solidFill>
          <a:ln/>
        </p:spPr>
      </p:sp>
      <p:sp>
        <p:nvSpPr>
          <p:cNvPr id="14" name="br-alt-0-5"/>
          <p:cNvSpPr/>
          <p:nvPr/>
        </p:nvSpPr>
        <p:spPr>
          <a:xfrm>
            <a:off x="1828800" y="2286000"/>
            <a:ext cx="91440" cy="109728"/>
          </a:xfrm>
          <a:prstGeom prst="rect">
            <a:avLst/>
          </a:prstGeom>
          <a:solidFill>
            <a:srgbClr val="E4572E"/>
          </a:solidFill>
          <a:ln/>
        </p:spPr>
      </p:sp>
      <p:sp>
        <p:nvSpPr>
          <p:cNvPr id="15" name="br-0-6"/>
          <p:cNvSpPr/>
          <p:nvPr/>
        </p:nvSpPr>
        <p:spPr>
          <a:xfrm>
            <a:off x="941832" y="2468880"/>
            <a:ext cx="1737360" cy="109728"/>
          </a:xfrm>
          <a:prstGeom prst="roundRect">
            <a:avLst>
              <a:gd name="adj" fmla="val 50000"/>
            </a:avLst>
          </a:prstGeom>
          <a:solidFill>
            <a:srgbClr val="0F7C8C"/>
          </a:solidFill>
          <a:ln/>
        </p:spPr>
      </p:sp>
      <p:sp>
        <p:nvSpPr>
          <p:cNvPr id="16" name="br-0-7"/>
          <p:cNvSpPr/>
          <p:nvPr/>
        </p:nvSpPr>
        <p:spPr>
          <a:xfrm>
            <a:off x="1060704" y="2651760"/>
            <a:ext cx="1737360" cy="109728"/>
          </a:xfrm>
          <a:prstGeom prst="roundRect">
            <a:avLst>
              <a:gd name="adj" fmla="val 50000"/>
            </a:avLst>
          </a:prstGeom>
          <a:solidFill>
            <a:srgbClr val="3D5A80"/>
          </a:solidFill>
          <a:ln/>
        </p:spPr>
      </p:sp>
      <p:sp>
        <p:nvSpPr>
          <p:cNvPr id="17" name="Text 14"/>
          <p:cNvSpPr txBox="1"/>
          <p:nvPr/>
        </p:nvSpPr>
        <p:spPr>
          <a:xfrm>
            <a:off x="685800" y="2971800"/>
            <a:ext cx="2148840" cy="365760"/>
          </a:xfrm>
          <a:prstGeom prst="rect">
            <a:avLst/>
          </a:prstGeom>
          <a:noFill/>
          <a:ln/>
        </p:spPr>
        <p:txBody>
          <a:bodyPr wrap="square" lIns="0" tIns="0" rIns="0" bIns="0" rtlCol="0" anchor="t"/>
          <a:lstStyle/>
          <a:p>
            <a:pPr indent="0" marL="0">
              <a:buNone/>
            </a:pPr>
            <a:r>
              <a:rPr lang="en-US" sz="1600" b="1" dirty="0">
                <a:solidFill>
                  <a:schemeClr val="tx2"/>
                </a:solidFill>
              </a:rPr>
              <a:t>Real heterozygote</a:t>
            </a:r>
            <a:endParaRPr lang="en-US" sz="1600" dirty="0"/>
          </a:p>
        </p:txBody>
      </p:sp>
      <p:sp>
        <p:nvSpPr>
          <p:cNvPr id="18" name="Text 15"/>
          <p:cNvSpPr txBox="1"/>
          <p:nvPr/>
        </p:nvSpPr>
        <p:spPr>
          <a:xfrm>
            <a:off x="685800" y="3383280"/>
            <a:ext cx="2148840" cy="548640"/>
          </a:xfrm>
          <a:prstGeom prst="rect">
            <a:avLst/>
          </a:prstGeom>
          <a:noFill/>
          <a:ln/>
        </p:spPr>
        <p:txBody>
          <a:bodyPr wrap="square" lIns="0" tIns="0" rIns="0" bIns="0" rtlCol="0" anchor="t"/>
          <a:lstStyle/>
          <a:p>
            <a:pPr indent="0" marL="0">
              <a:buNone/>
            </a:pPr>
            <a:r>
              <a:rPr lang="en-US" sz="1300" dirty="0">
                <a:solidFill>
                  <a:srgbClr val="5E6B75"/>
                </a:solidFill>
              </a:rPr>
              <a:t>about half the reads, both strands</a:t>
            </a:r>
            <a:endParaRPr lang="en-US" sz="1300" dirty="0"/>
          </a:p>
        </p:txBody>
      </p:sp>
      <p:sp>
        <p:nvSpPr>
          <p:cNvPr id="19" name="browser-card-1"/>
          <p:cNvSpPr/>
          <p:nvPr/>
        </p:nvSpPr>
        <p:spPr>
          <a:xfrm>
            <a:off x="3264408" y="1097280"/>
            <a:ext cx="2606040" cy="2834640"/>
          </a:xfrm>
          <a:prstGeom prst="roundRect">
            <a:avLst>
              <a:gd name="adj" fmla="val 2807"/>
            </a:avLst>
          </a:prstGeom>
          <a:solidFill>
            <a:schemeClr val="bg2"/>
          </a:solidFill>
          <a:ln/>
        </p:spPr>
      </p:sp>
      <p:sp>
        <p:nvSpPr>
          <p:cNvPr id="20" name="br-1-0"/>
          <p:cNvSpPr/>
          <p:nvPr/>
        </p:nvSpPr>
        <p:spPr>
          <a:xfrm>
            <a:off x="3493008" y="1371600"/>
            <a:ext cx="1737360" cy="109728"/>
          </a:xfrm>
          <a:prstGeom prst="roundRect">
            <a:avLst>
              <a:gd name="adj" fmla="val 50000"/>
            </a:avLst>
          </a:prstGeom>
          <a:solidFill>
            <a:srgbClr val="0F7C8C"/>
          </a:solidFill>
          <a:ln/>
        </p:spPr>
      </p:sp>
      <p:sp>
        <p:nvSpPr>
          <p:cNvPr id="21" name="br-1-1"/>
          <p:cNvSpPr/>
          <p:nvPr/>
        </p:nvSpPr>
        <p:spPr>
          <a:xfrm>
            <a:off x="3611880" y="1554480"/>
            <a:ext cx="1737360" cy="109728"/>
          </a:xfrm>
          <a:prstGeom prst="roundRect">
            <a:avLst>
              <a:gd name="adj" fmla="val 50000"/>
            </a:avLst>
          </a:prstGeom>
          <a:solidFill>
            <a:srgbClr val="3D5A80"/>
          </a:solidFill>
          <a:ln/>
        </p:spPr>
      </p:sp>
      <p:sp>
        <p:nvSpPr>
          <p:cNvPr id="22" name="br-1-2"/>
          <p:cNvSpPr/>
          <p:nvPr/>
        </p:nvSpPr>
        <p:spPr>
          <a:xfrm>
            <a:off x="3730752" y="1737360"/>
            <a:ext cx="1737360" cy="109728"/>
          </a:xfrm>
          <a:prstGeom prst="roundRect">
            <a:avLst>
              <a:gd name="adj" fmla="val 50000"/>
            </a:avLst>
          </a:prstGeom>
          <a:solidFill>
            <a:srgbClr val="0F7C8C"/>
          </a:solidFill>
          <a:ln/>
        </p:spPr>
      </p:sp>
      <p:sp>
        <p:nvSpPr>
          <p:cNvPr id="23" name="br-1-3"/>
          <p:cNvSpPr/>
          <p:nvPr/>
        </p:nvSpPr>
        <p:spPr>
          <a:xfrm>
            <a:off x="3849624" y="1920240"/>
            <a:ext cx="1737360" cy="109728"/>
          </a:xfrm>
          <a:prstGeom prst="roundRect">
            <a:avLst>
              <a:gd name="adj" fmla="val 50000"/>
            </a:avLst>
          </a:prstGeom>
          <a:solidFill>
            <a:srgbClr val="3D5A80"/>
          </a:solidFill>
          <a:ln/>
        </p:spPr>
      </p:sp>
      <p:sp>
        <p:nvSpPr>
          <p:cNvPr id="24" name="br-alt-1-3"/>
          <p:cNvSpPr/>
          <p:nvPr/>
        </p:nvSpPr>
        <p:spPr>
          <a:xfrm>
            <a:off x="4636008" y="1920240"/>
            <a:ext cx="91440" cy="109728"/>
          </a:xfrm>
          <a:prstGeom prst="rect">
            <a:avLst/>
          </a:prstGeom>
          <a:solidFill>
            <a:srgbClr val="E4572E"/>
          </a:solidFill>
          <a:ln/>
        </p:spPr>
      </p:sp>
      <p:sp>
        <p:nvSpPr>
          <p:cNvPr id="25" name="br-1-4"/>
          <p:cNvSpPr/>
          <p:nvPr/>
        </p:nvSpPr>
        <p:spPr>
          <a:xfrm>
            <a:off x="3511296" y="2103120"/>
            <a:ext cx="1737360" cy="109728"/>
          </a:xfrm>
          <a:prstGeom prst="roundRect">
            <a:avLst>
              <a:gd name="adj" fmla="val 50000"/>
            </a:avLst>
          </a:prstGeom>
          <a:solidFill>
            <a:srgbClr val="0F7C8C"/>
          </a:solidFill>
          <a:ln/>
        </p:spPr>
      </p:sp>
      <p:sp>
        <p:nvSpPr>
          <p:cNvPr id="26" name="br-1-5"/>
          <p:cNvSpPr/>
          <p:nvPr/>
        </p:nvSpPr>
        <p:spPr>
          <a:xfrm>
            <a:off x="3630168" y="2286000"/>
            <a:ext cx="1737360" cy="109728"/>
          </a:xfrm>
          <a:prstGeom prst="roundRect">
            <a:avLst>
              <a:gd name="adj" fmla="val 50000"/>
            </a:avLst>
          </a:prstGeom>
          <a:solidFill>
            <a:srgbClr val="3D5A80"/>
          </a:solidFill>
          <a:ln/>
        </p:spPr>
      </p:sp>
      <p:sp>
        <p:nvSpPr>
          <p:cNvPr id="27" name="br-1-6"/>
          <p:cNvSpPr/>
          <p:nvPr/>
        </p:nvSpPr>
        <p:spPr>
          <a:xfrm>
            <a:off x="3749040" y="2468880"/>
            <a:ext cx="1737360" cy="109728"/>
          </a:xfrm>
          <a:prstGeom prst="roundRect">
            <a:avLst>
              <a:gd name="adj" fmla="val 50000"/>
            </a:avLst>
          </a:prstGeom>
          <a:solidFill>
            <a:srgbClr val="0F7C8C"/>
          </a:solidFill>
          <a:ln/>
        </p:spPr>
      </p:sp>
      <p:sp>
        <p:nvSpPr>
          <p:cNvPr id="28" name="br-1-7"/>
          <p:cNvSpPr/>
          <p:nvPr/>
        </p:nvSpPr>
        <p:spPr>
          <a:xfrm>
            <a:off x="3867912" y="2651760"/>
            <a:ext cx="1737360" cy="109728"/>
          </a:xfrm>
          <a:prstGeom prst="roundRect">
            <a:avLst>
              <a:gd name="adj" fmla="val 50000"/>
            </a:avLst>
          </a:prstGeom>
          <a:solidFill>
            <a:srgbClr val="3D5A80"/>
          </a:solidFill>
          <a:ln/>
        </p:spPr>
      </p:sp>
      <p:sp>
        <p:nvSpPr>
          <p:cNvPr id="29" name="Text 26"/>
          <p:cNvSpPr txBox="1"/>
          <p:nvPr/>
        </p:nvSpPr>
        <p:spPr>
          <a:xfrm>
            <a:off x="3493008" y="2971800"/>
            <a:ext cx="2148840" cy="365760"/>
          </a:xfrm>
          <a:prstGeom prst="rect">
            <a:avLst/>
          </a:prstGeom>
          <a:noFill/>
          <a:ln/>
        </p:spPr>
        <p:txBody>
          <a:bodyPr wrap="square" lIns="0" tIns="0" rIns="0" bIns="0" rtlCol="0" anchor="t"/>
          <a:lstStyle/>
          <a:p>
            <a:pPr indent="0" marL="0">
              <a:buNone/>
            </a:pPr>
            <a:r>
              <a:rPr lang="en-US" sz="1600" b="1" dirty="0">
                <a:solidFill>
                  <a:schemeClr val="tx2"/>
                </a:solidFill>
              </a:rPr>
              <a:t>Sequencing error</a:t>
            </a:r>
            <a:endParaRPr lang="en-US" sz="1600" dirty="0"/>
          </a:p>
        </p:txBody>
      </p:sp>
      <p:sp>
        <p:nvSpPr>
          <p:cNvPr id="30" name="Text 27"/>
          <p:cNvSpPr txBox="1"/>
          <p:nvPr/>
        </p:nvSpPr>
        <p:spPr>
          <a:xfrm>
            <a:off x="3493008" y="3383280"/>
            <a:ext cx="2148840" cy="548640"/>
          </a:xfrm>
          <a:prstGeom prst="rect">
            <a:avLst/>
          </a:prstGeom>
          <a:noFill/>
          <a:ln/>
        </p:spPr>
        <p:txBody>
          <a:bodyPr wrap="square" lIns="0" tIns="0" rIns="0" bIns="0" rtlCol="0" anchor="t"/>
          <a:lstStyle/>
          <a:p>
            <a:pPr indent="0" marL="0">
              <a:buNone/>
            </a:pPr>
            <a:r>
              <a:rPr lang="en-US" sz="1300" dirty="0">
                <a:solidFill>
                  <a:srgbClr val="5E6B75"/>
                </a:solidFill>
              </a:rPr>
              <a:t>one read, here and there</a:t>
            </a:r>
            <a:endParaRPr lang="en-US" sz="1300" dirty="0"/>
          </a:p>
        </p:txBody>
      </p:sp>
      <p:sp>
        <p:nvSpPr>
          <p:cNvPr id="31" name="browser-card-2"/>
          <p:cNvSpPr/>
          <p:nvPr/>
        </p:nvSpPr>
        <p:spPr>
          <a:xfrm>
            <a:off x="6071616" y="1097280"/>
            <a:ext cx="2606040" cy="2834640"/>
          </a:xfrm>
          <a:prstGeom prst="roundRect">
            <a:avLst>
              <a:gd name="adj" fmla="val 2807"/>
            </a:avLst>
          </a:prstGeom>
          <a:solidFill>
            <a:schemeClr val="bg2"/>
          </a:solidFill>
          <a:ln/>
        </p:spPr>
      </p:sp>
      <p:sp>
        <p:nvSpPr>
          <p:cNvPr id="32" name="br-2-0"/>
          <p:cNvSpPr/>
          <p:nvPr/>
        </p:nvSpPr>
        <p:spPr>
          <a:xfrm>
            <a:off x="6300216" y="1371600"/>
            <a:ext cx="1234440" cy="109728"/>
          </a:xfrm>
          <a:prstGeom prst="roundRect">
            <a:avLst>
              <a:gd name="adj" fmla="val 50000"/>
            </a:avLst>
          </a:prstGeom>
          <a:solidFill>
            <a:srgbClr val="0F7C8C"/>
          </a:solidFill>
          <a:ln/>
        </p:spPr>
      </p:sp>
      <p:sp>
        <p:nvSpPr>
          <p:cNvPr id="33" name="br-alt-2-0"/>
          <p:cNvSpPr/>
          <p:nvPr/>
        </p:nvSpPr>
        <p:spPr>
          <a:xfrm>
            <a:off x="7443216" y="1371600"/>
            <a:ext cx="91440" cy="109728"/>
          </a:xfrm>
          <a:prstGeom prst="rect">
            <a:avLst/>
          </a:prstGeom>
          <a:solidFill>
            <a:srgbClr val="E4572E"/>
          </a:solidFill>
          <a:ln/>
        </p:spPr>
      </p:sp>
      <p:sp>
        <p:nvSpPr>
          <p:cNvPr id="34" name="br-2-1"/>
          <p:cNvSpPr/>
          <p:nvPr/>
        </p:nvSpPr>
        <p:spPr>
          <a:xfrm>
            <a:off x="6419088" y="1554480"/>
            <a:ext cx="1737360" cy="109728"/>
          </a:xfrm>
          <a:prstGeom prst="roundRect">
            <a:avLst>
              <a:gd name="adj" fmla="val 50000"/>
            </a:avLst>
          </a:prstGeom>
          <a:solidFill>
            <a:srgbClr val="3D5A80"/>
          </a:solidFill>
          <a:ln/>
        </p:spPr>
      </p:sp>
      <p:sp>
        <p:nvSpPr>
          <p:cNvPr id="35" name="br-2-2"/>
          <p:cNvSpPr/>
          <p:nvPr/>
        </p:nvSpPr>
        <p:spPr>
          <a:xfrm>
            <a:off x="6300216" y="1737360"/>
            <a:ext cx="1234440" cy="109728"/>
          </a:xfrm>
          <a:prstGeom prst="roundRect">
            <a:avLst>
              <a:gd name="adj" fmla="val 50000"/>
            </a:avLst>
          </a:prstGeom>
          <a:solidFill>
            <a:srgbClr val="0F7C8C"/>
          </a:solidFill>
          <a:ln/>
        </p:spPr>
      </p:sp>
      <p:sp>
        <p:nvSpPr>
          <p:cNvPr id="36" name="br-alt-2-2"/>
          <p:cNvSpPr/>
          <p:nvPr/>
        </p:nvSpPr>
        <p:spPr>
          <a:xfrm>
            <a:off x="7443216" y="1737360"/>
            <a:ext cx="91440" cy="109728"/>
          </a:xfrm>
          <a:prstGeom prst="rect">
            <a:avLst/>
          </a:prstGeom>
          <a:solidFill>
            <a:srgbClr val="E4572E"/>
          </a:solidFill>
          <a:ln/>
        </p:spPr>
      </p:sp>
      <p:sp>
        <p:nvSpPr>
          <p:cNvPr id="37" name="br-2-3"/>
          <p:cNvSpPr/>
          <p:nvPr/>
        </p:nvSpPr>
        <p:spPr>
          <a:xfrm>
            <a:off x="6656832" y="1920240"/>
            <a:ext cx="1737360" cy="109728"/>
          </a:xfrm>
          <a:prstGeom prst="roundRect">
            <a:avLst>
              <a:gd name="adj" fmla="val 50000"/>
            </a:avLst>
          </a:prstGeom>
          <a:solidFill>
            <a:srgbClr val="3D5A80"/>
          </a:solidFill>
          <a:ln/>
        </p:spPr>
      </p:sp>
      <p:sp>
        <p:nvSpPr>
          <p:cNvPr id="38" name="br-2-4"/>
          <p:cNvSpPr/>
          <p:nvPr/>
        </p:nvSpPr>
        <p:spPr>
          <a:xfrm>
            <a:off x="6300216" y="2103120"/>
            <a:ext cx="1234440" cy="109728"/>
          </a:xfrm>
          <a:prstGeom prst="roundRect">
            <a:avLst>
              <a:gd name="adj" fmla="val 50000"/>
            </a:avLst>
          </a:prstGeom>
          <a:solidFill>
            <a:srgbClr val="0F7C8C"/>
          </a:solidFill>
          <a:ln/>
        </p:spPr>
      </p:sp>
      <p:sp>
        <p:nvSpPr>
          <p:cNvPr id="39" name="br-alt-2-4"/>
          <p:cNvSpPr/>
          <p:nvPr/>
        </p:nvSpPr>
        <p:spPr>
          <a:xfrm>
            <a:off x="7443216" y="2103120"/>
            <a:ext cx="91440" cy="109728"/>
          </a:xfrm>
          <a:prstGeom prst="rect">
            <a:avLst/>
          </a:prstGeom>
          <a:solidFill>
            <a:srgbClr val="E4572E"/>
          </a:solidFill>
          <a:ln/>
        </p:spPr>
      </p:sp>
      <p:sp>
        <p:nvSpPr>
          <p:cNvPr id="40" name="br-2-5"/>
          <p:cNvSpPr/>
          <p:nvPr/>
        </p:nvSpPr>
        <p:spPr>
          <a:xfrm>
            <a:off x="6437376" y="2286000"/>
            <a:ext cx="1737360" cy="109728"/>
          </a:xfrm>
          <a:prstGeom prst="roundRect">
            <a:avLst>
              <a:gd name="adj" fmla="val 50000"/>
            </a:avLst>
          </a:prstGeom>
          <a:solidFill>
            <a:srgbClr val="3D5A80"/>
          </a:solidFill>
          <a:ln/>
        </p:spPr>
      </p:sp>
      <p:sp>
        <p:nvSpPr>
          <p:cNvPr id="41" name="br-2-6"/>
          <p:cNvSpPr/>
          <p:nvPr/>
        </p:nvSpPr>
        <p:spPr>
          <a:xfrm>
            <a:off x="6556248" y="2468880"/>
            <a:ext cx="1737360" cy="109728"/>
          </a:xfrm>
          <a:prstGeom prst="roundRect">
            <a:avLst>
              <a:gd name="adj" fmla="val 50000"/>
            </a:avLst>
          </a:prstGeom>
          <a:solidFill>
            <a:srgbClr val="0F7C8C"/>
          </a:solidFill>
          <a:ln/>
        </p:spPr>
      </p:sp>
      <p:sp>
        <p:nvSpPr>
          <p:cNvPr id="42" name="br-2-7"/>
          <p:cNvSpPr/>
          <p:nvPr/>
        </p:nvSpPr>
        <p:spPr>
          <a:xfrm>
            <a:off x="6675120" y="2651760"/>
            <a:ext cx="1737360" cy="109728"/>
          </a:xfrm>
          <a:prstGeom prst="roundRect">
            <a:avLst>
              <a:gd name="adj" fmla="val 50000"/>
            </a:avLst>
          </a:prstGeom>
          <a:solidFill>
            <a:srgbClr val="3D5A80"/>
          </a:solidFill>
          <a:ln/>
        </p:spPr>
      </p:sp>
      <p:sp>
        <p:nvSpPr>
          <p:cNvPr id="43" name="Text 40"/>
          <p:cNvSpPr txBox="1"/>
          <p:nvPr/>
        </p:nvSpPr>
        <p:spPr>
          <a:xfrm>
            <a:off x="6300216" y="2971800"/>
            <a:ext cx="2148840" cy="365760"/>
          </a:xfrm>
          <a:prstGeom prst="rect">
            <a:avLst/>
          </a:prstGeom>
          <a:noFill/>
          <a:ln/>
        </p:spPr>
        <p:txBody>
          <a:bodyPr wrap="square" lIns="0" tIns="0" rIns="0" bIns="0" rtlCol="0" anchor="t"/>
          <a:lstStyle/>
          <a:p>
            <a:pPr indent="0" marL="0">
              <a:buNone/>
            </a:pPr>
            <a:r>
              <a:rPr lang="en-US" sz="1600" b="1" dirty="0">
                <a:solidFill>
                  <a:schemeClr val="tx2"/>
                </a:solidFill>
              </a:rPr>
              <a:t>Artefact</a:t>
            </a:r>
            <a:endParaRPr lang="en-US" sz="1600" dirty="0"/>
          </a:p>
        </p:txBody>
      </p:sp>
      <p:sp>
        <p:nvSpPr>
          <p:cNvPr id="44" name="Text 41"/>
          <p:cNvSpPr txBox="1"/>
          <p:nvPr/>
        </p:nvSpPr>
        <p:spPr>
          <a:xfrm>
            <a:off x="6300216" y="3383280"/>
            <a:ext cx="2148840" cy="548640"/>
          </a:xfrm>
          <a:prstGeom prst="rect">
            <a:avLst/>
          </a:prstGeom>
          <a:noFill/>
          <a:ln/>
        </p:spPr>
        <p:txBody>
          <a:bodyPr wrap="square" lIns="0" tIns="0" rIns="0" bIns="0" rtlCol="0" anchor="t"/>
          <a:lstStyle/>
          <a:p>
            <a:pPr indent="0" marL="0">
              <a:buNone/>
            </a:pPr>
            <a:r>
              <a:rPr lang="en-US" sz="1300" dirty="0">
                <a:solidFill>
                  <a:srgbClr val="5E6B75"/>
                </a:solidFill>
              </a:rPr>
              <a:t>one strand only, at read ends</a:t>
            </a:r>
            <a:endParaRPr lang="en-US" sz="1300" dirty="0"/>
          </a:p>
        </p:txBody>
      </p:sp>
      <p:sp>
        <p:nvSpPr>
          <p:cNvPr id="45" name="Text 42"/>
          <p:cNvSpPr txBox="1"/>
          <p:nvPr/>
        </p:nvSpPr>
        <p:spPr>
          <a:xfrm>
            <a:off x="457200" y="4114800"/>
            <a:ext cx="8229600" cy="274320"/>
          </a:xfrm>
          <a:prstGeom prst="rect">
            <a:avLst/>
          </a:prstGeom>
          <a:noFill/>
          <a:ln/>
        </p:spPr>
        <p:txBody>
          <a:bodyPr wrap="square" lIns="0" tIns="0" rIns="0" bIns="0" rtlCol="0" anchor="t"/>
          <a:lstStyle/>
          <a:p>
            <a:pPr indent="0" marL="0">
              <a:buNone/>
            </a:pPr>
            <a:r>
              <a:rPr lang="en-US" sz="1300" b="1" dirty="0">
                <a:solidFill>
                  <a:schemeClr val="accent1"/>
                </a:solidFill>
              </a:rPr>
              <a:t>forward strand</a:t>
            </a:r>
            <a:pPr indent="0" marL="0">
              <a:buNone/>
            </a:pPr>
            <a:r>
              <a:rPr lang="en-US" sz="1300" b="1" dirty="0">
                <a:solidFill>
                  <a:schemeClr val="accent6"/>
                </a:solidFill>
              </a:rPr>
              <a:t>   reverse strand</a:t>
            </a:r>
            <a:pPr indent="0" marL="0">
              <a:buNone/>
            </a:pPr>
            <a:r>
              <a:rPr lang="en-US" sz="1300" b="1" dirty="0">
                <a:solidFill>
                  <a:schemeClr val="accent2"/>
                </a:solidFill>
              </a:rPr>
              <a:t>   alternative base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89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371600"/>
          </a:xfrm>
          <a:prstGeom prst="rect">
            <a:avLst/>
          </a:prstGeom>
          <a:noFill/>
          <a:ln/>
        </p:spPr>
        <p:txBody>
          <a:bodyPr wrap="square" lIns="0" tIns="0" rIns="0" bIns="0" rtlCol="0" anchor="b"/>
          <a:lstStyle/>
          <a:p>
            <a:pPr indent="0" marL="0">
              <a:buNone/>
            </a:pPr>
            <a:r>
              <a:rPr lang="en-US" sz="4000" b="1" dirty="0">
                <a:solidFill>
                  <a:schemeClr val="bg1"/>
                </a:solidFill>
              </a:rPr>
              <a:t>Take-home messages</a:t>
            </a:r>
            <a:endParaRPr lang="en-US" sz="4000" dirty="0"/>
          </a:p>
        </p:txBody>
      </p:sp>
      <p:sp>
        <p:nvSpPr>
          <p:cNvPr id="3" name="take-0"/>
          <p:cNvSpPr/>
          <p:nvPr/>
        </p:nvSpPr>
        <p:spPr>
          <a:xfrm>
            <a:off x="548640" y="2697480"/>
            <a:ext cx="347472" cy="347472"/>
          </a:xfrm>
          <a:prstGeom prst="ellipse">
            <a:avLst/>
          </a:prstGeom>
          <a:solidFill>
            <a:schemeClr val="accent2"/>
          </a:solidFill>
          <a:ln/>
        </p:spPr>
      </p:sp>
      <p:sp>
        <p:nvSpPr>
          <p:cNvPr id="4" name="take-0-label"/>
          <p:cNvSpPr txBox="1"/>
          <p:nvPr/>
        </p:nvSpPr>
        <p:spPr>
          <a:xfrm>
            <a:off x="548640" y="269748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51560" y="2715768"/>
            <a:ext cx="7589520" cy="365760"/>
          </a:xfrm>
          <a:prstGeom prst="rect">
            <a:avLst/>
          </a:prstGeom>
          <a:noFill/>
          <a:ln/>
        </p:spPr>
        <p:txBody>
          <a:bodyPr wrap="square" lIns="0" tIns="0" rIns="0" bIns="0" rtlCol="0" anchor="t"/>
          <a:lstStyle/>
          <a:p>
            <a:pPr indent="0" marL="0">
              <a:buNone/>
            </a:pPr>
            <a:r>
              <a:rPr lang="en-US" sz="1500" dirty="0">
                <a:solidFill>
                  <a:schemeClr val="bg1"/>
                </a:solidFill>
              </a:rPr>
              <a:t>Mapping places reads on a reference; flagstat and coverage tell you how well it worked</a:t>
            </a:r>
            <a:endParaRPr lang="en-US" sz="1500" dirty="0"/>
          </a:p>
        </p:txBody>
      </p:sp>
      <p:sp>
        <p:nvSpPr>
          <p:cNvPr id="6" name="take-1"/>
          <p:cNvSpPr/>
          <p:nvPr/>
        </p:nvSpPr>
        <p:spPr>
          <a:xfrm>
            <a:off x="548640" y="3200400"/>
            <a:ext cx="347472" cy="347472"/>
          </a:xfrm>
          <a:prstGeom prst="ellipse">
            <a:avLst/>
          </a:prstGeom>
          <a:solidFill>
            <a:schemeClr val="accent2"/>
          </a:solidFill>
          <a:ln/>
        </p:spPr>
      </p:sp>
      <p:sp>
        <p:nvSpPr>
          <p:cNvPr id="7" name="take-1-label"/>
          <p:cNvSpPr txBox="1"/>
          <p:nvPr/>
        </p:nvSpPr>
        <p:spPr>
          <a:xfrm>
            <a:off x="548640" y="320040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51560" y="3218688"/>
            <a:ext cx="7589520" cy="365760"/>
          </a:xfrm>
          <a:prstGeom prst="rect">
            <a:avLst/>
          </a:prstGeom>
          <a:noFill/>
          <a:ln/>
        </p:spPr>
        <p:txBody>
          <a:bodyPr wrap="square" lIns="0" tIns="0" rIns="0" bIns="0" rtlCol="0" anchor="t"/>
          <a:lstStyle/>
          <a:p>
            <a:pPr indent="0" marL="0">
              <a:buNone/>
            </a:pPr>
            <a:r>
              <a:rPr lang="en-US" sz="1500" dirty="0">
                <a:solidFill>
                  <a:schemeClr val="bg1"/>
                </a:solidFill>
              </a:rPr>
              <a:t>Coverage answers questions on its own: no reads over a gene means the gene is absent</a:t>
            </a:r>
            <a:endParaRPr lang="en-US" sz="1500" dirty="0"/>
          </a:p>
        </p:txBody>
      </p:sp>
      <p:sp>
        <p:nvSpPr>
          <p:cNvPr id="9" name="take-2"/>
          <p:cNvSpPr/>
          <p:nvPr/>
        </p:nvSpPr>
        <p:spPr>
          <a:xfrm>
            <a:off x="548640" y="3703320"/>
            <a:ext cx="347472" cy="347472"/>
          </a:xfrm>
          <a:prstGeom prst="ellipse">
            <a:avLst/>
          </a:prstGeom>
          <a:solidFill>
            <a:schemeClr val="accent2"/>
          </a:solidFill>
          <a:ln/>
        </p:spPr>
      </p:sp>
      <p:sp>
        <p:nvSpPr>
          <p:cNvPr id="10" name="take-2-label"/>
          <p:cNvSpPr txBox="1"/>
          <p:nvPr/>
        </p:nvSpPr>
        <p:spPr>
          <a:xfrm>
            <a:off x="548640" y="37033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051560" y="3721608"/>
            <a:ext cx="7589520" cy="365760"/>
          </a:xfrm>
          <a:prstGeom prst="rect">
            <a:avLst/>
          </a:prstGeom>
          <a:noFill/>
          <a:ln/>
        </p:spPr>
        <p:txBody>
          <a:bodyPr wrap="square" lIns="0" tIns="0" rIns="0" bIns="0" rtlCol="0" anchor="t"/>
          <a:lstStyle/>
          <a:p>
            <a:pPr indent="0" marL="0">
              <a:buNone/>
            </a:pPr>
            <a:r>
              <a:rPr lang="en-US" sz="1500" dirty="0">
                <a:solidFill>
                  <a:schemeClr val="bg1"/>
                </a:solidFill>
              </a:rPr>
              <a:t>Ploidy matters: a diploid caller must tell 0/0, 0/1 and 1/1 apart, which needs depth</a:t>
            </a:r>
            <a:endParaRPr lang="en-US" sz="1500" dirty="0"/>
          </a:p>
        </p:txBody>
      </p:sp>
      <p:sp>
        <p:nvSpPr>
          <p:cNvPr id="12" name="take-3"/>
          <p:cNvSpPr/>
          <p:nvPr/>
        </p:nvSpPr>
        <p:spPr>
          <a:xfrm>
            <a:off x="548640" y="4206240"/>
            <a:ext cx="347472" cy="347472"/>
          </a:xfrm>
          <a:prstGeom prst="ellipse">
            <a:avLst/>
          </a:prstGeom>
          <a:solidFill>
            <a:schemeClr val="accent2"/>
          </a:solidFill>
          <a:ln/>
        </p:spPr>
      </p:sp>
      <p:sp>
        <p:nvSpPr>
          <p:cNvPr id="13" name="take-3-label"/>
          <p:cNvSpPr txBox="1"/>
          <p:nvPr/>
        </p:nvSpPr>
        <p:spPr>
          <a:xfrm>
            <a:off x="548640" y="420624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1051560" y="4224528"/>
            <a:ext cx="7589520" cy="365760"/>
          </a:xfrm>
          <a:prstGeom prst="rect">
            <a:avLst/>
          </a:prstGeom>
          <a:noFill/>
          <a:ln/>
        </p:spPr>
        <p:txBody>
          <a:bodyPr wrap="square" lIns="0" tIns="0" rIns="0" bIns="0" rtlCol="0" anchor="t"/>
          <a:lstStyle/>
          <a:p>
            <a:pPr indent="0" marL="0">
              <a:buNone/>
            </a:pPr>
            <a:r>
              <a:rPr lang="en-US" sz="1500" dirty="0">
                <a:solidFill>
                  <a:schemeClr val="bg1"/>
                </a:solidFill>
              </a:rPr>
              <a:t>Filter calls, check Ts/Tv, and look at the reads before you believe a variant</a:t>
            </a:r>
            <a:endParaRPr lang="en-US" sz="1500" dirty="0"/>
          </a:p>
        </p:txBody>
      </p:sp>
      <p:sp>
        <p:nvSpPr>
          <p:cNvPr id="16" name="Text 0"/>
          <p:cNvSpPr/>
          <p:nvPr>
            <p:ph idx="101" type="body" hasCustomPrompt="1"/>
          </p:nvPr>
        </p:nvSpPr>
        <p:spPr>
          <a:xfrm>
            <a:off x="548640" y="2606040"/>
            <a:ext cx="8046720" cy="82296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KP Genomics">
  <a:themeElements>
    <a:clrScheme name="KP Genomics">
      <a:dk1>
        <a:srgbClr val="1B2B34"/>
      </a:dk1>
      <a:lt1>
        <a:srgbClr val="FFFFFF"/>
      </a:lt1>
      <a:dk2>
        <a:srgbClr val="0E3B47"/>
      </a:dk2>
      <a:lt2>
        <a:srgbClr val="EAF2F3"/>
      </a:lt2>
      <a:accent1>
        <a:srgbClr val="0F7C8C"/>
      </a:accent1>
      <a:accent2>
        <a:srgbClr val="E4572E"/>
      </a:accent2>
      <a:accent3>
        <a:srgbClr val="F2A541"/>
      </a:accent3>
      <a:accent4>
        <a:srgbClr val="4F8A5B"/>
      </a:accent4>
      <a:accent5>
        <a:srgbClr val="7A8894"/>
      </a:accent5>
      <a:accent6>
        <a:srgbClr val="3D5A80"/>
      </a:accent6>
      <a:hlink>
        <a:srgbClr val="0F7C8C"/>
      </a:hlink>
      <a:folHlink>
        <a:srgbClr val="3D5A80"/>
      </a:folHlink>
    </a:clrScheme>
    <a:fontScheme name="KP Genom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 mapping and variant calling</dc:title>
  <dc:subject>PptxGenJS Presentation</dc:subject>
  <dc:creator>KP – Molecular Genetic Data</dc:creator>
  <cp:lastModifiedBy>KP – Molecular Genetic Data</cp:lastModifiedBy>
  <cp:revision>1</cp:revision>
  <dcterms:created xsi:type="dcterms:W3CDTF">2026-10-17T10:21:36Z</dcterms:created>
  <dcterms:modified xsi:type="dcterms:W3CDTF">2026-10-17T10:21:36Z</dcterms:modified>
</cp:coreProperties>
</file>