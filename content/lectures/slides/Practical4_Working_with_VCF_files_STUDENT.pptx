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8f04dbc-182f-a6e1-eccb-a4eeeaf1939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Accuracy" id="{29b93454-c629-80a0-6e57-331a24f37421}">
          <p14:sldIdLst>
            <p14:sldId id="263"/>
            <p14:sldId id="264"/>
            <p14:sldId id="265"/>
            <p14:sldId id="266"/>
          </p14:sldIdLst>
        </p14:section>
        <p14:section name="Human variation" id="{4e23604e-ec89-e9d5-05f0-83b69a1c2e58}">
          <p14:sldIdLst>
            <p14:sldId id="267"/>
            <p14:sldId id="268"/>
            <p14:sldId id="269"/>
            <p14:sldId id="270"/>
            <p14:sldId id="271"/>
          </p14:sldIdLst>
        </p14:section>
        <p14:section name="Summary" id="{c5d7bcf1-8f45-27d3-5fc8-6707bfba6f3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7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4"/>
                </a:solidFill>
              </a:rPr>
              <a:t>KP – Molecular Genetic Data · Working with VCF files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Working with VCF files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KP – Molecular Genetic Data · Practical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From a list of variants to biological answers</a:t>
            </a:r>
            <a:endParaRPr lang="en-US" sz="1800" dirty="0"/>
          </a:p>
        </p:txBody>
      </p:sp>
      <p:sp>
        <p:nvSpPr>
          <p:cNvPr id="4" name="motif-read-0"/>
          <p:cNvSpPr/>
          <p:nvPr/>
        </p:nvSpPr>
        <p:spPr>
          <a:xfrm>
            <a:off x="548640" y="3794760"/>
            <a:ext cx="201168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motif-variant-0"/>
          <p:cNvSpPr/>
          <p:nvPr/>
        </p:nvSpPr>
        <p:spPr>
          <a:xfrm>
            <a:off x="2057400" y="379476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motif-read-1"/>
          <p:cNvSpPr/>
          <p:nvPr/>
        </p:nvSpPr>
        <p:spPr>
          <a:xfrm>
            <a:off x="1188720" y="3977640"/>
            <a:ext cx="219456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motif-variant-1"/>
          <p:cNvSpPr/>
          <p:nvPr/>
        </p:nvSpPr>
        <p:spPr>
          <a:xfrm>
            <a:off x="2057400" y="397764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motif-read-2"/>
          <p:cNvSpPr/>
          <p:nvPr/>
        </p:nvSpPr>
        <p:spPr>
          <a:xfrm>
            <a:off x="822960" y="4160520"/>
            <a:ext cx="182880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motif-variant-2"/>
          <p:cNvSpPr/>
          <p:nvPr/>
        </p:nvSpPr>
        <p:spPr>
          <a:xfrm>
            <a:off x="2057400" y="416052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motif-read-3"/>
          <p:cNvSpPr/>
          <p:nvPr/>
        </p:nvSpPr>
        <p:spPr>
          <a:xfrm>
            <a:off x="1554480" y="4343400"/>
            <a:ext cx="173736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motif-variant-3"/>
          <p:cNvSpPr/>
          <p:nvPr/>
        </p:nvSpPr>
        <p:spPr>
          <a:xfrm>
            <a:off x="2057400" y="434340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motif-read-4"/>
          <p:cNvSpPr/>
          <p:nvPr/>
        </p:nvSpPr>
        <p:spPr>
          <a:xfrm>
            <a:off x="640080" y="4526280"/>
            <a:ext cx="237744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motif-variant-4"/>
          <p:cNvSpPr/>
          <p:nvPr/>
        </p:nvSpPr>
        <p:spPr>
          <a:xfrm>
            <a:off x="2057400" y="452628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questions for one VCF file</a:t>
            </a:r>
            <a:endParaRPr lang="en-US" sz="2800" dirty="0"/>
          </a:p>
        </p:txBody>
      </p:sp>
      <p:sp>
        <p:nvSpPr>
          <p:cNvPr id="4" name="q-card-0"/>
          <p:cNvSpPr/>
          <p:nvPr/>
        </p:nvSpPr>
        <p:spPr>
          <a:xfrm>
            <a:off x="457200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5" name="q-badge-0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q-badge-0-label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is in it?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 of the file, SNPs and indels, genotypes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</a:rPr>
              <a:t>Unix tools, bcftools</a:t>
            </a:r>
            <a:endParaRPr lang="en-US" sz="1300" dirty="0"/>
          </a:p>
        </p:txBody>
      </p:sp>
      <p:sp>
        <p:nvSpPr>
          <p:cNvPr id="10" name="q-card-1"/>
          <p:cNvSpPr/>
          <p:nvPr/>
        </p:nvSpPr>
        <p:spPr>
          <a:xfrm>
            <a:off x="3264408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1" name="q-badge-1"/>
          <p:cNvSpPr/>
          <p:nvPr/>
        </p:nvSpPr>
        <p:spPr>
          <a:xfrm>
            <a:off x="3493008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q-badge-1-label"/>
          <p:cNvSpPr txBox="1"/>
          <p:nvPr/>
        </p:nvSpPr>
        <p:spPr>
          <a:xfrm>
            <a:off x="349300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How good is it?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with an independent call set for the same person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</a:rPr>
              <a:t>precision, recall, concordance</a:t>
            </a:r>
            <a:endParaRPr lang="en-US" sz="1300" dirty="0"/>
          </a:p>
        </p:txBody>
      </p:sp>
      <p:sp>
        <p:nvSpPr>
          <p:cNvPr id="16" name="q-card-2"/>
          <p:cNvSpPr/>
          <p:nvPr/>
        </p:nvSpPr>
        <p:spPr>
          <a:xfrm>
            <a:off x="6071616" y="118872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7" name="q-badge-2"/>
          <p:cNvSpPr/>
          <p:nvPr/>
        </p:nvSpPr>
        <p:spPr>
          <a:xfrm>
            <a:off x="6300216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q-badge-2-label"/>
          <p:cNvSpPr txBox="1"/>
          <p:nvPr/>
        </p:nvSpPr>
        <p:spPr>
          <a:xfrm>
            <a:off x="63002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00216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does it tell us?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300216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Allele frequencies in 26 populations, population structure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00216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</a:rPr>
              <a:t>allele frequencies, PCA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Anatomy of a VCF file</a:t>
            </a:r>
            <a:endParaRPr lang="en-US" sz="2800" dirty="0"/>
          </a:p>
        </p:txBody>
      </p:sp>
      <p:sp>
        <p:nvSpPr>
          <p:cNvPr id="4" name="part-0"/>
          <p:cNvSpPr/>
          <p:nvPr/>
        </p:nvSpPr>
        <p:spPr>
          <a:xfrm>
            <a:off x="457200" y="1097280"/>
            <a:ext cx="1371600" cy="502920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meta-information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3624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reference, chromosomes, definitions of INFO and FORMAT fields</a:t>
            </a:r>
            <a:endParaRPr lang="en-US" sz="1300" dirty="0"/>
          </a:p>
        </p:txBody>
      </p:sp>
      <p:sp>
        <p:nvSpPr>
          <p:cNvPr id="8" name="part-1"/>
          <p:cNvSpPr/>
          <p:nvPr/>
        </p:nvSpPr>
        <p:spPr>
          <a:xfrm>
            <a:off x="457200" y="1719072"/>
            <a:ext cx="1371600" cy="50292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719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#CHROM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header line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19842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the column names</a:t>
            </a:r>
            <a:endParaRPr lang="en-US" sz="1300" dirty="0"/>
          </a:p>
        </p:txBody>
      </p:sp>
      <p:sp>
        <p:nvSpPr>
          <p:cNvPr id="12" name="part-2"/>
          <p:cNvSpPr/>
          <p:nvPr/>
        </p:nvSpPr>
        <p:spPr>
          <a:xfrm>
            <a:off x="457200" y="2340864"/>
            <a:ext cx="1371600" cy="50292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3408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chr21 …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line per variant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2606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fixed columns + FORMAT + one column per sample</a:t>
            </a:r>
            <a:endParaRPr lang="en-US" sz="1300" dirty="0"/>
          </a:p>
        </p:txBody>
      </p:sp>
      <p:sp>
        <p:nvSpPr>
          <p:cNvPr id="16" name="col-h-0"/>
          <p:cNvSpPr/>
          <p:nvPr/>
        </p:nvSpPr>
        <p:spPr>
          <a:xfrm>
            <a:off x="457200" y="3154680"/>
            <a:ext cx="530352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1546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CHROM</a:t>
            </a:r>
            <a:endParaRPr lang="en-US" sz="1000" dirty="0"/>
          </a:p>
        </p:txBody>
      </p:sp>
      <p:sp>
        <p:nvSpPr>
          <p:cNvPr id="18" name="col-v-0"/>
          <p:cNvSpPr/>
          <p:nvPr/>
        </p:nvSpPr>
        <p:spPr>
          <a:xfrm>
            <a:off x="457200" y="3529584"/>
            <a:ext cx="530352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7200" y="352958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chr21</a:t>
            </a:r>
            <a:endParaRPr lang="en-US" sz="1100" dirty="0"/>
          </a:p>
        </p:txBody>
      </p:sp>
      <p:sp>
        <p:nvSpPr>
          <p:cNvPr id="20" name="col-h-1"/>
          <p:cNvSpPr/>
          <p:nvPr/>
        </p:nvSpPr>
        <p:spPr>
          <a:xfrm>
            <a:off x="1024128" y="3154680"/>
            <a:ext cx="832104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4128" y="3154680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POS</a:t>
            </a:r>
            <a:endParaRPr lang="en-US" sz="1000" dirty="0"/>
          </a:p>
        </p:txBody>
      </p:sp>
      <p:sp>
        <p:nvSpPr>
          <p:cNvPr id="22" name="col-v-1"/>
          <p:cNvSpPr/>
          <p:nvPr/>
        </p:nvSpPr>
        <p:spPr>
          <a:xfrm>
            <a:off x="1024128" y="3529584"/>
            <a:ext cx="832104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24128" y="3529584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10414881</a:t>
            </a:r>
            <a:endParaRPr lang="en-US" sz="1100" dirty="0"/>
          </a:p>
        </p:txBody>
      </p:sp>
      <p:sp>
        <p:nvSpPr>
          <p:cNvPr id="24" name="col-h-2"/>
          <p:cNvSpPr/>
          <p:nvPr/>
        </p:nvSpPr>
        <p:spPr>
          <a:xfrm>
            <a:off x="1892808" y="3154680"/>
            <a:ext cx="329184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92808" y="31546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ID</a:t>
            </a:r>
            <a:endParaRPr lang="en-US" sz="1000" dirty="0"/>
          </a:p>
        </p:txBody>
      </p:sp>
      <p:sp>
        <p:nvSpPr>
          <p:cNvPr id="26" name="col-v-2"/>
          <p:cNvSpPr/>
          <p:nvPr/>
        </p:nvSpPr>
        <p:spPr>
          <a:xfrm>
            <a:off x="1892808" y="3529584"/>
            <a:ext cx="329184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892808" y="3529584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col-h-3"/>
          <p:cNvSpPr/>
          <p:nvPr/>
        </p:nvSpPr>
        <p:spPr>
          <a:xfrm>
            <a:off x="2258568" y="3154680"/>
            <a:ext cx="402336" cy="34747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258568" y="315468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REF</a:t>
            </a:r>
            <a:endParaRPr lang="en-US" sz="1000" dirty="0"/>
          </a:p>
        </p:txBody>
      </p:sp>
      <p:sp>
        <p:nvSpPr>
          <p:cNvPr id="30" name="col-v-3"/>
          <p:cNvSpPr/>
          <p:nvPr/>
        </p:nvSpPr>
        <p:spPr>
          <a:xfrm>
            <a:off x="2258568" y="3529584"/>
            <a:ext cx="402336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258568" y="352958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32" name="col-h-4"/>
          <p:cNvSpPr/>
          <p:nvPr/>
        </p:nvSpPr>
        <p:spPr>
          <a:xfrm>
            <a:off x="2697480" y="3154680"/>
            <a:ext cx="402336" cy="34747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697480" y="315468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ALT</a:t>
            </a:r>
            <a:endParaRPr lang="en-US" sz="1000" dirty="0"/>
          </a:p>
        </p:txBody>
      </p:sp>
      <p:sp>
        <p:nvSpPr>
          <p:cNvPr id="34" name="col-v-4"/>
          <p:cNvSpPr/>
          <p:nvPr/>
        </p:nvSpPr>
        <p:spPr>
          <a:xfrm>
            <a:off x="2697480" y="3529584"/>
            <a:ext cx="402336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697480" y="352958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36" name="col-h-5"/>
          <p:cNvSpPr/>
          <p:nvPr/>
        </p:nvSpPr>
        <p:spPr>
          <a:xfrm>
            <a:off x="3136392" y="3154680"/>
            <a:ext cx="493776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136392" y="315468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QUAL</a:t>
            </a:r>
            <a:endParaRPr lang="en-US" sz="1000" dirty="0"/>
          </a:p>
        </p:txBody>
      </p:sp>
      <p:sp>
        <p:nvSpPr>
          <p:cNvPr id="38" name="col-v-5"/>
          <p:cNvSpPr/>
          <p:nvPr/>
        </p:nvSpPr>
        <p:spPr>
          <a:xfrm>
            <a:off x="3136392" y="3529584"/>
            <a:ext cx="493776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136392" y="352958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</a:t>
            </a:r>
            <a:endParaRPr lang="en-US" sz="1100" dirty="0"/>
          </a:p>
        </p:txBody>
      </p:sp>
      <p:sp>
        <p:nvSpPr>
          <p:cNvPr id="40" name="col-h-6"/>
          <p:cNvSpPr/>
          <p:nvPr/>
        </p:nvSpPr>
        <p:spPr>
          <a:xfrm>
            <a:off x="3666744" y="3154680"/>
            <a:ext cx="585216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666744" y="315468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FILTER</a:t>
            </a:r>
            <a:endParaRPr lang="en-US" sz="1000" dirty="0"/>
          </a:p>
        </p:txBody>
      </p:sp>
      <p:sp>
        <p:nvSpPr>
          <p:cNvPr id="42" name="col-v-6"/>
          <p:cNvSpPr/>
          <p:nvPr/>
        </p:nvSpPr>
        <p:spPr>
          <a:xfrm>
            <a:off x="3666744" y="3529584"/>
            <a:ext cx="585216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666744" y="352958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</p:txBody>
      </p:sp>
      <p:sp>
        <p:nvSpPr>
          <p:cNvPr id="44" name="col-h-7"/>
          <p:cNvSpPr/>
          <p:nvPr/>
        </p:nvSpPr>
        <p:spPr>
          <a:xfrm>
            <a:off x="4288536" y="3154680"/>
            <a:ext cx="649224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288536" y="315468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INFO</a:t>
            </a:r>
            <a:endParaRPr lang="en-US" sz="1000" dirty="0"/>
          </a:p>
        </p:txBody>
      </p:sp>
      <p:sp>
        <p:nvSpPr>
          <p:cNvPr id="46" name="col-v-7"/>
          <p:cNvSpPr/>
          <p:nvPr/>
        </p:nvSpPr>
        <p:spPr>
          <a:xfrm>
            <a:off x="4288536" y="3529584"/>
            <a:ext cx="649224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288536" y="3529584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DP=14</a:t>
            </a:r>
            <a:endParaRPr lang="en-US" sz="1100" dirty="0"/>
          </a:p>
        </p:txBody>
      </p:sp>
      <p:sp>
        <p:nvSpPr>
          <p:cNvPr id="48" name="col-h-8"/>
          <p:cNvSpPr/>
          <p:nvPr/>
        </p:nvSpPr>
        <p:spPr>
          <a:xfrm>
            <a:off x="4974336" y="3154680"/>
            <a:ext cx="923544" cy="347472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974336" y="315468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FORMAT</a:t>
            </a:r>
            <a:endParaRPr lang="en-US" sz="1000" dirty="0"/>
          </a:p>
        </p:txBody>
      </p:sp>
      <p:sp>
        <p:nvSpPr>
          <p:cNvPr id="50" name="col-v-8"/>
          <p:cNvSpPr/>
          <p:nvPr/>
        </p:nvSpPr>
        <p:spPr>
          <a:xfrm>
            <a:off x="4974336" y="3529584"/>
            <a:ext cx="923544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974336" y="3529584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GT:DP:AD</a:t>
            </a:r>
            <a:endParaRPr lang="en-US" sz="1100" dirty="0"/>
          </a:p>
        </p:txBody>
      </p:sp>
      <p:sp>
        <p:nvSpPr>
          <p:cNvPr id="52" name="col-h-9"/>
          <p:cNvSpPr/>
          <p:nvPr/>
        </p:nvSpPr>
        <p:spPr>
          <a:xfrm>
            <a:off x="5934456" y="3154680"/>
            <a:ext cx="1014984" cy="34747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934456" y="3154680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HG00418</a:t>
            </a:r>
            <a:endParaRPr lang="en-US" sz="1000" dirty="0"/>
          </a:p>
        </p:txBody>
      </p:sp>
      <p:sp>
        <p:nvSpPr>
          <p:cNvPr id="54" name="col-v-9"/>
          <p:cNvSpPr/>
          <p:nvPr/>
        </p:nvSpPr>
        <p:spPr>
          <a:xfrm>
            <a:off x="5934456" y="3529584"/>
            <a:ext cx="1014984" cy="384048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5934456" y="352958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0/1:14:7,7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Read the sample column in the order given by FORMAT: genotype 0/1, depth 14, allele depths 7 reference and 7 alternative reads.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Reading genotypes</a:t>
            </a:r>
            <a:endParaRPr lang="en-US" sz="2800" dirty="0"/>
          </a:p>
        </p:txBody>
      </p:sp>
      <p:sp>
        <p:nvSpPr>
          <p:cNvPr id="4" name="gt-card-0"/>
          <p:cNvSpPr/>
          <p:nvPr/>
        </p:nvSpPr>
        <p:spPr>
          <a:xfrm>
            <a:off x="457200" y="11430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307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0/0</a:t>
            </a:r>
            <a:endParaRPr lang="en-US" sz="2600" dirty="0"/>
          </a:p>
        </p:txBody>
      </p:sp>
      <p:sp>
        <p:nvSpPr>
          <p:cNvPr id="6" name="gt-chr-0-0"/>
          <p:cNvSpPr/>
          <p:nvPr/>
        </p:nvSpPr>
        <p:spPr>
          <a:xfrm>
            <a:off x="640080" y="1920240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7" name="gt-al-0-0"/>
          <p:cNvSpPr/>
          <p:nvPr/>
        </p:nvSpPr>
        <p:spPr>
          <a:xfrm>
            <a:off x="1325880" y="1874520"/>
            <a:ext cx="219456" cy="219456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8" name="gt-chr-0-1"/>
          <p:cNvSpPr/>
          <p:nvPr/>
        </p:nvSpPr>
        <p:spPr>
          <a:xfrm>
            <a:off x="640080" y="2176272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9" name="gt-al-0-1"/>
          <p:cNvSpPr/>
          <p:nvPr/>
        </p:nvSpPr>
        <p:spPr>
          <a:xfrm>
            <a:off x="1325880" y="2130552"/>
            <a:ext cx="219456" cy="219456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homozygous reference</a:t>
            </a:r>
            <a:endParaRPr lang="en-US" sz="1200" dirty="0"/>
          </a:p>
        </p:txBody>
      </p:sp>
      <p:sp>
        <p:nvSpPr>
          <p:cNvPr id="11" name="gt-card-1"/>
          <p:cNvSpPr/>
          <p:nvPr/>
        </p:nvSpPr>
        <p:spPr>
          <a:xfrm>
            <a:off x="2560320" y="11430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3200" y="1307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</a:t>
            </a:r>
            <a:endParaRPr lang="en-US" sz="2600" dirty="0"/>
          </a:p>
        </p:txBody>
      </p:sp>
      <p:sp>
        <p:nvSpPr>
          <p:cNvPr id="13" name="gt-chr-1-0"/>
          <p:cNvSpPr/>
          <p:nvPr/>
        </p:nvSpPr>
        <p:spPr>
          <a:xfrm>
            <a:off x="2743200" y="1920240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14" name="gt-al-1-0"/>
          <p:cNvSpPr/>
          <p:nvPr/>
        </p:nvSpPr>
        <p:spPr>
          <a:xfrm>
            <a:off x="3429000" y="1874520"/>
            <a:ext cx="219456" cy="219456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15" name="gt-chr-1-1"/>
          <p:cNvSpPr/>
          <p:nvPr/>
        </p:nvSpPr>
        <p:spPr>
          <a:xfrm>
            <a:off x="2743200" y="2176272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16" name="gt-al-1-1"/>
          <p:cNvSpPr/>
          <p:nvPr/>
        </p:nvSpPr>
        <p:spPr>
          <a:xfrm>
            <a:off x="3429000" y="2130552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4320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heterozygous</a:t>
            </a:r>
            <a:endParaRPr lang="en-US" sz="1200" dirty="0"/>
          </a:p>
        </p:txBody>
      </p:sp>
      <p:sp>
        <p:nvSpPr>
          <p:cNvPr id="18" name="gt-card-2"/>
          <p:cNvSpPr/>
          <p:nvPr/>
        </p:nvSpPr>
        <p:spPr>
          <a:xfrm>
            <a:off x="4663440" y="11430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46320" y="1307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</a:t>
            </a:r>
            <a:endParaRPr lang="en-US" sz="2600" dirty="0"/>
          </a:p>
        </p:txBody>
      </p:sp>
      <p:sp>
        <p:nvSpPr>
          <p:cNvPr id="20" name="gt-chr-2-0"/>
          <p:cNvSpPr/>
          <p:nvPr/>
        </p:nvSpPr>
        <p:spPr>
          <a:xfrm>
            <a:off x="4846320" y="1920240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1" name="gt-al-2-0"/>
          <p:cNvSpPr/>
          <p:nvPr/>
        </p:nvSpPr>
        <p:spPr>
          <a:xfrm>
            <a:off x="5532120" y="1874520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gt-chr-2-1"/>
          <p:cNvSpPr/>
          <p:nvPr/>
        </p:nvSpPr>
        <p:spPr>
          <a:xfrm>
            <a:off x="4846320" y="2176272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3" name="gt-al-2-1"/>
          <p:cNvSpPr/>
          <p:nvPr/>
        </p:nvSpPr>
        <p:spPr>
          <a:xfrm>
            <a:off x="5532120" y="2130552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homozygous alternative</a:t>
            </a:r>
            <a:endParaRPr lang="en-US" sz="1200" dirty="0"/>
          </a:p>
        </p:txBody>
      </p:sp>
      <p:sp>
        <p:nvSpPr>
          <p:cNvPr id="25" name="gt-card-3"/>
          <p:cNvSpPr/>
          <p:nvPr/>
        </p:nvSpPr>
        <p:spPr>
          <a:xfrm>
            <a:off x="6766560" y="11430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949440" y="1307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1/2</a:t>
            </a:r>
            <a:endParaRPr lang="en-US" sz="2600" dirty="0"/>
          </a:p>
        </p:txBody>
      </p:sp>
      <p:sp>
        <p:nvSpPr>
          <p:cNvPr id="27" name="gt-chr-3-0"/>
          <p:cNvSpPr/>
          <p:nvPr/>
        </p:nvSpPr>
        <p:spPr>
          <a:xfrm>
            <a:off x="6949440" y="1920240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8" name="gt-al-3-0"/>
          <p:cNvSpPr/>
          <p:nvPr/>
        </p:nvSpPr>
        <p:spPr>
          <a:xfrm>
            <a:off x="7635240" y="1874520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gt-chr-3-1"/>
          <p:cNvSpPr/>
          <p:nvPr/>
        </p:nvSpPr>
        <p:spPr>
          <a:xfrm>
            <a:off x="6949440" y="2176272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30" name="gt-al-3-1"/>
          <p:cNvSpPr/>
          <p:nvPr/>
        </p:nvSpPr>
        <p:spPr>
          <a:xfrm>
            <a:off x="7635240" y="2130552"/>
            <a:ext cx="219456" cy="21945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4944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two different alternative alleles</a:t>
            </a:r>
            <a:endParaRPr lang="en-US" sz="1200" dirty="0"/>
          </a:p>
        </p:txBody>
      </p:sp>
      <p:sp>
        <p:nvSpPr>
          <p:cNvPr id="32" name="phase-card"/>
          <p:cNvSpPr/>
          <p:nvPr/>
        </p:nvSpPr>
        <p:spPr>
          <a:xfrm>
            <a:off x="457200" y="3154680"/>
            <a:ext cx="8229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" y="3337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unphased: one copy carries the alternative allele, but we do not know which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0|1  1|0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phased: we know whether it sits on the first or the second haplotype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</a:rPr>
              <a:t>Our calls: unphased (/). The 1000 Genomes calls: phased (|).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SNPs, indels and multiallelic sites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SNP</a:t>
            </a:r>
            <a:endParaRPr lang="en-US" sz="1600" dirty="0"/>
          </a:p>
        </p:txBody>
      </p:sp>
      <p:sp>
        <p:nvSpPr>
          <p:cNvPr id="5" name="ref-0"/>
          <p:cNvSpPr/>
          <p:nvPr/>
        </p:nvSpPr>
        <p:spPr>
          <a:xfrm>
            <a:off x="2194560" y="1097280"/>
            <a:ext cx="118872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286000" y="1097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REF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ex-arrow-0"/>
          <p:cNvSpPr/>
          <p:nvPr/>
        </p:nvSpPr>
        <p:spPr>
          <a:xfrm>
            <a:off x="3474720" y="1371600"/>
            <a:ext cx="457200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8" name="alt-0"/>
          <p:cNvSpPr/>
          <p:nvPr/>
        </p:nvSpPr>
        <p:spPr>
          <a:xfrm>
            <a:off x="4023360" y="1097280"/>
            <a:ext cx="128016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14800" y="1097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ALT 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097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base replaced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029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Deletion</a:t>
            </a:r>
            <a:endParaRPr lang="en-US" sz="1600" dirty="0"/>
          </a:p>
        </p:txBody>
      </p:sp>
      <p:sp>
        <p:nvSpPr>
          <p:cNvPr id="12" name="ref-1"/>
          <p:cNvSpPr/>
          <p:nvPr/>
        </p:nvSpPr>
        <p:spPr>
          <a:xfrm>
            <a:off x="2194560" y="1920240"/>
            <a:ext cx="118872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8600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REF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endParaRPr lang="en-US" sz="1800" dirty="0"/>
          </a:p>
        </p:txBody>
      </p:sp>
      <p:sp>
        <p:nvSpPr>
          <p:cNvPr id="14" name="ex-arrow-1"/>
          <p:cNvSpPr/>
          <p:nvPr/>
        </p:nvSpPr>
        <p:spPr>
          <a:xfrm>
            <a:off x="3474720" y="2194560"/>
            <a:ext cx="457200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15" name="alt-1"/>
          <p:cNvSpPr/>
          <p:nvPr/>
        </p:nvSpPr>
        <p:spPr>
          <a:xfrm>
            <a:off x="4023360" y="1920240"/>
            <a:ext cx="128016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11480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ALT 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1920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 deleted; A is the anchor base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Insertion</a:t>
            </a:r>
            <a:endParaRPr lang="en-US" sz="1600" dirty="0"/>
          </a:p>
        </p:txBody>
      </p:sp>
      <p:sp>
        <p:nvSpPr>
          <p:cNvPr id="19" name="ref-2"/>
          <p:cNvSpPr/>
          <p:nvPr/>
        </p:nvSpPr>
        <p:spPr>
          <a:xfrm>
            <a:off x="2194560" y="2743200"/>
            <a:ext cx="118872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286000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REF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1" name="ex-arrow-2"/>
          <p:cNvSpPr/>
          <p:nvPr/>
        </p:nvSpPr>
        <p:spPr>
          <a:xfrm>
            <a:off x="3474720" y="3017520"/>
            <a:ext cx="457200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22" name="alt-2"/>
          <p:cNvSpPr/>
          <p:nvPr/>
        </p:nvSpPr>
        <p:spPr>
          <a:xfrm>
            <a:off x="4023360" y="2743200"/>
            <a:ext cx="128016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11480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ALT 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2743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 inserted after 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675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Multiallelic</a:t>
            </a:r>
            <a:endParaRPr lang="en-US" sz="1600" dirty="0"/>
          </a:p>
        </p:txBody>
      </p:sp>
      <p:sp>
        <p:nvSpPr>
          <p:cNvPr id="26" name="ref-3"/>
          <p:cNvSpPr/>
          <p:nvPr/>
        </p:nvSpPr>
        <p:spPr>
          <a:xfrm>
            <a:off x="2194560" y="3566160"/>
            <a:ext cx="118872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28600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REF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8" name="ex-arrow-3"/>
          <p:cNvSpPr/>
          <p:nvPr/>
        </p:nvSpPr>
        <p:spPr>
          <a:xfrm>
            <a:off x="3474720" y="3840480"/>
            <a:ext cx="457200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29" name="alt-3"/>
          <p:cNvSpPr/>
          <p:nvPr/>
        </p:nvSpPr>
        <p:spPr>
          <a:xfrm>
            <a:off x="4023360" y="3566160"/>
            <a:ext cx="1280160" cy="54864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11480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ALT 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G,T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alternative alleles at one site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B75"/>
                </a:solidFill>
              </a:rPr>
              <a:t>A simple test like "REF and ALT both one character long" counts G,T as length 3 and misses the multiallelic SNP.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Normalisation: one variant, one way to write it</a:t>
            </a:r>
            <a:endParaRPr lang="en-US" sz="2800" dirty="0"/>
          </a:p>
        </p:txBody>
      </p:sp>
      <p:sp>
        <p:nvSpPr>
          <p:cNvPr id="4" name="seq-0"/>
          <p:cNvSpPr/>
          <p:nvPr/>
        </p:nvSpPr>
        <p:spPr>
          <a:xfrm>
            <a:off x="731520" y="1417320"/>
            <a:ext cx="448056" cy="502920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48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6" name="seq-1"/>
          <p:cNvSpPr/>
          <p:nvPr/>
        </p:nvSpPr>
        <p:spPr>
          <a:xfrm>
            <a:off x="1234440" y="1417320"/>
            <a:ext cx="448056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34440" y="1417320"/>
            <a:ext cx="448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seq-2"/>
          <p:cNvSpPr/>
          <p:nvPr/>
        </p:nvSpPr>
        <p:spPr>
          <a:xfrm>
            <a:off x="1737360" y="1417320"/>
            <a:ext cx="448056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37360" y="1417320"/>
            <a:ext cx="448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seq-3"/>
          <p:cNvSpPr/>
          <p:nvPr/>
        </p:nvSpPr>
        <p:spPr>
          <a:xfrm>
            <a:off x="2240280" y="1417320"/>
            <a:ext cx="448056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40280" y="1417320"/>
            <a:ext cx="448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eq-4"/>
          <p:cNvSpPr/>
          <p:nvPr/>
        </p:nvSpPr>
        <p:spPr>
          <a:xfrm>
            <a:off x="2743200" y="1417320"/>
            <a:ext cx="448056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743200" y="1417320"/>
            <a:ext cx="448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seq-5"/>
          <p:cNvSpPr/>
          <p:nvPr/>
        </p:nvSpPr>
        <p:spPr>
          <a:xfrm>
            <a:off x="3246120" y="1417320"/>
            <a:ext cx="448056" cy="502920"/>
          </a:xfrm>
          <a:prstGeom prst="rect">
            <a:avLst/>
          </a:prstGeom>
          <a:solidFill>
            <a:srgbClr val="0E3B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46120" y="1417320"/>
            <a:ext cx="448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Delete one A: the result is CAAAG wherever we delete it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423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1:  CA → C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770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2:  AA → 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118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3:  AA → 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465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4:  AA → 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10896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leftmost = the standard form</a:t>
            </a:r>
            <a:endParaRPr lang="en-US" sz="1300" dirty="0"/>
          </a:p>
        </p:txBody>
      </p:sp>
      <p:sp>
        <p:nvSpPr>
          <p:cNvPr id="22" name="split-card"/>
          <p:cNvSpPr/>
          <p:nvPr/>
        </p:nvSpPr>
        <p:spPr>
          <a:xfrm>
            <a:off x="5303520" y="1188720"/>
            <a:ext cx="338328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321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Split multiallelic sites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chr21  500  A  G,T</a:t>
            </a:r>
            <a:endParaRPr lang="en-US" sz="1400" dirty="0"/>
          </a:p>
        </p:txBody>
      </p:sp>
      <p:sp>
        <p:nvSpPr>
          <p:cNvPr id="25" name="split-arrow"/>
          <p:cNvSpPr/>
          <p:nvPr/>
        </p:nvSpPr>
        <p:spPr>
          <a:xfrm>
            <a:off x="6583680" y="2286000"/>
            <a:ext cx="914" cy="411480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53212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chr21  500  A  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chr21  500  A  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3212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bcftools norm -f chr21.fa -m -any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bcftools: a toolbox for VCF files</a:t>
            </a:r>
            <a:endParaRPr lang="en-US" sz="2800" dirty="0"/>
          </a:p>
        </p:txBody>
      </p:sp>
      <p:sp>
        <p:nvSpPr>
          <p:cNvPr id="4" name="cmd-0"/>
          <p:cNvSpPr/>
          <p:nvPr/>
        </p:nvSpPr>
        <p:spPr>
          <a:xfrm>
            <a:off x="457200" y="109728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09728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0972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select records, regions, samples or genotypes</a:t>
            </a:r>
            <a:endParaRPr lang="en-US" sz="1300" dirty="0"/>
          </a:p>
        </p:txBody>
      </p:sp>
      <p:sp>
        <p:nvSpPr>
          <p:cNvPr id="7" name="cmd-1"/>
          <p:cNvSpPr/>
          <p:nvPr/>
        </p:nvSpPr>
        <p:spPr>
          <a:xfrm>
            <a:off x="4663440" y="109728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09728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0972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print chosen fields as a table</a:t>
            </a:r>
            <a:endParaRPr lang="en-US" sz="1300" dirty="0"/>
          </a:p>
        </p:txBody>
      </p:sp>
      <p:sp>
        <p:nvSpPr>
          <p:cNvPr id="10" name="cmd-2"/>
          <p:cNvSpPr/>
          <p:nvPr/>
        </p:nvSpPr>
        <p:spPr>
          <a:xfrm>
            <a:off x="457200" y="184708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84708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8470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split multiallelic sites, left-align indels</a:t>
            </a:r>
            <a:endParaRPr lang="en-US" sz="1300" dirty="0"/>
          </a:p>
        </p:txBody>
      </p:sp>
      <p:sp>
        <p:nvSpPr>
          <p:cNvPr id="13" name="cmd-3"/>
          <p:cNvSpPr/>
          <p:nvPr/>
        </p:nvSpPr>
        <p:spPr>
          <a:xfrm>
            <a:off x="4663440" y="184708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84708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8470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counts, Ts/Tv, genotype summaries</a:t>
            </a:r>
            <a:endParaRPr lang="en-US" sz="1300" dirty="0"/>
          </a:p>
        </p:txBody>
      </p:sp>
      <p:sp>
        <p:nvSpPr>
          <p:cNvPr id="16" name="cmd-4"/>
          <p:cNvSpPr/>
          <p:nvPr/>
        </p:nvSpPr>
        <p:spPr>
          <a:xfrm>
            <a:off x="457200" y="259689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259689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259689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or flag records by an expression</a:t>
            </a:r>
            <a:endParaRPr lang="en-US" sz="1300" dirty="0"/>
          </a:p>
        </p:txBody>
      </p:sp>
      <p:sp>
        <p:nvSpPr>
          <p:cNvPr id="19" name="cmd-5"/>
          <p:cNvSpPr/>
          <p:nvPr/>
        </p:nvSpPr>
        <p:spPr>
          <a:xfrm>
            <a:off x="4663440" y="259689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259689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259689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intersect two files: shared and private variants</a:t>
            </a:r>
            <a:endParaRPr lang="en-US" sz="1300" dirty="0"/>
          </a:p>
        </p:txBody>
      </p:sp>
      <p:sp>
        <p:nvSpPr>
          <p:cNvPr id="22" name="cmd-6"/>
          <p:cNvSpPr/>
          <p:nvPr/>
        </p:nvSpPr>
        <p:spPr>
          <a:xfrm>
            <a:off x="457200" y="334670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3346704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+fill-tags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920240" y="334670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compute allele frequencies, also per group</a:t>
            </a:r>
            <a:endParaRPr lang="en-US" sz="1300" dirty="0"/>
          </a:p>
        </p:txBody>
      </p:sp>
      <p:sp>
        <p:nvSpPr>
          <p:cNvPr id="25" name="cmd-7"/>
          <p:cNvSpPr/>
          <p:nvPr/>
        </p:nvSpPr>
        <p:spPr>
          <a:xfrm>
            <a:off x="4663440" y="334670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846320" y="3346704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+prune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126480" y="334670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 SNPs in strong linkage disequilibrium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First:  bcftools index file.vcf.gz   (creates file.vcf.gz.csi)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How good are my calls?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Comparing with an independent call set for the same person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True positives, false positives, false negatives</a:t>
            </a:r>
            <a:endParaRPr lang="en-US" sz="2800" dirty="0"/>
          </a:p>
        </p:txBody>
      </p:sp>
      <p:sp>
        <p:nvSpPr>
          <p:cNvPr id="4" name="venn-ours"/>
          <p:cNvSpPr/>
          <p:nvPr/>
        </p:nvSpPr>
        <p:spPr>
          <a:xfrm>
            <a:off x="640080" y="1234440"/>
            <a:ext cx="2926080" cy="2926080"/>
          </a:xfrm>
          <a:prstGeom prst="ellipse">
            <a:avLst/>
          </a:prstGeom>
          <a:solidFill>
            <a:srgbClr val="0F7C8C">
              <a:alpha val="65000"/>
            </a:srgbClr>
          </a:solidFill>
          <a:ln/>
        </p:spPr>
      </p:sp>
      <p:sp>
        <p:nvSpPr>
          <p:cNvPr id="5" name="venn-truth"/>
          <p:cNvSpPr/>
          <p:nvPr/>
        </p:nvSpPr>
        <p:spPr>
          <a:xfrm>
            <a:off x="2468880" y="1234440"/>
            <a:ext cx="2926080" cy="2926080"/>
          </a:xfrm>
          <a:prstGeom prst="ellipse">
            <a:avLst/>
          </a:prstGeom>
          <a:solidFill>
            <a:srgbClr val="3D5A80">
              <a:alpha val="65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FP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TP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our calls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truth (1000 Genomes)</a:t>
            </a:r>
            <a:endParaRPr lang="en-US" sz="1300" dirty="0"/>
          </a:p>
        </p:txBody>
      </p:sp>
      <p:sp>
        <p:nvSpPr>
          <p:cNvPr id="11" name="metric-0"/>
          <p:cNvSpPr/>
          <p:nvPr/>
        </p:nvSpPr>
        <p:spPr>
          <a:xfrm>
            <a:off x="5760720" y="1234440"/>
            <a:ext cx="2926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Precision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Of the variants we report, how many are real?</a:t>
            </a:r>
            <a:endParaRPr lang="en-US" sz="1300" dirty="0"/>
          </a:p>
        </p:txBody>
      </p:sp>
      <p:sp>
        <p:nvSpPr>
          <p:cNvPr id="15" name="metric-1"/>
          <p:cNvSpPr/>
          <p:nvPr/>
        </p:nvSpPr>
        <p:spPr>
          <a:xfrm>
            <a:off x="5760720" y="2743200"/>
            <a:ext cx="29260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Recall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Of the real variants, how many did we find?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Compare like with like</a:t>
            </a:r>
            <a:endParaRPr lang="en-US" sz="2800" dirty="0"/>
          </a:p>
        </p:txBody>
      </p:sp>
      <p:sp>
        <p:nvSpPr>
          <p:cNvPr id="4" name="like-0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like-0-label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Callable regions only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4813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Where we had no reads we could not call anything. Counting those sites measures coverage, not the caller.</a:t>
            </a:r>
            <a:endParaRPr lang="en-US" sz="1300" dirty="0"/>
          </a:p>
        </p:txBody>
      </p:sp>
      <p:sp>
        <p:nvSpPr>
          <p:cNvPr id="8" name="like-code-0"/>
          <p:cNvSpPr/>
          <p:nvPr/>
        </p:nvSpPr>
        <p:spPr>
          <a:xfrm>
            <a:off x="5943600" y="1188720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8076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bcftools isec -R callable.bed</a:t>
            </a:r>
            <a:endParaRPr lang="en-US" sz="1100" dirty="0"/>
          </a:p>
        </p:txBody>
      </p:sp>
      <p:sp>
        <p:nvSpPr>
          <p:cNvPr id="10" name="like-1"/>
          <p:cNvSpPr/>
          <p:nvPr/>
        </p:nvSpPr>
        <p:spPr>
          <a:xfrm>
            <a:off x="457200" y="2304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like-1-label"/>
          <p:cNvSpPr txBox="1"/>
          <p:nvPr/>
        </p:nvSpPr>
        <p:spPr>
          <a:xfrm>
            <a:off x="45720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258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notation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5968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Normalise both files: split multiallelic sites and left-align indels.</a:t>
            </a:r>
            <a:endParaRPr lang="en-US" sz="1300" dirty="0"/>
          </a:p>
        </p:txBody>
      </p:sp>
      <p:sp>
        <p:nvSpPr>
          <p:cNvPr id="14" name="like-code-1"/>
          <p:cNvSpPr/>
          <p:nvPr/>
        </p:nvSpPr>
        <p:spPr>
          <a:xfrm>
            <a:off x="5943600" y="2304288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80760" y="230428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bcftools norm -f -m -any</a:t>
            </a:r>
            <a:endParaRPr lang="en-US" sz="1100" dirty="0"/>
          </a:p>
        </p:txBody>
      </p:sp>
      <p:sp>
        <p:nvSpPr>
          <p:cNvPr id="16" name="like-2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like-2-label"/>
          <p:cNvSpPr txBox="1"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3741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truth that is not perfect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7124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30× sequencing, independent pipeline: a fair yardstick, not a gold standard.</a:t>
            </a:r>
            <a:endParaRPr lang="en-US" sz="1300" dirty="0"/>
          </a:p>
        </p:txBody>
      </p:sp>
      <p:sp>
        <p:nvSpPr>
          <p:cNvPr id="20" name="like-code-2"/>
          <p:cNvSpPr/>
          <p:nvPr/>
        </p:nvSpPr>
        <p:spPr>
          <a:xfrm>
            <a:off x="5943600" y="3419856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80760" y="341985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 deeper, independent call 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Same variant, same genotype?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ours \ truth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0/1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1/1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0/1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agree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rare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1/1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common at low depth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agree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missing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common at low depth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9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less common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why-card"/>
          <p:cNvSpPr/>
          <p:nvPr/>
        </p:nvSpPr>
        <p:spPr>
          <a:xfrm>
            <a:off x="5577840" y="1188720"/>
            <a:ext cx="3108960" cy="32004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7607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hets suffer</a:t>
            </a:r>
            <a:endParaRPr lang="en-US" sz="1600" dirty="0"/>
          </a:p>
        </p:txBody>
      </p:sp>
      <p:sp>
        <p:nvSpPr>
          <p:cNvPr id="7" name="why-read-0"/>
          <p:cNvSpPr/>
          <p:nvPr/>
        </p:nvSpPr>
        <p:spPr>
          <a:xfrm>
            <a:off x="5852160" y="1874520"/>
            <a:ext cx="23774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8" name="why-alt-0"/>
          <p:cNvSpPr/>
          <p:nvPr/>
        </p:nvSpPr>
        <p:spPr>
          <a:xfrm>
            <a:off x="6949440" y="187452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why-read-1"/>
          <p:cNvSpPr/>
          <p:nvPr/>
        </p:nvSpPr>
        <p:spPr>
          <a:xfrm>
            <a:off x="5852160" y="2057400"/>
            <a:ext cx="23774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0" name="why-alt-1"/>
          <p:cNvSpPr/>
          <p:nvPr/>
        </p:nvSpPr>
        <p:spPr>
          <a:xfrm>
            <a:off x="6949440" y="205740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why-read-2"/>
          <p:cNvSpPr/>
          <p:nvPr/>
        </p:nvSpPr>
        <p:spPr>
          <a:xfrm>
            <a:off x="5852160" y="2240280"/>
            <a:ext cx="23774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2" name="why-alt-2"/>
          <p:cNvSpPr/>
          <p:nvPr/>
        </p:nvSpPr>
        <p:spPr>
          <a:xfrm>
            <a:off x="6949440" y="224028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760720" y="2560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true 0/1 site covered by 3 reads: with probability 1/8 all three show the alternative base, and it looks like 1/1.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</a:rPr>
              <a:t>Check false negatives in JBrowse2.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HG00418 among 26 populations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Allele frequencies and population structure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1000 Genomes Project at 30×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3,202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</a:rPr>
              <a:t>genomes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</a:rPr>
              <a:t>populations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</a:rPr>
              <a:t>super-populations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30×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</a:rPr>
              <a:t>coverage</a:t>
            </a:r>
            <a:endParaRPr lang="en-US" sz="1400" dirty="0"/>
          </a:p>
        </p:txBody>
      </p:sp>
      <p:sp>
        <p:nvSpPr>
          <p:cNvPr id="12" name="sp-0"/>
          <p:cNvSpPr/>
          <p:nvPr/>
        </p:nvSpPr>
        <p:spPr>
          <a:xfrm>
            <a:off x="457200" y="256032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9992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African</a:t>
            </a:r>
            <a:endParaRPr lang="en-US" sz="1200" dirty="0"/>
          </a:p>
        </p:txBody>
      </p:sp>
      <p:sp>
        <p:nvSpPr>
          <p:cNvPr id="15" name="sp-1"/>
          <p:cNvSpPr/>
          <p:nvPr/>
        </p:nvSpPr>
        <p:spPr>
          <a:xfrm>
            <a:off x="2135124" y="256032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272284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AMR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272284" y="29992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admixed American</a:t>
            </a:r>
            <a:endParaRPr lang="en-US" sz="1200" dirty="0"/>
          </a:p>
        </p:txBody>
      </p:sp>
      <p:sp>
        <p:nvSpPr>
          <p:cNvPr id="18" name="sp-2"/>
          <p:cNvSpPr/>
          <p:nvPr/>
        </p:nvSpPr>
        <p:spPr>
          <a:xfrm>
            <a:off x="3813048" y="256032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950208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29992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East Asian</a:t>
            </a:r>
            <a:endParaRPr lang="en-US" sz="1200" dirty="0"/>
          </a:p>
        </p:txBody>
      </p:sp>
      <p:sp>
        <p:nvSpPr>
          <p:cNvPr id="21" name="sp-3"/>
          <p:cNvSpPr/>
          <p:nvPr/>
        </p:nvSpPr>
        <p:spPr>
          <a:xfrm>
            <a:off x="5490972" y="256032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28132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EUR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28132" y="29992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European</a:t>
            </a:r>
            <a:endParaRPr lang="en-US" sz="1200" dirty="0"/>
          </a:p>
        </p:txBody>
      </p:sp>
      <p:sp>
        <p:nvSpPr>
          <p:cNvPr id="24" name="sp-4"/>
          <p:cNvSpPr/>
          <p:nvPr/>
        </p:nvSpPr>
        <p:spPr>
          <a:xfrm>
            <a:off x="7168896" y="256032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06056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306056" y="29992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South Asian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person's population and super-population: see samples_pop.tsv. The panel keeps only founders.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B75"/>
                </a:solidFill>
              </a:rPr>
              <a:t>Byrska-Bishop et al. (2022) Cell 185:3426–3440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Allele frequency</a:t>
            </a:r>
            <a:endParaRPr lang="en-US" sz="2800" dirty="0"/>
          </a:p>
        </p:txBody>
      </p:sp>
      <p:sp>
        <p:nvSpPr>
          <p:cNvPr id="4" name="af-chr-0-0"/>
          <p:cNvSpPr/>
          <p:nvPr/>
        </p:nvSpPr>
        <p:spPr>
          <a:xfrm>
            <a:off x="548640" y="1417320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5" name="af-al-0-0"/>
          <p:cNvSpPr/>
          <p:nvPr/>
        </p:nvSpPr>
        <p:spPr>
          <a:xfrm>
            <a:off x="777240" y="1371600"/>
            <a:ext cx="237744" cy="237744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6" name="af-chr-0-1"/>
          <p:cNvSpPr/>
          <p:nvPr/>
        </p:nvSpPr>
        <p:spPr>
          <a:xfrm>
            <a:off x="548640" y="1709928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7" name="af-al-0-1"/>
          <p:cNvSpPr/>
          <p:nvPr/>
        </p:nvSpPr>
        <p:spPr>
          <a:xfrm>
            <a:off x="777240" y="1664208"/>
            <a:ext cx="237744" cy="237744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0/0</a:t>
            </a:r>
            <a:endParaRPr lang="en-US" sz="1300" dirty="0"/>
          </a:p>
        </p:txBody>
      </p:sp>
      <p:sp>
        <p:nvSpPr>
          <p:cNvPr id="9" name="af-chr-1-0"/>
          <p:cNvSpPr/>
          <p:nvPr/>
        </p:nvSpPr>
        <p:spPr>
          <a:xfrm>
            <a:off x="1417320" y="1417320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10" name="af-al-1-0"/>
          <p:cNvSpPr/>
          <p:nvPr/>
        </p:nvSpPr>
        <p:spPr>
          <a:xfrm>
            <a:off x="1645920" y="1371600"/>
            <a:ext cx="237744" cy="237744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11" name="af-chr-1-1"/>
          <p:cNvSpPr/>
          <p:nvPr/>
        </p:nvSpPr>
        <p:spPr>
          <a:xfrm>
            <a:off x="1417320" y="1709928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12" name="af-al-1-1"/>
          <p:cNvSpPr/>
          <p:nvPr/>
        </p:nvSpPr>
        <p:spPr>
          <a:xfrm>
            <a:off x="1645920" y="1664208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1732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</a:t>
            </a:r>
            <a:endParaRPr lang="en-US" sz="1300" dirty="0"/>
          </a:p>
        </p:txBody>
      </p:sp>
      <p:sp>
        <p:nvSpPr>
          <p:cNvPr id="14" name="af-chr-2-0"/>
          <p:cNvSpPr/>
          <p:nvPr/>
        </p:nvSpPr>
        <p:spPr>
          <a:xfrm>
            <a:off x="2286000" y="1417320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15" name="af-al-2-0"/>
          <p:cNvSpPr/>
          <p:nvPr/>
        </p:nvSpPr>
        <p:spPr>
          <a:xfrm>
            <a:off x="2514600" y="1371600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af-chr-2-1"/>
          <p:cNvSpPr/>
          <p:nvPr/>
        </p:nvSpPr>
        <p:spPr>
          <a:xfrm>
            <a:off x="2286000" y="1709928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17" name="af-al-2-1"/>
          <p:cNvSpPr/>
          <p:nvPr/>
        </p:nvSpPr>
        <p:spPr>
          <a:xfrm>
            <a:off x="2514600" y="1664208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28600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</a:t>
            </a:r>
            <a:endParaRPr lang="en-US" sz="1300" dirty="0"/>
          </a:p>
        </p:txBody>
      </p:sp>
      <p:sp>
        <p:nvSpPr>
          <p:cNvPr id="19" name="af-chr-3-0"/>
          <p:cNvSpPr/>
          <p:nvPr/>
        </p:nvSpPr>
        <p:spPr>
          <a:xfrm>
            <a:off x="3154680" y="1417320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0" name="af-al-3-0"/>
          <p:cNvSpPr/>
          <p:nvPr/>
        </p:nvSpPr>
        <p:spPr>
          <a:xfrm>
            <a:off x="3383280" y="1371600"/>
            <a:ext cx="237744" cy="237744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21" name="af-chr-3-1"/>
          <p:cNvSpPr/>
          <p:nvPr/>
        </p:nvSpPr>
        <p:spPr>
          <a:xfrm>
            <a:off x="3154680" y="1709928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2" name="af-al-3-1"/>
          <p:cNvSpPr/>
          <p:nvPr/>
        </p:nvSpPr>
        <p:spPr>
          <a:xfrm>
            <a:off x="3383280" y="1664208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15468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</a:t>
            </a:r>
            <a:endParaRPr lang="en-US" sz="1300" dirty="0"/>
          </a:p>
        </p:txBody>
      </p:sp>
      <p:sp>
        <p:nvSpPr>
          <p:cNvPr id="24" name="af-chr-4-0"/>
          <p:cNvSpPr/>
          <p:nvPr/>
        </p:nvSpPr>
        <p:spPr>
          <a:xfrm>
            <a:off x="4023360" y="1417320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5" name="af-al-4-0"/>
          <p:cNvSpPr/>
          <p:nvPr/>
        </p:nvSpPr>
        <p:spPr>
          <a:xfrm>
            <a:off x="4251960" y="1371600"/>
            <a:ext cx="237744" cy="237744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26" name="af-chr-4-1"/>
          <p:cNvSpPr/>
          <p:nvPr/>
        </p:nvSpPr>
        <p:spPr>
          <a:xfrm>
            <a:off x="4023360" y="1709928"/>
            <a:ext cx="685800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7" name="af-al-4-1"/>
          <p:cNvSpPr/>
          <p:nvPr/>
        </p:nvSpPr>
        <p:spPr>
          <a:xfrm>
            <a:off x="4251960" y="1664208"/>
            <a:ext cx="237744" cy="237744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02336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0/0</a:t>
            </a:r>
            <a:endParaRPr lang="en-US" sz="1300" dirty="0"/>
          </a:p>
        </p:txBody>
      </p:sp>
      <p:sp>
        <p:nvSpPr>
          <p:cNvPr id="29" name="af-formula"/>
          <p:cNvSpPr/>
          <p:nvPr/>
        </p:nvSpPr>
        <p:spPr>
          <a:xfrm>
            <a:off x="457200" y="2606040"/>
            <a:ext cx="43434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AF = alternative alleles / (2 × people)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 / (2 × 5) = 0.4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3657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bcftools +fill-tags computes AF for each group: AF_AFR, AF_EAS, AF_EUR …</a:t>
            </a:r>
            <a:endParaRPr lang="en-US" sz="1200" dirty="0"/>
          </a:p>
        </p:txBody>
      </p:sp>
      <p:sp>
        <p:nvSpPr>
          <p:cNvPr id="33" name="af-message"/>
          <p:cNvSpPr/>
          <p:nvPr/>
        </p:nvSpPr>
        <p:spPr>
          <a:xfrm>
            <a:off x="5120640" y="118872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EAF2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3492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you will investigate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349240" y="178308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Common variants: which group has most?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compare the allele frequencies of AFR, EAS and EUR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Some SNPs differ strongly between groups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look them up in Ensembl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SNP does not define ancestry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compare HG00418's genotypes with the group frequencies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Linkage disequilibrium and pruning</a:t>
            </a:r>
            <a:endParaRPr lang="en-US" sz="2800" dirty="0"/>
          </a:p>
        </p:txBody>
      </p:sp>
      <p:sp>
        <p:nvSpPr>
          <p:cNvPr id="4" name="hap-0"/>
          <p:cNvSpPr/>
          <p:nvPr/>
        </p:nvSpPr>
        <p:spPr>
          <a:xfrm>
            <a:off x="640080" y="1444752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5" name="snp-0-0"/>
          <p:cNvSpPr/>
          <p:nvPr/>
        </p:nvSpPr>
        <p:spPr>
          <a:xfrm>
            <a:off x="786384" y="1408176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6" name="snp-0-1"/>
          <p:cNvSpPr/>
          <p:nvPr/>
        </p:nvSpPr>
        <p:spPr>
          <a:xfrm>
            <a:off x="1133856" y="1408176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7" name="snp-0-2"/>
          <p:cNvSpPr/>
          <p:nvPr/>
        </p:nvSpPr>
        <p:spPr>
          <a:xfrm>
            <a:off x="1481328" y="1408176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" name="snp-0-3"/>
          <p:cNvSpPr/>
          <p:nvPr/>
        </p:nvSpPr>
        <p:spPr>
          <a:xfrm>
            <a:off x="1828800" y="1408176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9" name="snp-0-4"/>
          <p:cNvSpPr/>
          <p:nvPr/>
        </p:nvSpPr>
        <p:spPr>
          <a:xfrm>
            <a:off x="2176272" y="1408176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" name="snp-0-5"/>
          <p:cNvSpPr/>
          <p:nvPr/>
        </p:nvSpPr>
        <p:spPr>
          <a:xfrm>
            <a:off x="2523744" y="1408176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snp-0-6"/>
          <p:cNvSpPr/>
          <p:nvPr/>
        </p:nvSpPr>
        <p:spPr>
          <a:xfrm>
            <a:off x="2871216" y="1408176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2" name="snp-0-7"/>
          <p:cNvSpPr/>
          <p:nvPr/>
        </p:nvSpPr>
        <p:spPr>
          <a:xfrm>
            <a:off x="3218688" y="140817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3" name="snp-0-8"/>
          <p:cNvSpPr/>
          <p:nvPr/>
        </p:nvSpPr>
        <p:spPr>
          <a:xfrm>
            <a:off x="3566160" y="140817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4" name="snp-0-9"/>
          <p:cNvSpPr/>
          <p:nvPr/>
        </p:nvSpPr>
        <p:spPr>
          <a:xfrm>
            <a:off x="3913632" y="140817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5" name="snp-0-10"/>
          <p:cNvSpPr/>
          <p:nvPr/>
        </p:nvSpPr>
        <p:spPr>
          <a:xfrm>
            <a:off x="4261104" y="140817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6" name="snp-0-11"/>
          <p:cNvSpPr/>
          <p:nvPr/>
        </p:nvSpPr>
        <p:spPr>
          <a:xfrm>
            <a:off x="4608576" y="140817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7" name="hap-1"/>
          <p:cNvSpPr/>
          <p:nvPr/>
        </p:nvSpPr>
        <p:spPr>
          <a:xfrm>
            <a:off x="640080" y="1746504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18" name="snp-1-0"/>
          <p:cNvSpPr/>
          <p:nvPr/>
        </p:nvSpPr>
        <p:spPr>
          <a:xfrm>
            <a:off x="786384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9" name="snp-1-1"/>
          <p:cNvSpPr/>
          <p:nvPr/>
        </p:nvSpPr>
        <p:spPr>
          <a:xfrm>
            <a:off x="1133856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20" name="snp-1-2"/>
          <p:cNvSpPr/>
          <p:nvPr/>
        </p:nvSpPr>
        <p:spPr>
          <a:xfrm>
            <a:off x="1481328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21" name="snp-1-3"/>
          <p:cNvSpPr/>
          <p:nvPr/>
        </p:nvSpPr>
        <p:spPr>
          <a:xfrm>
            <a:off x="1828800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22" name="snp-1-4"/>
          <p:cNvSpPr/>
          <p:nvPr/>
        </p:nvSpPr>
        <p:spPr>
          <a:xfrm>
            <a:off x="2176272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3" name="snp-1-5"/>
          <p:cNvSpPr/>
          <p:nvPr/>
        </p:nvSpPr>
        <p:spPr>
          <a:xfrm>
            <a:off x="2523744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4" name="snp-1-6"/>
          <p:cNvSpPr/>
          <p:nvPr/>
        </p:nvSpPr>
        <p:spPr>
          <a:xfrm>
            <a:off x="2871216" y="17099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5" name="snp-1-7"/>
          <p:cNvSpPr/>
          <p:nvPr/>
        </p:nvSpPr>
        <p:spPr>
          <a:xfrm>
            <a:off x="3218688" y="170992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26" name="snp-1-8"/>
          <p:cNvSpPr/>
          <p:nvPr/>
        </p:nvSpPr>
        <p:spPr>
          <a:xfrm>
            <a:off x="3566160" y="170992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27" name="snp-1-9"/>
          <p:cNvSpPr/>
          <p:nvPr/>
        </p:nvSpPr>
        <p:spPr>
          <a:xfrm>
            <a:off x="3913632" y="170992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28" name="snp-1-10"/>
          <p:cNvSpPr/>
          <p:nvPr/>
        </p:nvSpPr>
        <p:spPr>
          <a:xfrm>
            <a:off x="4261104" y="170992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29" name="snp-1-11"/>
          <p:cNvSpPr/>
          <p:nvPr/>
        </p:nvSpPr>
        <p:spPr>
          <a:xfrm>
            <a:off x="4608576" y="170992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30" name="hap-2"/>
          <p:cNvSpPr/>
          <p:nvPr/>
        </p:nvSpPr>
        <p:spPr>
          <a:xfrm>
            <a:off x="640080" y="2048256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31" name="snp-2-0"/>
          <p:cNvSpPr/>
          <p:nvPr/>
        </p:nvSpPr>
        <p:spPr>
          <a:xfrm>
            <a:off x="786384" y="20116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32" name="snp-2-1"/>
          <p:cNvSpPr/>
          <p:nvPr/>
        </p:nvSpPr>
        <p:spPr>
          <a:xfrm>
            <a:off x="1133856" y="20116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33" name="snp-2-2"/>
          <p:cNvSpPr/>
          <p:nvPr/>
        </p:nvSpPr>
        <p:spPr>
          <a:xfrm>
            <a:off x="1481328" y="20116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34" name="snp-2-3"/>
          <p:cNvSpPr/>
          <p:nvPr/>
        </p:nvSpPr>
        <p:spPr>
          <a:xfrm>
            <a:off x="1828800" y="20116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35" name="snp-2-4"/>
          <p:cNvSpPr/>
          <p:nvPr/>
        </p:nvSpPr>
        <p:spPr>
          <a:xfrm>
            <a:off x="2176272" y="2011680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6" name="snp-2-5"/>
          <p:cNvSpPr/>
          <p:nvPr/>
        </p:nvSpPr>
        <p:spPr>
          <a:xfrm>
            <a:off x="2523744" y="2011680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7" name="snp-2-6"/>
          <p:cNvSpPr/>
          <p:nvPr/>
        </p:nvSpPr>
        <p:spPr>
          <a:xfrm>
            <a:off x="2871216" y="2011680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8" name="snp-2-7"/>
          <p:cNvSpPr/>
          <p:nvPr/>
        </p:nvSpPr>
        <p:spPr>
          <a:xfrm>
            <a:off x="3218688" y="2011680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39" name="snp-2-8"/>
          <p:cNvSpPr/>
          <p:nvPr/>
        </p:nvSpPr>
        <p:spPr>
          <a:xfrm>
            <a:off x="3566160" y="2011680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40" name="snp-2-9"/>
          <p:cNvSpPr/>
          <p:nvPr/>
        </p:nvSpPr>
        <p:spPr>
          <a:xfrm>
            <a:off x="3913632" y="2011680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41" name="snp-2-10"/>
          <p:cNvSpPr/>
          <p:nvPr/>
        </p:nvSpPr>
        <p:spPr>
          <a:xfrm>
            <a:off x="4261104" y="2011680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42" name="snp-2-11"/>
          <p:cNvSpPr/>
          <p:nvPr/>
        </p:nvSpPr>
        <p:spPr>
          <a:xfrm>
            <a:off x="4608576" y="2011680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43" name="hap-3"/>
          <p:cNvSpPr/>
          <p:nvPr/>
        </p:nvSpPr>
        <p:spPr>
          <a:xfrm>
            <a:off x="640080" y="2350008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44" name="snp-3-0"/>
          <p:cNvSpPr/>
          <p:nvPr/>
        </p:nvSpPr>
        <p:spPr>
          <a:xfrm>
            <a:off x="786384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45" name="snp-3-1"/>
          <p:cNvSpPr/>
          <p:nvPr/>
        </p:nvSpPr>
        <p:spPr>
          <a:xfrm>
            <a:off x="1133856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46" name="snp-3-2"/>
          <p:cNvSpPr/>
          <p:nvPr/>
        </p:nvSpPr>
        <p:spPr>
          <a:xfrm>
            <a:off x="1481328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47" name="snp-3-3"/>
          <p:cNvSpPr/>
          <p:nvPr/>
        </p:nvSpPr>
        <p:spPr>
          <a:xfrm>
            <a:off x="1828800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48" name="snp-3-4"/>
          <p:cNvSpPr/>
          <p:nvPr/>
        </p:nvSpPr>
        <p:spPr>
          <a:xfrm>
            <a:off x="2176272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49" name="snp-3-5"/>
          <p:cNvSpPr/>
          <p:nvPr/>
        </p:nvSpPr>
        <p:spPr>
          <a:xfrm>
            <a:off x="2523744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0" name="snp-3-6"/>
          <p:cNvSpPr/>
          <p:nvPr/>
        </p:nvSpPr>
        <p:spPr>
          <a:xfrm>
            <a:off x="2871216" y="23134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1" name="snp-3-7"/>
          <p:cNvSpPr/>
          <p:nvPr/>
        </p:nvSpPr>
        <p:spPr>
          <a:xfrm>
            <a:off x="3218688" y="2313432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52" name="snp-3-8"/>
          <p:cNvSpPr/>
          <p:nvPr/>
        </p:nvSpPr>
        <p:spPr>
          <a:xfrm>
            <a:off x="3566160" y="2313432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53" name="snp-3-9"/>
          <p:cNvSpPr/>
          <p:nvPr/>
        </p:nvSpPr>
        <p:spPr>
          <a:xfrm>
            <a:off x="3913632" y="2313432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54" name="snp-3-10"/>
          <p:cNvSpPr/>
          <p:nvPr/>
        </p:nvSpPr>
        <p:spPr>
          <a:xfrm>
            <a:off x="4261104" y="2313432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55" name="snp-3-11"/>
          <p:cNvSpPr/>
          <p:nvPr/>
        </p:nvSpPr>
        <p:spPr>
          <a:xfrm>
            <a:off x="4608576" y="2313432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56" name="hap-4"/>
          <p:cNvSpPr/>
          <p:nvPr/>
        </p:nvSpPr>
        <p:spPr>
          <a:xfrm>
            <a:off x="640080" y="2651760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57" name="snp-4-0"/>
          <p:cNvSpPr/>
          <p:nvPr/>
        </p:nvSpPr>
        <p:spPr>
          <a:xfrm>
            <a:off x="786384" y="2615184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58" name="snp-4-1"/>
          <p:cNvSpPr/>
          <p:nvPr/>
        </p:nvSpPr>
        <p:spPr>
          <a:xfrm>
            <a:off x="1133856" y="2615184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59" name="snp-4-2"/>
          <p:cNvSpPr/>
          <p:nvPr/>
        </p:nvSpPr>
        <p:spPr>
          <a:xfrm>
            <a:off x="1481328" y="2615184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60" name="snp-4-3"/>
          <p:cNvSpPr/>
          <p:nvPr/>
        </p:nvSpPr>
        <p:spPr>
          <a:xfrm>
            <a:off x="1828800" y="2615184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61" name="snp-4-4"/>
          <p:cNvSpPr/>
          <p:nvPr/>
        </p:nvSpPr>
        <p:spPr>
          <a:xfrm>
            <a:off x="2176272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2" name="snp-4-5"/>
          <p:cNvSpPr/>
          <p:nvPr/>
        </p:nvSpPr>
        <p:spPr>
          <a:xfrm>
            <a:off x="2523744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3" name="snp-4-6"/>
          <p:cNvSpPr/>
          <p:nvPr/>
        </p:nvSpPr>
        <p:spPr>
          <a:xfrm>
            <a:off x="2871216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4" name="snp-4-7"/>
          <p:cNvSpPr/>
          <p:nvPr/>
        </p:nvSpPr>
        <p:spPr>
          <a:xfrm>
            <a:off x="3218688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65" name="snp-4-8"/>
          <p:cNvSpPr/>
          <p:nvPr/>
        </p:nvSpPr>
        <p:spPr>
          <a:xfrm>
            <a:off x="3566160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66" name="snp-4-9"/>
          <p:cNvSpPr/>
          <p:nvPr/>
        </p:nvSpPr>
        <p:spPr>
          <a:xfrm>
            <a:off x="3913632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67" name="snp-4-10"/>
          <p:cNvSpPr/>
          <p:nvPr/>
        </p:nvSpPr>
        <p:spPr>
          <a:xfrm>
            <a:off x="4261104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68" name="snp-4-11"/>
          <p:cNvSpPr/>
          <p:nvPr/>
        </p:nvSpPr>
        <p:spPr>
          <a:xfrm>
            <a:off x="4608576" y="261518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69" name="hap-5"/>
          <p:cNvSpPr/>
          <p:nvPr/>
        </p:nvSpPr>
        <p:spPr>
          <a:xfrm>
            <a:off x="640080" y="2953512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70" name="snp-5-0"/>
          <p:cNvSpPr/>
          <p:nvPr/>
        </p:nvSpPr>
        <p:spPr>
          <a:xfrm>
            <a:off x="786384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71" name="snp-5-1"/>
          <p:cNvSpPr/>
          <p:nvPr/>
        </p:nvSpPr>
        <p:spPr>
          <a:xfrm>
            <a:off x="1133856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72" name="snp-5-2"/>
          <p:cNvSpPr/>
          <p:nvPr/>
        </p:nvSpPr>
        <p:spPr>
          <a:xfrm>
            <a:off x="1481328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73" name="snp-5-3"/>
          <p:cNvSpPr/>
          <p:nvPr/>
        </p:nvSpPr>
        <p:spPr>
          <a:xfrm>
            <a:off x="1828800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74" name="snp-5-4"/>
          <p:cNvSpPr/>
          <p:nvPr/>
        </p:nvSpPr>
        <p:spPr>
          <a:xfrm>
            <a:off x="2176272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5" name="snp-5-5"/>
          <p:cNvSpPr/>
          <p:nvPr/>
        </p:nvSpPr>
        <p:spPr>
          <a:xfrm>
            <a:off x="2523744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6" name="snp-5-6"/>
          <p:cNvSpPr/>
          <p:nvPr/>
        </p:nvSpPr>
        <p:spPr>
          <a:xfrm>
            <a:off x="2871216" y="2916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7" name="snp-5-7"/>
          <p:cNvSpPr/>
          <p:nvPr/>
        </p:nvSpPr>
        <p:spPr>
          <a:xfrm>
            <a:off x="3218688" y="291693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78" name="snp-5-8"/>
          <p:cNvSpPr/>
          <p:nvPr/>
        </p:nvSpPr>
        <p:spPr>
          <a:xfrm>
            <a:off x="3566160" y="291693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79" name="snp-5-9"/>
          <p:cNvSpPr/>
          <p:nvPr/>
        </p:nvSpPr>
        <p:spPr>
          <a:xfrm>
            <a:off x="3913632" y="291693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80" name="snp-5-10"/>
          <p:cNvSpPr/>
          <p:nvPr/>
        </p:nvSpPr>
        <p:spPr>
          <a:xfrm>
            <a:off x="4261104" y="291693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81" name="snp-5-11"/>
          <p:cNvSpPr/>
          <p:nvPr/>
        </p:nvSpPr>
        <p:spPr>
          <a:xfrm>
            <a:off x="4608576" y="2916936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82" name="hap-6"/>
          <p:cNvSpPr/>
          <p:nvPr/>
        </p:nvSpPr>
        <p:spPr>
          <a:xfrm>
            <a:off x="640080" y="3255264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83" name="snp-6-0"/>
          <p:cNvSpPr/>
          <p:nvPr/>
        </p:nvSpPr>
        <p:spPr>
          <a:xfrm>
            <a:off x="786384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4" name="snp-6-1"/>
          <p:cNvSpPr/>
          <p:nvPr/>
        </p:nvSpPr>
        <p:spPr>
          <a:xfrm>
            <a:off x="1133856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5" name="snp-6-2"/>
          <p:cNvSpPr/>
          <p:nvPr/>
        </p:nvSpPr>
        <p:spPr>
          <a:xfrm>
            <a:off x="1481328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6" name="snp-6-3"/>
          <p:cNvSpPr/>
          <p:nvPr/>
        </p:nvSpPr>
        <p:spPr>
          <a:xfrm>
            <a:off x="1828800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7" name="snp-6-4"/>
          <p:cNvSpPr/>
          <p:nvPr/>
        </p:nvSpPr>
        <p:spPr>
          <a:xfrm>
            <a:off x="2176272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8" name="snp-6-5"/>
          <p:cNvSpPr/>
          <p:nvPr/>
        </p:nvSpPr>
        <p:spPr>
          <a:xfrm>
            <a:off x="2523744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9" name="snp-6-6"/>
          <p:cNvSpPr/>
          <p:nvPr/>
        </p:nvSpPr>
        <p:spPr>
          <a:xfrm>
            <a:off x="2871216" y="32186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90" name="snp-6-7"/>
          <p:cNvSpPr/>
          <p:nvPr/>
        </p:nvSpPr>
        <p:spPr>
          <a:xfrm>
            <a:off x="3218688" y="321868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91" name="snp-6-8"/>
          <p:cNvSpPr/>
          <p:nvPr/>
        </p:nvSpPr>
        <p:spPr>
          <a:xfrm>
            <a:off x="3566160" y="321868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92" name="snp-6-9"/>
          <p:cNvSpPr/>
          <p:nvPr/>
        </p:nvSpPr>
        <p:spPr>
          <a:xfrm>
            <a:off x="3913632" y="321868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93" name="snp-6-10"/>
          <p:cNvSpPr/>
          <p:nvPr/>
        </p:nvSpPr>
        <p:spPr>
          <a:xfrm>
            <a:off x="4261104" y="321868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94" name="snp-6-11"/>
          <p:cNvSpPr/>
          <p:nvPr/>
        </p:nvSpPr>
        <p:spPr>
          <a:xfrm>
            <a:off x="4608576" y="3218688"/>
            <a:ext cx="201168" cy="201168"/>
          </a:xfrm>
          <a:prstGeom prst="ellipse">
            <a:avLst/>
          </a:prstGeom>
          <a:solidFill>
            <a:srgbClr val="4F8A5B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95" name="hap-7"/>
          <p:cNvSpPr/>
          <p:nvPr/>
        </p:nvSpPr>
        <p:spPr>
          <a:xfrm>
            <a:off x="640080" y="3557016"/>
            <a:ext cx="4261104" cy="128016"/>
          </a:xfrm>
          <a:prstGeom prst="roundRect">
            <a:avLst>
              <a:gd name="adj" fmla="val 50000"/>
            </a:avLst>
          </a:prstGeom>
          <a:solidFill>
            <a:srgbClr val="E3E9EC"/>
          </a:solidFill>
          <a:ln/>
        </p:spPr>
      </p:sp>
      <p:sp>
        <p:nvSpPr>
          <p:cNvPr id="96" name="snp-7-0"/>
          <p:cNvSpPr/>
          <p:nvPr/>
        </p:nvSpPr>
        <p:spPr>
          <a:xfrm>
            <a:off x="786384" y="3520440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97" name="snp-7-1"/>
          <p:cNvSpPr/>
          <p:nvPr/>
        </p:nvSpPr>
        <p:spPr>
          <a:xfrm>
            <a:off x="1133856" y="3520440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98" name="snp-7-2"/>
          <p:cNvSpPr/>
          <p:nvPr/>
        </p:nvSpPr>
        <p:spPr>
          <a:xfrm>
            <a:off x="1481328" y="3520440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99" name="snp-7-3"/>
          <p:cNvSpPr/>
          <p:nvPr/>
        </p:nvSpPr>
        <p:spPr>
          <a:xfrm>
            <a:off x="1828800" y="3520440"/>
            <a:ext cx="201168" cy="201168"/>
          </a:xfrm>
          <a:prstGeom prst="ellipse">
            <a:avLst/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00" name="snp-7-4"/>
          <p:cNvSpPr/>
          <p:nvPr/>
        </p:nvSpPr>
        <p:spPr>
          <a:xfrm>
            <a:off x="2176272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1" name="snp-7-5"/>
          <p:cNvSpPr/>
          <p:nvPr/>
        </p:nvSpPr>
        <p:spPr>
          <a:xfrm>
            <a:off x="2523744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2" name="snp-7-6"/>
          <p:cNvSpPr/>
          <p:nvPr/>
        </p:nvSpPr>
        <p:spPr>
          <a:xfrm>
            <a:off x="2871216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3" name="snp-7-7"/>
          <p:cNvSpPr/>
          <p:nvPr/>
        </p:nvSpPr>
        <p:spPr>
          <a:xfrm>
            <a:off x="3218688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04" name="snp-7-8"/>
          <p:cNvSpPr/>
          <p:nvPr/>
        </p:nvSpPr>
        <p:spPr>
          <a:xfrm>
            <a:off x="3566160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05" name="snp-7-9"/>
          <p:cNvSpPr/>
          <p:nvPr/>
        </p:nvSpPr>
        <p:spPr>
          <a:xfrm>
            <a:off x="3913632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06" name="snp-7-10"/>
          <p:cNvSpPr/>
          <p:nvPr/>
        </p:nvSpPr>
        <p:spPr>
          <a:xfrm>
            <a:off x="4261104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07" name="snp-7-11"/>
          <p:cNvSpPr/>
          <p:nvPr/>
        </p:nvSpPr>
        <p:spPr>
          <a:xfrm>
            <a:off x="4608576" y="35204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8A5B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731520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C"/>
                </a:solidFill>
              </a:rPr>
              <a:t>block 1</a:t>
            </a:r>
            <a:endParaRPr lang="en-US" sz="1200" dirty="0"/>
          </a:p>
        </p:txBody>
      </p:sp>
      <p:sp>
        <p:nvSpPr>
          <p:cNvPr id="109" name="keep-0"/>
          <p:cNvSpPr/>
          <p:nvPr/>
        </p:nvSpPr>
        <p:spPr>
          <a:xfrm flipV="1">
            <a:off x="1581912" y="4169664"/>
            <a:ext cx="914" cy="301752"/>
          </a:xfrm>
          <a:prstGeom prst="line">
            <a:avLst/>
          </a:prstGeom>
          <a:noFill/>
          <a:ln w="25400">
            <a:solidFill>
              <a:srgbClr val="0F7C8C"/>
            </a:solidFill>
            <a:prstDash val="solid"/>
            <a:tailEnd type="triangle"/>
          </a:ln>
        </p:spPr>
      </p:sp>
      <p:sp>
        <p:nvSpPr>
          <p:cNvPr id="110" name="Text 107"/>
          <p:cNvSpPr txBox="1"/>
          <p:nvPr/>
        </p:nvSpPr>
        <p:spPr>
          <a:xfrm>
            <a:off x="2121408" y="38587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</a:rPr>
              <a:t>block 2</a:t>
            </a:r>
            <a:endParaRPr lang="en-US" sz="1200" dirty="0"/>
          </a:p>
        </p:txBody>
      </p:sp>
      <p:sp>
        <p:nvSpPr>
          <p:cNvPr id="111" name="keep-1"/>
          <p:cNvSpPr/>
          <p:nvPr/>
        </p:nvSpPr>
        <p:spPr>
          <a:xfrm flipV="1">
            <a:off x="2624328" y="4169664"/>
            <a:ext cx="914" cy="30175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2" name="Text 109"/>
          <p:cNvSpPr txBox="1"/>
          <p:nvPr/>
        </p:nvSpPr>
        <p:spPr>
          <a:xfrm>
            <a:off x="3163824" y="3858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8A5B"/>
                </a:solidFill>
              </a:rPr>
              <a:t>block 3</a:t>
            </a:r>
            <a:endParaRPr lang="en-US" sz="1200" dirty="0"/>
          </a:p>
        </p:txBody>
      </p:sp>
      <p:sp>
        <p:nvSpPr>
          <p:cNvPr id="113" name="keep-2"/>
          <p:cNvSpPr/>
          <p:nvPr/>
        </p:nvSpPr>
        <p:spPr>
          <a:xfrm flipV="1">
            <a:off x="4014216" y="4169664"/>
            <a:ext cx="914" cy="301752"/>
          </a:xfrm>
          <a:prstGeom prst="line">
            <a:avLst/>
          </a:prstGeom>
          <a:noFill/>
          <a:ln w="25400">
            <a:solidFill>
              <a:srgbClr val="4F8A5B"/>
            </a:solidFill>
            <a:prstDash val="solid"/>
            <a:tailEnd type="triangle"/>
          </a:ln>
        </p:spPr>
      </p:sp>
      <p:sp>
        <p:nvSpPr>
          <p:cNvPr id="114" name="Text 111"/>
          <p:cNvSpPr txBox="1"/>
          <p:nvPr/>
        </p:nvSpPr>
        <p:spPr>
          <a:xfrm>
            <a:off x="731520" y="449884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keep one SNP per block</a:t>
            </a:r>
            <a:endParaRPr lang="en-US" sz="1200" dirty="0"/>
          </a:p>
        </p:txBody>
      </p:sp>
      <p:sp>
        <p:nvSpPr>
          <p:cNvPr id="115" name="ld-card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5669280" y="13716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Neighbouring SNPs travel together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Within a block, knowing one SNP predicts the others.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Why prune before a PCA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large block would otherwise dominate the result.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bcftools +prune -m 0.2 -w 50kb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PCA: thousands of genotypes, two coordinates</a:t>
            </a:r>
            <a:endParaRPr lang="en-US" sz="2800" dirty="0"/>
          </a:p>
        </p:txBody>
      </p:sp>
      <p:sp>
        <p:nvSpPr>
          <p:cNvPr id="4" name="pca-step-0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ca-step-0-label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Genotype matrix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people × SNPs, values 0 / 1 / 2</a:t>
            </a:r>
            <a:endParaRPr lang="en-US" sz="1300" dirty="0"/>
          </a:p>
        </p:txBody>
      </p:sp>
      <p:sp>
        <p:nvSpPr>
          <p:cNvPr id="8" name="pca-arrow-0"/>
          <p:cNvSpPr/>
          <p:nvPr/>
        </p:nvSpPr>
        <p:spPr>
          <a:xfrm>
            <a:off x="658368" y="1664208"/>
            <a:ext cx="914" cy="51206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9" name="pca-step-1"/>
          <p:cNvSpPr/>
          <p:nvPr/>
        </p:nvSpPr>
        <p:spPr>
          <a:xfrm>
            <a:off x="457200" y="22128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ca-step-1-label"/>
          <p:cNvSpPr txBox="1"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Scale each SNP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by its allele frequency</a:t>
            </a:r>
            <a:endParaRPr lang="en-US" sz="1300" dirty="0"/>
          </a:p>
        </p:txBody>
      </p:sp>
      <p:sp>
        <p:nvSpPr>
          <p:cNvPr id="13" name="pca-arrow-1"/>
          <p:cNvSpPr/>
          <p:nvPr/>
        </p:nvSpPr>
        <p:spPr>
          <a:xfrm>
            <a:off x="658368" y="2688336"/>
            <a:ext cx="914" cy="51206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14" name="pca-step-2"/>
          <p:cNvSpPr/>
          <p:nvPr/>
        </p:nvSpPr>
        <p:spPr>
          <a:xfrm>
            <a:off x="457200" y="323697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ca-step-2-label"/>
          <p:cNvSpPr txBox="1"/>
          <p:nvPr/>
        </p:nvSpPr>
        <p:spPr>
          <a:xfrm>
            <a:off x="45720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Principal components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PC1, PC2 … per person</a:t>
            </a:r>
            <a:endParaRPr lang="en-US" sz="1300" dirty="0"/>
          </a:p>
        </p:txBody>
      </p:sp>
      <p:sp>
        <p:nvSpPr>
          <p:cNvPr id="18" name="pca-plot"/>
          <p:cNvSpPr/>
          <p:nvPr/>
        </p:nvSpPr>
        <p:spPr>
          <a:xfrm>
            <a:off x="4023360" y="1097280"/>
            <a:ext cx="46634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19" name="pt-0-0"/>
          <p:cNvSpPr/>
          <p:nvPr/>
        </p:nvSpPr>
        <p:spPr>
          <a:xfrm>
            <a:off x="4774032" y="1669548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pt-0-1"/>
          <p:cNvSpPr/>
          <p:nvPr/>
        </p:nvSpPr>
        <p:spPr>
          <a:xfrm>
            <a:off x="4744717" y="1801245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pt-0-2"/>
          <p:cNvSpPr/>
          <p:nvPr/>
        </p:nvSpPr>
        <p:spPr>
          <a:xfrm>
            <a:off x="4860866" y="1740153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pt-0-3"/>
          <p:cNvSpPr/>
          <p:nvPr/>
        </p:nvSpPr>
        <p:spPr>
          <a:xfrm>
            <a:off x="4870874" y="2019531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pt-0-4"/>
          <p:cNvSpPr/>
          <p:nvPr/>
        </p:nvSpPr>
        <p:spPr>
          <a:xfrm>
            <a:off x="4739845" y="1973750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pt-0-5"/>
          <p:cNvSpPr/>
          <p:nvPr/>
        </p:nvSpPr>
        <p:spPr>
          <a:xfrm>
            <a:off x="4825723" y="1636997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pt-0-6"/>
          <p:cNvSpPr/>
          <p:nvPr/>
        </p:nvSpPr>
        <p:spPr>
          <a:xfrm>
            <a:off x="4699596" y="2016533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pt-0-7"/>
          <p:cNvSpPr/>
          <p:nvPr/>
        </p:nvSpPr>
        <p:spPr>
          <a:xfrm>
            <a:off x="5130814" y="1729599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pt-0-8"/>
          <p:cNvSpPr/>
          <p:nvPr/>
        </p:nvSpPr>
        <p:spPr>
          <a:xfrm>
            <a:off x="5209136" y="1894623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pt-0-9"/>
          <p:cNvSpPr/>
          <p:nvPr/>
        </p:nvSpPr>
        <p:spPr>
          <a:xfrm>
            <a:off x="5036516" y="1711657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pt-0-10"/>
          <p:cNvSpPr/>
          <p:nvPr/>
        </p:nvSpPr>
        <p:spPr>
          <a:xfrm>
            <a:off x="4641839" y="1758950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0" name="pt-0-11"/>
          <p:cNvSpPr/>
          <p:nvPr/>
        </p:nvSpPr>
        <p:spPr>
          <a:xfrm>
            <a:off x="4921885" y="1956073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pt-0-12"/>
          <p:cNvSpPr/>
          <p:nvPr/>
        </p:nvSpPr>
        <p:spPr>
          <a:xfrm>
            <a:off x="4923531" y="1850661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pt-0-13"/>
          <p:cNvSpPr/>
          <p:nvPr/>
        </p:nvSpPr>
        <p:spPr>
          <a:xfrm>
            <a:off x="4982199" y="1939853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66344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572E"/>
                </a:solidFill>
              </a:rPr>
              <a:t>AFR</a:t>
            </a:r>
            <a:endParaRPr lang="en-US" sz="1100" dirty="0"/>
          </a:p>
        </p:txBody>
      </p:sp>
      <p:sp>
        <p:nvSpPr>
          <p:cNvPr id="34" name="pt-1-0"/>
          <p:cNvSpPr/>
          <p:nvPr/>
        </p:nvSpPr>
        <p:spPr>
          <a:xfrm>
            <a:off x="6740962" y="2814918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35" name="pt-1-1"/>
          <p:cNvSpPr/>
          <p:nvPr/>
        </p:nvSpPr>
        <p:spPr>
          <a:xfrm>
            <a:off x="6883551" y="2906737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36" name="pt-1-2"/>
          <p:cNvSpPr/>
          <p:nvPr/>
        </p:nvSpPr>
        <p:spPr>
          <a:xfrm>
            <a:off x="6830824" y="2821930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37" name="pt-1-3"/>
          <p:cNvSpPr/>
          <p:nvPr/>
        </p:nvSpPr>
        <p:spPr>
          <a:xfrm>
            <a:off x="6661628" y="2767583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38" name="pt-1-4"/>
          <p:cNvSpPr/>
          <p:nvPr/>
        </p:nvSpPr>
        <p:spPr>
          <a:xfrm>
            <a:off x="6829034" y="2984512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39" name="pt-1-5"/>
          <p:cNvSpPr/>
          <p:nvPr/>
        </p:nvSpPr>
        <p:spPr>
          <a:xfrm>
            <a:off x="6986736" y="3088811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0" name="pt-1-6"/>
          <p:cNvSpPr/>
          <p:nvPr/>
        </p:nvSpPr>
        <p:spPr>
          <a:xfrm>
            <a:off x="6835534" y="3152080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1" name="pt-1-7"/>
          <p:cNvSpPr/>
          <p:nvPr/>
        </p:nvSpPr>
        <p:spPr>
          <a:xfrm>
            <a:off x="6668404" y="3019356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2" name="pt-1-8"/>
          <p:cNvSpPr/>
          <p:nvPr/>
        </p:nvSpPr>
        <p:spPr>
          <a:xfrm>
            <a:off x="6936057" y="2839345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3" name="pt-1-9"/>
          <p:cNvSpPr/>
          <p:nvPr/>
        </p:nvSpPr>
        <p:spPr>
          <a:xfrm>
            <a:off x="6723027" y="2772514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4" name="pt-1-10"/>
          <p:cNvSpPr/>
          <p:nvPr/>
        </p:nvSpPr>
        <p:spPr>
          <a:xfrm>
            <a:off x="6798209" y="3245633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5" name="pt-1-11"/>
          <p:cNvSpPr/>
          <p:nvPr/>
        </p:nvSpPr>
        <p:spPr>
          <a:xfrm>
            <a:off x="6559842" y="2874545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6" name="pt-1-12"/>
          <p:cNvSpPr/>
          <p:nvPr/>
        </p:nvSpPr>
        <p:spPr>
          <a:xfrm>
            <a:off x="7060904" y="3200376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7" name="pt-1-13"/>
          <p:cNvSpPr/>
          <p:nvPr/>
        </p:nvSpPr>
        <p:spPr>
          <a:xfrm>
            <a:off x="6885858" y="2891192"/>
            <a:ext cx="82296" cy="82296"/>
          </a:xfrm>
          <a:prstGeom prst="ellipse">
            <a:avLst/>
          </a:prstGeom>
          <a:solidFill>
            <a:srgbClr val="0F7C8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492240" y="3337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C"/>
                </a:solidFill>
              </a:rPr>
              <a:t>EUR</a:t>
            </a:r>
            <a:endParaRPr lang="en-US" sz="1100" dirty="0"/>
          </a:p>
        </p:txBody>
      </p:sp>
      <p:sp>
        <p:nvSpPr>
          <p:cNvPr id="49" name="pt-2-0"/>
          <p:cNvSpPr/>
          <p:nvPr/>
        </p:nvSpPr>
        <p:spPr>
          <a:xfrm>
            <a:off x="7800836" y="1655613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0" name="pt-2-1"/>
          <p:cNvSpPr/>
          <p:nvPr/>
        </p:nvSpPr>
        <p:spPr>
          <a:xfrm>
            <a:off x="7652578" y="1503078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1" name="pt-2-2"/>
          <p:cNvSpPr/>
          <p:nvPr/>
        </p:nvSpPr>
        <p:spPr>
          <a:xfrm>
            <a:off x="7840761" y="1778476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2" name="pt-2-3"/>
          <p:cNvSpPr/>
          <p:nvPr/>
        </p:nvSpPr>
        <p:spPr>
          <a:xfrm>
            <a:off x="7449606" y="1846898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3" name="pt-2-4"/>
          <p:cNvSpPr/>
          <p:nvPr/>
        </p:nvSpPr>
        <p:spPr>
          <a:xfrm>
            <a:off x="7544190" y="1535337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4" name="pt-2-5"/>
          <p:cNvSpPr/>
          <p:nvPr/>
        </p:nvSpPr>
        <p:spPr>
          <a:xfrm>
            <a:off x="7709827" y="1796289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5" name="pt-2-6"/>
          <p:cNvSpPr/>
          <p:nvPr/>
        </p:nvSpPr>
        <p:spPr>
          <a:xfrm>
            <a:off x="7659866" y="1596460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6" name="pt-2-7"/>
          <p:cNvSpPr/>
          <p:nvPr/>
        </p:nvSpPr>
        <p:spPr>
          <a:xfrm>
            <a:off x="7968746" y="1834314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7" name="pt-2-8"/>
          <p:cNvSpPr/>
          <p:nvPr/>
        </p:nvSpPr>
        <p:spPr>
          <a:xfrm>
            <a:off x="7820737" y="1622557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8" name="pt-2-9"/>
          <p:cNvSpPr/>
          <p:nvPr/>
        </p:nvSpPr>
        <p:spPr>
          <a:xfrm>
            <a:off x="7384156" y="1893280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9" name="pt-2-10"/>
          <p:cNvSpPr/>
          <p:nvPr/>
        </p:nvSpPr>
        <p:spPr>
          <a:xfrm>
            <a:off x="7822129" y="1611753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0" name="pt-2-11"/>
          <p:cNvSpPr/>
          <p:nvPr/>
        </p:nvSpPr>
        <p:spPr>
          <a:xfrm>
            <a:off x="7399793" y="1640113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1" name="pt-2-12"/>
          <p:cNvSpPr/>
          <p:nvPr/>
        </p:nvSpPr>
        <p:spPr>
          <a:xfrm>
            <a:off x="7922913" y="1565394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2" name="pt-2-13"/>
          <p:cNvSpPr/>
          <p:nvPr/>
        </p:nvSpPr>
        <p:spPr>
          <a:xfrm>
            <a:off x="7396237" y="1803435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7406640" y="2057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</a:rPr>
              <a:t>EAS</a:t>
            </a:r>
            <a:endParaRPr lang="en-US" sz="1100" dirty="0"/>
          </a:p>
        </p:txBody>
      </p:sp>
      <p:sp>
        <p:nvSpPr>
          <p:cNvPr id="64" name="pt-3-0"/>
          <p:cNvSpPr/>
          <p:nvPr/>
        </p:nvSpPr>
        <p:spPr>
          <a:xfrm>
            <a:off x="6219439" y="213805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5" name="pt-3-1"/>
          <p:cNvSpPr/>
          <p:nvPr/>
        </p:nvSpPr>
        <p:spPr>
          <a:xfrm>
            <a:off x="6180668" y="197818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6" name="pt-3-2"/>
          <p:cNvSpPr/>
          <p:nvPr/>
        </p:nvSpPr>
        <p:spPr>
          <a:xfrm>
            <a:off x="6663917" y="23419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7" name="pt-3-3"/>
          <p:cNvSpPr/>
          <p:nvPr/>
        </p:nvSpPr>
        <p:spPr>
          <a:xfrm>
            <a:off x="6325107" y="2356565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8" name="pt-3-4"/>
          <p:cNvSpPr/>
          <p:nvPr/>
        </p:nvSpPr>
        <p:spPr>
          <a:xfrm>
            <a:off x="6653373" y="2114545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9" name="pt-3-5"/>
          <p:cNvSpPr/>
          <p:nvPr/>
        </p:nvSpPr>
        <p:spPr>
          <a:xfrm>
            <a:off x="6361254" y="2420933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0" name="pt-3-6"/>
          <p:cNvSpPr/>
          <p:nvPr/>
        </p:nvSpPr>
        <p:spPr>
          <a:xfrm>
            <a:off x="6244439" y="2185021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1" name="pt-3-7"/>
          <p:cNvSpPr/>
          <p:nvPr/>
        </p:nvSpPr>
        <p:spPr>
          <a:xfrm>
            <a:off x="6325134" y="242425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2" name="pt-3-8"/>
          <p:cNvSpPr/>
          <p:nvPr/>
        </p:nvSpPr>
        <p:spPr>
          <a:xfrm>
            <a:off x="6319875" y="225869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3" name="pt-3-9"/>
          <p:cNvSpPr/>
          <p:nvPr/>
        </p:nvSpPr>
        <p:spPr>
          <a:xfrm>
            <a:off x="6218968" y="1951073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4" name="pt-3-10"/>
          <p:cNvSpPr/>
          <p:nvPr/>
        </p:nvSpPr>
        <p:spPr>
          <a:xfrm>
            <a:off x="6718223" y="213958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5" name="pt-3-11"/>
          <p:cNvSpPr/>
          <p:nvPr/>
        </p:nvSpPr>
        <p:spPr>
          <a:xfrm>
            <a:off x="6561444" y="200193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6" name="pt-3-12"/>
          <p:cNvSpPr/>
          <p:nvPr/>
        </p:nvSpPr>
        <p:spPr>
          <a:xfrm>
            <a:off x="6536850" y="216974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7" name="pt-3-13"/>
          <p:cNvSpPr/>
          <p:nvPr/>
        </p:nvSpPr>
        <p:spPr>
          <a:xfrm>
            <a:off x="6275766" y="226513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612648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</a:rPr>
              <a:t>SAS</a:t>
            </a:r>
            <a:endParaRPr lang="en-US" sz="1100" dirty="0"/>
          </a:p>
        </p:txBody>
      </p:sp>
      <p:sp>
        <p:nvSpPr>
          <p:cNvPr id="79" name="pt-4-0"/>
          <p:cNvSpPr/>
          <p:nvPr/>
        </p:nvSpPr>
        <p:spPr>
          <a:xfrm>
            <a:off x="6144047" y="3147610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0" name="pt-4-1"/>
          <p:cNvSpPr/>
          <p:nvPr/>
        </p:nvSpPr>
        <p:spPr>
          <a:xfrm>
            <a:off x="5852217" y="3104990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1" name="pt-4-2"/>
          <p:cNvSpPr/>
          <p:nvPr/>
        </p:nvSpPr>
        <p:spPr>
          <a:xfrm>
            <a:off x="6115299" y="3361482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2" name="pt-4-3"/>
          <p:cNvSpPr/>
          <p:nvPr/>
        </p:nvSpPr>
        <p:spPr>
          <a:xfrm>
            <a:off x="5959690" y="3176037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3" name="pt-4-4"/>
          <p:cNvSpPr/>
          <p:nvPr/>
        </p:nvSpPr>
        <p:spPr>
          <a:xfrm>
            <a:off x="6149814" y="3484472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4" name="pt-4-5"/>
          <p:cNvSpPr/>
          <p:nvPr/>
        </p:nvSpPr>
        <p:spPr>
          <a:xfrm>
            <a:off x="5922487" y="3221065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5" name="pt-4-6"/>
          <p:cNvSpPr/>
          <p:nvPr/>
        </p:nvSpPr>
        <p:spPr>
          <a:xfrm>
            <a:off x="5903281" y="3365360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6" name="pt-4-7"/>
          <p:cNvSpPr/>
          <p:nvPr/>
        </p:nvSpPr>
        <p:spPr>
          <a:xfrm>
            <a:off x="5998559" y="3419154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7" name="pt-4-8"/>
          <p:cNvSpPr/>
          <p:nvPr/>
        </p:nvSpPr>
        <p:spPr>
          <a:xfrm>
            <a:off x="5992342" y="3221921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8" name="pt-4-9"/>
          <p:cNvSpPr/>
          <p:nvPr/>
        </p:nvSpPr>
        <p:spPr>
          <a:xfrm>
            <a:off x="6034004" y="3081291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89" name="pt-4-10"/>
          <p:cNvSpPr/>
          <p:nvPr/>
        </p:nvSpPr>
        <p:spPr>
          <a:xfrm>
            <a:off x="6306138" y="3352420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90" name="pt-4-11"/>
          <p:cNvSpPr/>
          <p:nvPr/>
        </p:nvSpPr>
        <p:spPr>
          <a:xfrm>
            <a:off x="6030205" y="3158623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91" name="pt-4-12"/>
          <p:cNvSpPr/>
          <p:nvPr/>
        </p:nvSpPr>
        <p:spPr>
          <a:xfrm>
            <a:off x="5961186" y="3281800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92" name="pt-4-13"/>
          <p:cNvSpPr/>
          <p:nvPr/>
        </p:nvSpPr>
        <p:spPr>
          <a:xfrm>
            <a:off x="5999008" y="3238709"/>
            <a:ext cx="82296" cy="82296"/>
          </a:xfrm>
          <a:prstGeom prst="ellipse">
            <a:avLst/>
          </a:prstGeom>
          <a:solidFill>
            <a:srgbClr val="4F8A5B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585216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AMR</a:t>
            </a:r>
            <a:endParaRPr lang="en-US" sz="1100" dirty="0"/>
          </a:p>
        </p:txBody>
      </p:sp>
      <p:sp>
        <p:nvSpPr>
          <p:cNvPr id="94" name="pt-person"/>
          <p:cNvSpPr/>
          <p:nvPr/>
        </p:nvSpPr>
        <p:spPr>
          <a:xfrm>
            <a:off x="7607808" y="1664208"/>
            <a:ext cx="219456" cy="219456"/>
          </a:xfrm>
          <a:prstGeom prst="ellipse">
            <a:avLst/>
          </a:prstGeom>
          <a:ln w="25400">
            <a:solidFill>
              <a:srgbClr val="1B2B34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7863840" y="1417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one person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603504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PC1</a:t>
            </a:r>
            <a:endParaRPr lang="en-US" sz="1100" dirty="0"/>
          </a:p>
        </p:txBody>
      </p:sp>
      <p:sp>
        <p:nvSpPr>
          <p:cNvPr id="97" name="Text 94"/>
          <p:cNvSpPr txBox="1"/>
          <p:nvPr/>
        </p:nvSpPr>
        <p:spPr>
          <a:xfrm>
            <a:off x="4114800" y="2377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PC2</a:t>
            </a:r>
            <a:endParaRPr lang="en-US" sz="1100" dirty="0"/>
          </a:p>
        </p:txBody>
      </p:sp>
      <p:sp>
        <p:nvSpPr>
          <p:cNvPr id="98" name="Text 95"/>
          <p:cNvSpPr txBox="1"/>
          <p:nvPr/>
        </p:nvSpPr>
        <p:spPr>
          <a:xfrm>
            <a:off x="777240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6B75"/>
                </a:solidFill>
              </a:rPr>
              <a:t>schematic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45720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B75"/>
                </a:solidFill>
              </a:rPr>
              <a:t>One region of one chromosome gives a noisy picture; the whole genome separates populations far more clearly.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Take-home messages</a:t>
            </a:r>
            <a:endParaRPr lang="en-US" sz="4000" dirty="0"/>
          </a:p>
        </p:txBody>
      </p:sp>
      <p:sp>
        <p:nvSpPr>
          <p:cNvPr id="3" name="take-0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ake-0-label"/>
          <p:cNvSpPr txBox="1"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7157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VCF is a text table: Unix tools work on it, bcftools understands it</a:t>
            </a:r>
            <a:endParaRPr lang="en-US" sz="1500" dirty="0"/>
          </a:p>
        </p:txBody>
      </p:sp>
      <p:sp>
        <p:nvSpPr>
          <p:cNvPr id="6" name="take-1"/>
          <p:cNvSpPr/>
          <p:nvPr/>
        </p:nvSpPr>
        <p:spPr>
          <a:xfrm>
            <a:off x="548640" y="320040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ake-1-label"/>
          <p:cNvSpPr txBox="1"/>
          <p:nvPr/>
        </p:nvSpPr>
        <p:spPr>
          <a:xfrm>
            <a:off x="54864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Normalise before you compare; compare only where you could call</a:t>
            </a:r>
            <a:endParaRPr lang="en-US" sz="1500" dirty="0"/>
          </a:p>
        </p:txBody>
      </p:sp>
      <p:sp>
        <p:nvSpPr>
          <p:cNvPr id="9" name="take-2"/>
          <p:cNvSpPr/>
          <p:nvPr/>
        </p:nvSpPr>
        <p:spPr>
          <a:xfrm>
            <a:off x="548640" y="370332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ake-2-label"/>
          <p:cNvSpPr txBox="1"/>
          <p:nvPr/>
        </p:nvSpPr>
        <p:spPr>
          <a:xfrm>
            <a:off x="54864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7216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Precision and recall need a truth set; low depth costs mostly heterozygotes</a:t>
            </a:r>
            <a:endParaRPr lang="en-US" sz="1500" dirty="0"/>
          </a:p>
        </p:txBody>
      </p:sp>
      <p:sp>
        <p:nvSpPr>
          <p:cNvPr id="12" name="take-3"/>
          <p:cNvSpPr/>
          <p:nvPr/>
        </p:nvSpPr>
        <p:spPr>
          <a:xfrm>
            <a:off x="548640" y="420624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ake-3-label"/>
          <p:cNvSpPr txBox="1"/>
          <p:nvPr/>
        </p:nvSpPr>
        <p:spPr>
          <a:xfrm>
            <a:off x="54864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245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Allele frequencies and PCA turn genotypes into population history</a:t>
            </a:r>
            <a:endParaRPr lang="en-US" sz="15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 Genomics">
  <a:themeElements>
    <a:clrScheme name="KP Genomics">
      <a:dk1>
        <a:srgbClr val="1B2B34"/>
      </a:dk1>
      <a:lt1>
        <a:srgbClr val="FFFFFF"/>
      </a:lt1>
      <a:dk2>
        <a:srgbClr val="0E3B47"/>
      </a:dk2>
      <a:lt2>
        <a:srgbClr val="EAF2F3"/>
      </a:lt2>
      <a:accent1>
        <a:srgbClr val="0F7C8C"/>
      </a:accent1>
      <a:accent2>
        <a:srgbClr val="E4572E"/>
      </a:accent2>
      <a:accent3>
        <a:srgbClr val="F2A541"/>
      </a:accent3>
      <a:accent4>
        <a:srgbClr val="4F8A5B"/>
      </a:accent4>
      <a:accent5>
        <a:srgbClr val="7A8894"/>
      </a:accent5>
      <a:accent6>
        <a:srgbClr val="3D5A80"/>
      </a:accent6>
      <a:hlink>
        <a:srgbClr val="0F7C8C"/>
      </a:hlink>
      <a:folHlink>
        <a:srgbClr val="3D5A80"/>
      </a:folHlink>
    </a:clrScheme>
    <a:fontScheme name="KP Genom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VCF files</dc:title>
  <dc:subject>PptxGenJS Presentation</dc:subject>
  <dc:creator>KP – Molecular Genetic Data</dc:creator>
  <cp:lastModifiedBy>KP – Molecular Genetic Data</cp:lastModifiedBy>
  <cp:revision>1</cp:revision>
  <dcterms:created xsi:type="dcterms:W3CDTF">2026-10-17T10:24:08Z</dcterms:created>
  <dcterms:modified xsi:type="dcterms:W3CDTF">2026-10-17T10:24:08Z</dcterms:modified>
</cp:coreProperties>
</file>