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7964ad5-3b80-3a81-5ffa-7374e86517cf}">
          <p14:sldIdLst>
            <p14:sldId id="256"/>
            <p14:sldId id="257"/>
            <p14:sldId id="258"/>
          </p14:sldIdLst>
        </p14:section>
        <p14:section name="Mapping" id="{d14f7225-b2d4-f274-abc9-7dcff4649d99}">
          <p14:sldIdLst>
            <p14:sldId id="259"/>
            <p14:sldId id="260"/>
            <p14:sldId id="261"/>
            <p14:sldId id="262"/>
            <p14:sldId id="263"/>
          </p14:sldIdLst>
        </p14:section>
        <p14:section name="Variant calling" id="{dae86749-1d6c-482c-3b9d-47a927125f92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Summary" id="{a60317e0-0606-0c8a-3c5d-805ed7ef3f8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3B4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E3B47"/>
                </a:solidFill>
                <a:latin typeface="+mn-lt"/>
              </a:rPr>
              <a:t>Heterozygous sites with no alternative read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alternative read seen</c:v>
                </c:pt>
              </c:strCache>
            </c:strRef>
          </c:tx>
          <c:spPr>
            <a:solidFill>
              <a:srgbClr val="E4572E"/>
            </a:solidFill>
            <a:ln w="3175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Sheet1!$A$2:$A$16</c:f>
              <c:multiLvlStrCache>
                <c:ptCount val="1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50</c:v>
                </c:pt>
                <c:pt idx="1">
                  <c:v>25</c:v>
                </c:pt>
                <c:pt idx="2">
                  <c:v>12.5</c:v>
                </c:pt>
                <c:pt idx="3">
                  <c:v>6.25</c:v>
                </c:pt>
                <c:pt idx="4">
                  <c:v>3.13</c:v>
                </c:pt>
                <c:pt idx="5">
                  <c:v>1.56</c:v>
                </c:pt>
                <c:pt idx="6">
                  <c:v>0.78</c:v>
                </c:pt>
                <c:pt idx="7">
                  <c:v>0.39</c:v>
                </c:pt>
                <c:pt idx="8">
                  <c:v>0.2</c:v>
                </c:pt>
                <c:pt idx="9">
                  <c:v>0.1</c:v>
                </c:pt>
                <c:pt idx="10">
                  <c:v>0.05</c:v>
                </c:pt>
                <c:pt idx="11">
                  <c:v>0.02</c:v>
                </c:pt>
                <c:pt idx="12">
                  <c:v>0.01</c:v>
                </c:pt>
                <c:pt idx="13">
                  <c:v>0.01</c:v>
                </c:pt>
                <c:pt idx="1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5E6B75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5E6B75"/>
                    </a:solidFill>
                    <a:latin typeface="+mn-lt"/>
                  </a:rPr>
                  <a:t>Depth (reads covering the site)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B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3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F7C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894"/>
                </a:solidFill>
              </a:rPr>
              <a:t>KP – Molecular Genetic Data · Read mapping and variant calling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Read mapping and variant calling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KP – Molecular Genetic Data · Practical 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From clean reads to a list of variants</a:t>
            </a:r>
            <a:endParaRPr lang="en-US" sz="1800" dirty="0"/>
          </a:p>
        </p:txBody>
      </p:sp>
      <p:sp>
        <p:nvSpPr>
          <p:cNvPr id="4" name="motif-read-0"/>
          <p:cNvSpPr/>
          <p:nvPr/>
        </p:nvSpPr>
        <p:spPr>
          <a:xfrm>
            <a:off x="548640" y="3794760"/>
            <a:ext cx="2011680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5" name="motif-variant-0"/>
          <p:cNvSpPr/>
          <p:nvPr/>
        </p:nvSpPr>
        <p:spPr>
          <a:xfrm>
            <a:off x="2057400" y="3794760"/>
            <a:ext cx="9144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motif-read-1"/>
          <p:cNvSpPr/>
          <p:nvPr/>
        </p:nvSpPr>
        <p:spPr>
          <a:xfrm>
            <a:off x="1188720" y="3977640"/>
            <a:ext cx="2194560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7" name="motif-variant-1"/>
          <p:cNvSpPr/>
          <p:nvPr/>
        </p:nvSpPr>
        <p:spPr>
          <a:xfrm>
            <a:off x="2057400" y="3977640"/>
            <a:ext cx="9144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motif-read-2"/>
          <p:cNvSpPr/>
          <p:nvPr/>
        </p:nvSpPr>
        <p:spPr>
          <a:xfrm>
            <a:off x="822960" y="4160520"/>
            <a:ext cx="1828800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motif-variant-2"/>
          <p:cNvSpPr/>
          <p:nvPr/>
        </p:nvSpPr>
        <p:spPr>
          <a:xfrm>
            <a:off x="2057400" y="4160520"/>
            <a:ext cx="9144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0" name="motif-read-3"/>
          <p:cNvSpPr/>
          <p:nvPr/>
        </p:nvSpPr>
        <p:spPr>
          <a:xfrm>
            <a:off x="1554480" y="4343400"/>
            <a:ext cx="1737360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motif-variant-3"/>
          <p:cNvSpPr/>
          <p:nvPr/>
        </p:nvSpPr>
        <p:spPr>
          <a:xfrm>
            <a:off x="2057400" y="4343400"/>
            <a:ext cx="91440" cy="10972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2" name="motif-read-4"/>
          <p:cNvSpPr/>
          <p:nvPr/>
        </p:nvSpPr>
        <p:spPr>
          <a:xfrm>
            <a:off x="640080" y="4526280"/>
            <a:ext cx="2377440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motif-variant-4"/>
          <p:cNvSpPr/>
          <p:nvPr/>
        </p:nvSpPr>
        <p:spPr>
          <a:xfrm>
            <a:off x="2057400" y="4526280"/>
            <a:ext cx="91440" cy="109728"/>
          </a:xfrm>
          <a:prstGeom prst="rect">
            <a:avLst/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we are in the analysis</a:t>
            </a:r>
            <a:endParaRPr lang="en-US" sz="2800" dirty="0"/>
          </a:p>
        </p:txBody>
      </p:sp>
      <p:sp>
        <p:nvSpPr>
          <p:cNvPr id="4" name="step-0"/>
          <p:cNvSpPr/>
          <p:nvPr/>
        </p:nvSpPr>
        <p:spPr>
          <a:xfrm>
            <a:off x="457200" y="1600200"/>
            <a:ext cx="1417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66928" y="1801368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Raw reads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2258568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FASTQ</a:t>
            </a:r>
            <a:endParaRPr lang="en-US" sz="1300" dirty="0"/>
          </a:p>
        </p:txBody>
      </p:sp>
      <p:sp>
        <p:nvSpPr>
          <p:cNvPr id="7" name="arrow-0"/>
          <p:cNvSpPr/>
          <p:nvPr/>
        </p:nvSpPr>
        <p:spPr>
          <a:xfrm>
            <a:off x="1901952" y="2167128"/>
            <a:ext cx="201168" cy="914"/>
          </a:xfrm>
          <a:prstGeom prst="line">
            <a:avLst/>
          </a:prstGeom>
          <a:noFill/>
          <a:ln w="19050">
            <a:solidFill>
              <a:srgbClr val="7A8894"/>
            </a:solidFill>
            <a:prstDash val="solid"/>
            <a:tailEnd type="triangle"/>
          </a:ln>
        </p:spPr>
      </p:sp>
      <p:sp>
        <p:nvSpPr>
          <p:cNvPr id="8" name="step-1"/>
          <p:cNvSpPr/>
          <p:nvPr/>
        </p:nvSpPr>
        <p:spPr>
          <a:xfrm>
            <a:off x="2130552" y="1600200"/>
            <a:ext cx="1417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240280" y="1801368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QC and trimming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240280" y="2258568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done last time</a:t>
            </a:r>
            <a:endParaRPr lang="en-US" sz="1300" dirty="0"/>
          </a:p>
        </p:txBody>
      </p:sp>
      <p:sp>
        <p:nvSpPr>
          <p:cNvPr id="11" name="arrow-1"/>
          <p:cNvSpPr/>
          <p:nvPr/>
        </p:nvSpPr>
        <p:spPr>
          <a:xfrm>
            <a:off x="3575304" y="2167128"/>
            <a:ext cx="201168" cy="914"/>
          </a:xfrm>
          <a:prstGeom prst="line">
            <a:avLst/>
          </a:prstGeom>
          <a:noFill/>
          <a:ln w="19050">
            <a:solidFill>
              <a:srgbClr val="7A8894"/>
            </a:solidFill>
            <a:prstDash val="solid"/>
            <a:tailEnd type="triangle"/>
          </a:ln>
        </p:spPr>
      </p:sp>
      <p:sp>
        <p:nvSpPr>
          <p:cNvPr id="12" name="step-2"/>
          <p:cNvSpPr/>
          <p:nvPr/>
        </p:nvSpPr>
        <p:spPr>
          <a:xfrm>
            <a:off x="3803904" y="1600200"/>
            <a:ext cx="141732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913632" y="1801368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Mapping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913632" y="2258568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BAM</a:t>
            </a:r>
            <a:endParaRPr lang="en-US" sz="1300" dirty="0"/>
          </a:p>
        </p:txBody>
      </p:sp>
      <p:sp>
        <p:nvSpPr>
          <p:cNvPr id="15" name="arrow-2"/>
          <p:cNvSpPr/>
          <p:nvPr/>
        </p:nvSpPr>
        <p:spPr>
          <a:xfrm>
            <a:off x="5248656" y="2167128"/>
            <a:ext cx="201168" cy="914"/>
          </a:xfrm>
          <a:prstGeom prst="line">
            <a:avLst/>
          </a:prstGeom>
          <a:noFill/>
          <a:ln w="19050">
            <a:solidFill>
              <a:srgbClr val="7A8894"/>
            </a:solidFill>
            <a:prstDash val="solid"/>
            <a:tailEnd type="triangle"/>
          </a:ln>
        </p:spPr>
      </p:sp>
      <p:sp>
        <p:nvSpPr>
          <p:cNvPr id="16" name="step-3"/>
          <p:cNvSpPr/>
          <p:nvPr/>
        </p:nvSpPr>
        <p:spPr>
          <a:xfrm>
            <a:off x="5477256" y="1600200"/>
            <a:ext cx="1417320" cy="1143000"/>
          </a:xfrm>
          <a:prstGeom prst="roundRect">
            <a:avLst>
              <a:gd name="adj" fmla="val 6400"/>
            </a:avLst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586984" y="1801368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Variant calling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586984" y="2258568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VCF</a:t>
            </a:r>
            <a:endParaRPr lang="en-US" sz="1300" dirty="0"/>
          </a:p>
        </p:txBody>
      </p:sp>
      <p:sp>
        <p:nvSpPr>
          <p:cNvPr id="19" name="arrow-3"/>
          <p:cNvSpPr/>
          <p:nvPr/>
        </p:nvSpPr>
        <p:spPr>
          <a:xfrm>
            <a:off x="6922008" y="2167128"/>
            <a:ext cx="201168" cy="914"/>
          </a:xfrm>
          <a:prstGeom prst="line">
            <a:avLst/>
          </a:prstGeom>
          <a:noFill/>
          <a:ln w="19050">
            <a:solidFill>
              <a:srgbClr val="7A8894"/>
            </a:solidFill>
            <a:prstDash val="solid"/>
            <a:tailEnd type="triangle"/>
          </a:ln>
        </p:spPr>
      </p:sp>
      <p:sp>
        <p:nvSpPr>
          <p:cNvPr id="20" name="step-4"/>
          <p:cNvSpPr/>
          <p:nvPr/>
        </p:nvSpPr>
        <p:spPr>
          <a:xfrm>
            <a:off x="7150608" y="1600200"/>
            <a:ext cx="1417320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260336" y="1801368"/>
            <a:ext cx="119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Analysis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7260336" y="2258568"/>
            <a:ext cx="1197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next practical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3154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Today: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map the reads to a reference genome, look at how well they map, and call the positions where the sample differs from the reference.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6B75"/>
                </a:solidFill>
              </a:rPr>
              <a:t>Each step produces a standard file that the next step reads: FASTQ → BAM → VCF.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Two genomes, two questions</a:t>
            </a:r>
            <a:endParaRPr lang="en-US" sz="2800" dirty="0"/>
          </a:p>
        </p:txBody>
      </p:sp>
      <p:sp>
        <p:nvSpPr>
          <p:cNvPr id="4" name="genome-card-0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5" name="genome-mark-0"/>
          <p:cNvSpPr/>
          <p:nvPr/>
        </p:nvSpPr>
        <p:spPr>
          <a:xfrm>
            <a:off x="685800" y="1371600"/>
            <a:ext cx="109728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chemeClr val="tx2"/>
                </a:solidFill>
              </a:rPr>
              <a:t>Pseudomonas aeruginosa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DK2 lineage vs PAO1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148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Genome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91640" y="2148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6.3 Mb, one chromosome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7157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Ploidy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691640" y="27157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haploid: one copy of each gene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28269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Reference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691640" y="32826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PAO1, environmental strain (1955)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84962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Question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691640" y="38496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genes were lost, which genes are mutated?</a:t>
            </a:r>
            <a:endParaRPr lang="en-US" sz="1400" dirty="0"/>
          </a:p>
        </p:txBody>
      </p:sp>
      <p:sp>
        <p:nvSpPr>
          <p:cNvPr id="16" name="genome-card-1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17" name="genome-mark-1"/>
          <p:cNvSpPr/>
          <p:nvPr/>
        </p:nvSpPr>
        <p:spPr>
          <a:xfrm>
            <a:off x="4892040" y="1371600"/>
            <a:ext cx="109728" cy="566928"/>
          </a:xfrm>
          <a:prstGeom prst="rect">
            <a:avLst/>
          </a:prstGeom>
          <a:solidFill>
            <a:schemeClr val="accent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120640" y="1325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Human HG00418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120640" y="16642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chromosome 21 vs GRCh38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4892040" y="2148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Genome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97880" y="21488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~3,100 Mb; reads from chr21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892040" y="27157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Ploidy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5897880" y="27157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diploid: two copies, one per parent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892040" y="328269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Reference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897880" y="32826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GRCh38, the human reference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892040" y="384962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Question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897880" y="38496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Which SNPs and small indels does this person carry?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Part 1 · Mapping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Where in the genome does each read come from?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Mapping finds where each read belongs</a:t>
            </a:r>
            <a:endParaRPr lang="en-US" sz="2800" dirty="0"/>
          </a:p>
        </p:txBody>
      </p:sp>
      <p:sp>
        <p:nvSpPr>
          <p:cNvPr id="4" name="reference-bar"/>
          <p:cNvSpPr/>
          <p:nvPr/>
        </p:nvSpPr>
        <p:spPr>
          <a:xfrm>
            <a:off x="457200" y="3246120"/>
            <a:ext cx="4572000" cy="146304"/>
          </a:xfrm>
          <a:prstGeom prst="rect">
            <a:avLst/>
          </a:prstGeom>
          <a:solidFill>
            <a:srgbClr val="7A8894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3456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</a:rPr>
              <a:t>reference genome</a:t>
            </a:r>
            <a:endParaRPr lang="en-US" sz="1200" dirty="0"/>
          </a:p>
        </p:txBody>
      </p:sp>
      <p:sp>
        <p:nvSpPr>
          <p:cNvPr id="6" name="seed-hit-0"/>
          <p:cNvSpPr/>
          <p:nvPr/>
        </p:nvSpPr>
        <p:spPr>
          <a:xfrm>
            <a:off x="914400" y="3200400"/>
            <a:ext cx="201168" cy="23774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7" name="seed-hit-1"/>
          <p:cNvSpPr/>
          <p:nvPr/>
        </p:nvSpPr>
        <p:spPr>
          <a:xfrm>
            <a:off x="2514600" y="3200400"/>
            <a:ext cx="201168" cy="23774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8" name="seed-hit-2"/>
          <p:cNvSpPr/>
          <p:nvPr/>
        </p:nvSpPr>
        <p:spPr>
          <a:xfrm>
            <a:off x="4206240" y="3200400"/>
            <a:ext cx="201168" cy="237744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9" name="read"/>
          <p:cNvSpPr/>
          <p:nvPr/>
        </p:nvSpPr>
        <p:spPr>
          <a:xfrm>
            <a:off x="1965960" y="1965960"/>
            <a:ext cx="1325880" cy="182880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10" name="read-seed"/>
          <p:cNvSpPr/>
          <p:nvPr/>
        </p:nvSpPr>
        <p:spPr>
          <a:xfrm>
            <a:off x="2514600" y="1965960"/>
            <a:ext cx="201168" cy="18288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288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</a:rPr>
              <a:t>read (≈100 bases)</a:t>
            </a:r>
            <a:endParaRPr lang="en-US" sz="1200" dirty="0"/>
          </a:p>
        </p:txBody>
      </p:sp>
      <p:sp>
        <p:nvSpPr>
          <p:cNvPr id="12" name="align-left"/>
          <p:cNvSpPr/>
          <p:nvPr/>
        </p:nvSpPr>
        <p:spPr>
          <a:xfrm>
            <a:off x="1965960" y="2176272"/>
            <a:ext cx="914" cy="1024128"/>
          </a:xfrm>
          <a:prstGeom prst="line">
            <a:avLst/>
          </a:prstGeom>
          <a:noFill/>
          <a:ln w="15875">
            <a:solidFill>
              <a:srgbClr val="0F7C8C"/>
            </a:solidFill>
            <a:prstDash val="dash"/>
          </a:ln>
        </p:spPr>
      </p:sp>
      <p:sp>
        <p:nvSpPr>
          <p:cNvPr id="13" name="align-right"/>
          <p:cNvSpPr/>
          <p:nvPr/>
        </p:nvSpPr>
        <p:spPr>
          <a:xfrm>
            <a:off x="3291840" y="2176272"/>
            <a:ext cx="914" cy="1024128"/>
          </a:xfrm>
          <a:prstGeom prst="line">
            <a:avLst/>
          </a:prstGeom>
          <a:noFill/>
          <a:ln w="15875">
            <a:solidFill>
              <a:srgbClr val="0F7C8C"/>
            </a:solidFill>
            <a:prstDash val="dash"/>
          </a:ln>
        </p:spPr>
      </p:sp>
      <p:sp>
        <p:nvSpPr>
          <p:cNvPr id="14" name="Text 11"/>
          <p:cNvSpPr txBox="1"/>
          <p:nvPr/>
        </p:nvSpPr>
        <p:spPr>
          <a:xfrm>
            <a:off x="3566160" y="1965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5"/>
                </a:solidFill>
              </a:rPr>
              <a:t>seed matches in 3 places;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B75"/>
                </a:solidFill>
              </a:rPr>
              <a:t>only one extends into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6B75"/>
                </a:solidFill>
              </a:rPr>
              <a:t>good alignment</a:t>
            </a:r>
            <a:endParaRPr lang="en-US" sz="1100" dirty="0"/>
          </a:p>
        </p:txBody>
      </p:sp>
      <p:sp>
        <p:nvSpPr>
          <p:cNvPr id="15" name="map-step-0"/>
          <p:cNvSpPr/>
          <p:nvPr/>
        </p:nvSpPr>
        <p:spPr>
          <a:xfrm>
            <a:off x="5532120" y="10972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map-step-0-label"/>
          <p:cNvSpPr txBox="1"/>
          <p:nvPr/>
        </p:nvSpPr>
        <p:spPr>
          <a:xfrm>
            <a:off x="553212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035040" y="10789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Index the reference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1371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once; a searchable form of the genome</a:t>
            </a:r>
            <a:endParaRPr lang="en-US" sz="1300" dirty="0"/>
          </a:p>
        </p:txBody>
      </p:sp>
      <p:sp>
        <p:nvSpPr>
          <p:cNvPr id="19" name="map-step-1"/>
          <p:cNvSpPr/>
          <p:nvPr/>
        </p:nvSpPr>
        <p:spPr>
          <a:xfrm>
            <a:off x="5532120" y="193852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map-step-1-label"/>
          <p:cNvSpPr txBox="1"/>
          <p:nvPr/>
        </p:nvSpPr>
        <p:spPr>
          <a:xfrm>
            <a:off x="553212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035040" y="1920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Find seeds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035040" y="22128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short exact matches between read and genome</a:t>
            </a:r>
            <a:endParaRPr lang="en-US" sz="1300" dirty="0"/>
          </a:p>
        </p:txBody>
      </p:sp>
      <p:sp>
        <p:nvSpPr>
          <p:cNvPr id="23" name="map-step-2"/>
          <p:cNvSpPr/>
          <p:nvPr/>
        </p:nvSpPr>
        <p:spPr>
          <a:xfrm>
            <a:off x="5532120" y="277977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map-step-2-label"/>
          <p:cNvSpPr txBox="1"/>
          <p:nvPr/>
        </p:nvSpPr>
        <p:spPr>
          <a:xfrm>
            <a:off x="553212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035040" y="27614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Extend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6035040" y="30540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into a full alignment with mismatches and gaps</a:t>
            </a:r>
            <a:endParaRPr lang="en-US" sz="1300" dirty="0"/>
          </a:p>
        </p:txBody>
      </p:sp>
      <p:sp>
        <p:nvSpPr>
          <p:cNvPr id="27" name="map-step-3"/>
          <p:cNvSpPr/>
          <p:nvPr/>
        </p:nvSpPr>
        <p:spPr>
          <a:xfrm>
            <a:off x="5532120" y="362102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map-step-3-label"/>
          <p:cNvSpPr txBox="1"/>
          <p:nvPr/>
        </p:nvSpPr>
        <p:spPr>
          <a:xfrm>
            <a:off x="553212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035040" y="36027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Report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035040" y="38953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the best position, and how sure it is (MAPQ)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Inside a BAM file: one line per read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6035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4"/>
                          </a:solidFill>
                        </a:rPr>
                        <a:t>FLAG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mapped to the reverse strand (4 = unmapped, 1024 = PCR duplicate)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4"/>
                          </a:solidFill>
                        </a:rPr>
                        <a:t>POS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104233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leftmost reference position of the alignment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4"/>
                          </a:solidFill>
                        </a:rPr>
                        <a:t>MAPQ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60  /  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sure of the position  /  fits equally well elsewhere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4"/>
                          </a:solidFill>
                        </a:rPr>
                        <a:t>CIGAR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20S80M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20 bases not aligned (soft-clipped), then 80 aligned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CIGAR 20S80M</a:t>
            </a:r>
            <a:endParaRPr lang="en-US" sz="1300" dirty="0"/>
          </a:p>
        </p:txBody>
      </p:sp>
      <p:sp>
        <p:nvSpPr>
          <p:cNvPr id="6" name="cigar-ref"/>
          <p:cNvSpPr/>
          <p:nvPr/>
        </p:nvSpPr>
        <p:spPr>
          <a:xfrm>
            <a:off x="2377440" y="4069080"/>
            <a:ext cx="6309360" cy="128016"/>
          </a:xfrm>
          <a:prstGeom prst="rect">
            <a:avLst/>
          </a:prstGeom>
          <a:solidFill>
            <a:srgbClr val="7A8894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2377440" y="4251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5"/>
                </a:solidFill>
              </a:rPr>
              <a:t>reference</a:t>
            </a:r>
            <a:endParaRPr lang="en-US" sz="1100" dirty="0"/>
          </a:p>
        </p:txBody>
      </p:sp>
      <p:sp>
        <p:nvSpPr>
          <p:cNvPr id="8" name="cigar-softclip"/>
          <p:cNvSpPr/>
          <p:nvPr/>
        </p:nvSpPr>
        <p:spPr>
          <a:xfrm>
            <a:off x="2926080" y="3383280"/>
            <a:ext cx="914400" cy="20116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9" name="cigar-match"/>
          <p:cNvSpPr/>
          <p:nvPr/>
        </p:nvSpPr>
        <p:spPr>
          <a:xfrm>
            <a:off x="3840480" y="3767328"/>
            <a:ext cx="3657600" cy="201168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237744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4572E"/>
                </a:solidFill>
              </a:rPr>
              <a:t>20S: does not match here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12064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7C8C"/>
                </a:solidFill>
              </a:rPr>
              <a:t>80M: aligned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3657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E6B75"/>
                </a:solidFill>
              </a:rPr>
              <a:t>Soft clips often mark the edge of a region that is missing from the reference.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Depth and breadth of coverage</a:t>
            </a:r>
            <a:endParaRPr lang="en-US" sz="2800" dirty="0"/>
          </a:p>
        </p:txBody>
      </p:sp>
      <p:sp>
        <p:nvSpPr>
          <p:cNvPr id="4" name="cov-read-0-62"/>
          <p:cNvSpPr/>
          <p:nvPr/>
        </p:nvSpPr>
        <p:spPr>
          <a:xfrm>
            <a:off x="566371" y="118872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5" name="cov-read-0-162"/>
          <p:cNvSpPr/>
          <p:nvPr/>
        </p:nvSpPr>
        <p:spPr>
          <a:xfrm>
            <a:off x="1480517" y="118872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6" name="cov-read-0-251"/>
          <p:cNvSpPr/>
          <p:nvPr/>
        </p:nvSpPr>
        <p:spPr>
          <a:xfrm>
            <a:off x="2298331" y="118872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7" name="cov-read-0-519"/>
          <p:cNvSpPr/>
          <p:nvPr/>
        </p:nvSpPr>
        <p:spPr>
          <a:xfrm>
            <a:off x="4750054" y="118872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8" name="cov-read-1-53"/>
          <p:cNvSpPr/>
          <p:nvPr/>
        </p:nvSpPr>
        <p:spPr>
          <a:xfrm>
            <a:off x="481480" y="137160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9" name="cov-read-1-123"/>
          <p:cNvSpPr/>
          <p:nvPr/>
        </p:nvSpPr>
        <p:spPr>
          <a:xfrm>
            <a:off x="1125286" y="137160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10" name="cov-read-1-226"/>
          <p:cNvSpPr/>
          <p:nvPr/>
        </p:nvSpPr>
        <p:spPr>
          <a:xfrm>
            <a:off x="2061977" y="137160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11" name="cov-read-1-328"/>
          <p:cNvSpPr/>
          <p:nvPr/>
        </p:nvSpPr>
        <p:spPr>
          <a:xfrm>
            <a:off x="2995106" y="137160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12" name="cov-read-1-498"/>
          <p:cNvSpPr/>
          <p:nvPr/>
        </p:nvSpPr>
        <p:spPr>
          <a:xfrm>
            <a:off x="4553324" y="137160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13" name="cov-read-2-80"/>
          <p:cNvSpPr/>
          <p:nvPr/>
        </p:nvSpPr>
        <p:spPr>
          <a:xfrm>
            <a:off x="733822" y="155448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14" name="cov-read-2-175"/>
          <p:cNvSpPr/>
          <p:nvPr/>
        </p:nvSpPr>
        <p:spPr>
          <a:xfrm>
            <a:off x="1604419" y="155448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15" name="cov-read-2-271"/>
          <p:cNvSpPr/>
          <p:nvPr/>
        </p:nvSpPr>
        <p:spPr>
          <a:xfrm>
            <a:off x="2475782" y="155448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16" name="cov-read-3-68"/>
          <p:cNvSpPr/>
          <p:nvPr/>
        </p:nvSpPr>
        <p:spPr>
          <a:xfrm>
            <a:off x="622919" y="173736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17" name="cov-read-3-153"/>
          <p:cNvSpPr/>
          <p:nvPr/>
        </p:nvSpPr>
        <p:spPr>
          <a:xfrm>
            <a:off x="1398812" y="173736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18" name="cov-read-3-224"/>
          <p:cNvSpPr/>
          <p:nvPr/>
        </p:nvSpPr>
        <p:spPr>
          <a:xfrm>
            <a:off x="2050029" y="173736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19" name="cov-read-3-318"/>
          <p:cNvSpPr/>
          <p:nvPr/>
        </p:nvSpPr>
        <p:spPr>
          <a:xfrm>
            <a:off x="2911575" y="173736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20" name="cov-read-3-496"/>
          <p:cNvSpPr/>
          <p:nvPr/>
        </p:nvSpPr>
        <p:spPr>
          <a:xfrm>
            <a:off x="4536747" y="173736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21" name="cov-read-4-99"/>
          <p:cNvSpPr/>
          <p:nvPr/>
        </p:nvSpPr>
        <p:spPr>
          <a:xfrm>
            <a:off x="906062" y="192024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22" name="cov-read-4-171"/>
          <p:cNvSpPr/>
          <p:nvPr/>
        </p:nvSpPr>
        <p:spPr>
          <a:xfrm>
            <a:off x="1566920" y="192024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23" name="cov-read-4-255"/>
          <p:cNvSpPr/>
          <p:nvPr/>
        </p:nvSpPr>
        <p:spPr>
          <a:xfrm>
            <a:off x="2334259" y="192024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24" name="cov-read-4-483"/>
          <p:cNvSpPr/>
          <p:nvPr/>
        </p:nvSpPr>
        <p:spPr>
          <a:xfrm>
            <a:off x="4416737" y="192024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25" name="cov-read-5-89"/>
          <p:cNvSpPr/>
          <p:nvPr/>
        </p:nvSpPr>
        <p:spPr>
          <a:xfrm>
            <a:off x="810537" y="210312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26" name="cov-read-5-160"/>
          <p:cNvSpPr/>
          <p:nvPr/>
        </p:nvSpPr>
        <p:spPr>
          <a:xfrm>
            <a:off x="1459386" y="210312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27" name="cov-read-5-249"/>
          <p:cNvSpPr/>
          <p:nvPr/>
        </p:nvSpPr>
        <p:spPr>
          <a:xfrm>
            <a:off x="2274984" y="210312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28" name="cov-read-5-515"/>
          <p:cNvSpPr/>
          <p:nvPr/>
        </p:nvSpPr>
        <p:spPr>
          <a:xfrm>
            <a:off x="4710859" y="210312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29" name="cov-read-6-66"/>
          <p:cNvSpPr/>
          <p:nvPr/>
        </p:nvSpPr>
        <p:spPr>
          <a:xfrm>
            <a:off x="600195" y="228600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30" name="cov-read-6-152"/>
          <p:cNvSpPr/>
          <p:nvPr/>
        </p:nvSpPr>
        <p:spPr>
          <a:xfrm>
            <a:off x="1385996" y="228600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31" name="cov-read-6-244"/>
          <p:cNvSpPr/>
          <p:nvPr/>
        </p:nvSpPr>
        <p:spPr>
          <a:xfrm>
            <a:off x="2235557" y="228600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32" name="cov-read-6-323"/>
          <p:cNvSpPr/>
          <p:nvPr/>
        </p:nvSpPr>
        <p:spPr>
          <a:xfrm>
            <a:off x="2956483" y="228600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33" name="cov-read-6-495"/>
          <p:cNvSpPr/>
          <p:nvPr/>
        </p:nvSpPr>
        <p:spPr>
          <a:xfrm>
            <a:off x="4530455" y="2286000"/>
            <a:ext cx="566928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34" name="cov-bin-0"/>
          <p:cNvSpPr/>
          <p:nvPr/>
        </p:nvSpPr>
        <p:spPr>
          <a:xfrm>
            <a:off x="457200" y="3337560"/>
            <a:ext cx="82296" cy="914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5" name="cov-bin-1"/>
          <p:cNvSpPr/>
          <p:nvPr/>
        </p:nvSpPr>
        <p:spPr>
          <a:xfrm>
            <a:off x="548640" y="3063240"/>
            <a:ext cx="82296" cy="36576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6" name="cov-bin-2"/>
          <p:cNvSpPr/>
          <p:nvPr/>
        </p:nvSpPr>
        <p:spPr>
          <a:xfrm>
            <a:off x="640080" y="3063240"/>
            <a:ext cx="82296" cy="36576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7" name="cov-bin-3"/>
          <p:cNvSpPr/>
          <p:nvPr/>
        </p:nvSpPr>
        <p:spPr>
          <a:xfrm>
            <a:off x="731520" y="2880360"/>
            <a:ext cx="82296" cy="5486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8" name="cov-bin-4"/>
          <p:cNvSpPr/>
          <p:nvPr/>
        </p:nvSpPr>
        <p:spPr>
          <a:xfrm>
            <a:off x="822960" y="2788920"/>
            <a:ext cx="82296" cy="64008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9" name="cov-bin-5"/>
          <p:cNvSpPr/>
          <p:nvPr/>
        </p:nvSpPr>
        <p:spPr>
          <a:xfrm>
            <a:off x="914400" y="2788920"/>
            <a:ext cx="82296" cy="64008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0" name="cov-bin-6"/>
          <p:cNvSpPr/>
          <p:nvPr/>
        </p:nvSpPr>
        <p:spPr>
          <a:xfrm>
            <a:off x="1005840" y="2788920"/>
            <a:ext cx="82296" cy="64008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1" name="cov-bin-7"/>
          <p:cNvSpPr/>
          <p:nvPr/>
        </p:nvSpPr>
        <p:spPr>
          <a:xfrm>
            <a:off x="1097280" y="2788920"/>
            <a:ext cx="82296" cy="64008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2" name="cov-bin-8"/>
          <p:cNvSpPr/>
          <p:nvPr/>
        </p:nvSpPr>
        <p:spPr>
          <a:xfrm>
            <a:off x="1188720" y="2971800"/>
            <a:ext cx="82296" cy="45720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3" name="cov-bin-9"/>
          <p:cNvSpPr/>
          <p:nvPr/>
        </p:nvSpPr>
        <p:spPr>
          <a:xfrm>
            <a:off x="1280160" y="3063240"/>
            <a:ext cx="82296" cy="36576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4" name="cov-bin-10"/>
          <p:cNvSpPr/>
          <p:nvPr/>
        </p:nvSpPr>
        <p:spPr>
          <a:xfrm>
            <a:off x="1371600" y="2880360"/>
            <a:ext cx="82296" cy="5486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5" name="cov-bin-11"/>
          <p:cNvSpPr/>
          <p:nvPr/>
        </p:nvSpPr>
        <p:spPr>
          <a:xfrm>
            <a:off x="1463040" y="2880360"/>
            <a:ext cx="82296" cy="5486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6" name="cov-bin-12"/>
          <p:cNvSpPr/>
          <p:nvPr/>
        </p:nvSpPr>
        <p:spPr>
          <a:xfrm>
            <a:off x="1554480" y="2788920"/>
            <a:ext cx="82296" cy="64008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7" name="cov-bin-13"/>
          <p:cNvSpPr/>
          <p:nvPr/>
        </p:nvSpPr>
        <p:spPr>
          <a:xfrm>
            <a:off x="1645920" y="2788920"/>
            <a:ext cx="82296" cy="64008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8" name="cov-bin-14"/>
          <p:cNvSpPr/>
          <p:nvPr/>
        </p:nvSpPr>
        <p:spPr>
          <a:xfrm>
            <a:off x="1737360" y="2880360"/>
            <a:ext cx="82296" cy="5486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9" name="cov-bin-15"/>
          <p:cNvSpPr/>
          <p:nvPr/>
        </p:nvSpPr>
        <p:spPr>
          <a:xfrm>
            <a:off x="1828800" y="2880360"/>
            <a:ext cx="82296" cy="5486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50" name="cov-bin-16"/>
          <p:cNvSpPr/>
          <p:nvPr/>
        </p:nvSpPr>
        <p:spPr>
          <a:xfrm>
            <a:off x="1920240" y="2880360"/>
            <a:ext cx="82296" cy="5486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51" name="cov-bin-17"/>
          <p:cNvSpPr/>
          <p:nvPr/>
        </p:nvSpPr>
        <p:spPr>
          <a:xfrm>
            <a:off x="2011680" y="2880360"/>
            <a:ext cx="82296" cy="5486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52" name="cov-bin-18"/>
          <p:cNvSpPr/>
          <p:nvPr/>
        </p:nvSpPr>
        <p:spPr>
          <a:xfrm>
            <a:off x="2103120" y="3063240"/>
            <a:ext cx="82296" cy="36576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53" name="cov-bin-19"/>
          <p:cNvSpPr/>
          <p:nvPr/>
        </p:nvSpPr>
        <p:spPr>
          <a:xfrm>
            <a:off x="2194560" y="3063240"/>
            <a:ext cx="82296" cy="36576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54" name="cov-bin-20"/>
          <p:cNvSpPr/>
          <p:nvPr/>
        </p:nvSpPr>
        <p:spPr>
          <a:xfrm>
            <a:off x="2286000" y="2880360"/>
            <a:ext cx="82296" cy="5486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55" name="cov-bin-21"/>
          <p:cNvSpPr/>
          <p:nvPr/>
        </p:nvSpPr>
        <p:spPr>
          <a:xfrm>
            <a:off x="2377440" y="2880360"/>
            <a:ext cx="82296" cy="5486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56" name="cov-bin-22"/>
          <p:cNvSpPr/>
          <p:nvPr/>
        </p:nvSpPr>
        <p:spPr>
          <a:xfrm>
            <a:off x="2468880" y="2788920"/>
            <a:ext cx="82296" cy="64008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57" name="cov-bin-23"/>
          <p:cNvSpPr/>
          <p:nvPr/>
        </p:nvSpPr>
        <p:spPr>
          <a:xfrm>
            <a:off x="2560320" y="2788920"/>
            <a:ext cx="82296" cy="64008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58" name="cov-bin-24"/>
          <p:cNvSpPr/>
          <p:nvPr/>
        </p:nvSpPr>
        <p:spPr>
          <a:xfrm>
            <a:off x="2651760" y="2971800"/>
            <a:ext cx="82296" cy="45720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59" name="cov-bin-25"/>
          <p:cNvSpPr/>
          <p:nvPr/>
        </p:nvSpPr>
        <p:spPr>
          <a:xfrm>
            <a:off x="2743200" y="2971800"/>
            <a:ext cx="82296" cy="45720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60" name="cov-bin-26"/>
          <p:cNvSpPr/>
          <p:nvPr/>
        </p:nvSpPr>
        <p:spPr>
          <a:xfrm>
            <a:off x="2834640" y="2971800"/>
            <a:ext cx="82296" cy="45720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61" name="cov-bin-27"/>
          <p:cNvSpPr/>
          <p:nvPr/>
        </p:nvSpPr>
        <p:spPr>
          <a:xfrm>
            <a:off x="2926080" y="3063240"/>
            <a:ext cx="82296" cy="36576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62" name="cov-bin-28"/>
          <p:cNvSpPr/>
          <p:nvPr/>
        </p:nvSpPr>
        <p:spPr>
          <a:xfrm>
            <a:off x="3017520" y="3063240"/>
            <a:ext cx="82296" cy="36576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63" name="cov-bin-29"/>
          <p:cNvSpPr/>
          <p:nvPr/>
        </p:nvSpPr>
        <p:spPr>
          <a:xfrm>
            <a:off x="3108960" y="3154680"/>
            <a:ext cx="82296" cy="27432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64" name="cov-bin-30"/>
          <p:cNvSpPr/>
          <p:nvPr/>
        </p:nvSpPr>
        <p:spPr>
          <a:xfrm>
            <a:off x="3200400" y="3154680"/>
            <a:ext cx="82296" cy="27432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65" name="cov-bin-31"/>
          <p:cNvSpPr/>
          <p:nvPr/>
        </p:nvSpPr>
        <p:spPr>
          <a:xfrm>
            <a:off x="3291840" y="3154680"/>
            <a:ext cx="82296" cy="27432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66" name="cov-bin-32"/>
          <p:cNvSpPr/>
          <p:nvPr/>
        </p:nvSpPr>
        <p:spPr>
          <a:xfrm>
            <a:off x="3383280" y="3154680"/>
            <a:ext cx="82296" cy="27432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67" name="cov-bin-33"/>
          <p:cNvSpPr/>
          <p:nvPr/>
        </p:nvSpPr>
        <p:spPr>
          <a:xfrm>
            <a:off x="3474720" y="3154680"/>
            <a:ext cx="82296" cy="27432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68" name="cov-bin-43"/>
          <p:cNvSpPr/>
          <p:nvPr/>
        </p:nvSpPr>
        <p:spPr>
          <a:xfrm>
            <a:off x="4389120" y="3337560"/>
            <a:ext cx="82296" cy="914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69" name="cov-bin-44"/>
          <p:cNvSpPr/>
          <p:nvPr/>
        </p:nvSpPr>
        <p:spPr>
          <a:xfrm>
            <a:off x="4480560" y="3063240"/>
            <a:ext cx="82296" cy="36576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70" name="cov-bin-45"/>
          <p:cNvSpPr/>
          <p:nvPr/>
        </p:nvSpPr>
        <p:spPr>
          <a:xfrm>
            <a:off x="4572000" y="3063240"/>
            <a:ext cx="82296" cy="36576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71" name="cov-bin-46"/>
          <p:cNvSpPr/>
          <p:nvPr/>
        </p:nvSpPr>
        <p:spPr>
          <a:xfrm>
            <a:off x="4663440" y="2880360"/>
            <a:ext cx="82296" cy="5486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72" name="cov-bin-47"/>
          <p:cNvSpPr/>
          <p:nvPr/>
        </p:nvSpPr>
        <p:spPr>
          <a:xfrm>
            <a:off x="4754880" y="2880360"/>
            <a:ext cx="82296" cy="5486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73" name="cov-bin-48"/>
          <p:cNvSpPr/>
          <p:nvPr/>
        </p:nvSpPr>
        <p:spPr>
          <a:xfrm>
            <a:off x="4846320" y="2880360"/>
            <a:ext cx="82296" cy="5486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74" name="cov-bin-49"/>
          <p:cNvSpPr/>
          <p:nvPr/>
        </p:nvSpPr>
        <p:spPr>
          <a:xfrm>
            <a:off x="4937760" y="2880360"/>
            <a:ext cx="82296" cy="54864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75" name="cov-bin-50"/>
          <p:cNvSpPr/>
          <p:nvPr/>
        </p:nvSpPr>
        <p:spPr>
          <a:xfrm>
            <a:off x="5029200" y="2971800"/>
            <a:ext cx="82296" cy="45720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76" name="cov-bin-51"/>
          <p:cNvSpPr/>
          <p:nvPr/>
        </p:nvSpPr>
        <p:spPr>
          <a:xfrm>
            <a:off x="5120640" y="3246120"/>
            <a:ext cx="82296" cy="18288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77" name="cov-reference"/>
          <p:cNvSpPr/>
          <p:nvPr/>
        </p:nvSpPr>
        <p:spPr>
          <a:xfrm>
            <a:off x="457200" y="3429000"/>
            <a:ext cx="4754880" cy="109728"/>
          </a:xfrm>
          <a:prstGeom prst="rect">
            <a:avLst/>
          </a:prstGeom>
          <a:solidFill>
            <a:srgbClr val="7A8894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457200" y="914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5"/>
                </a:solidFill>
              </a:rPr>
              <a:t>reads</a:t>
            </a:r>
            <a:endParaRPr lang="en-US" sz="1100" dirty="0"/>
          </a:p>
        </p:txBody>
      </p:sp>
      <p:sp>
        <p:nvSpPr>
          <p:cNvPr id="79" name="Text 76"/>
          <p:cNvSpPr txBox="1"/>
          <p:nvPr/>
        </p:nvSpPr>
        <p:spPr>
          <a:xfrm>
            <a:off x="457200" y="24871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5"/>
                </a:solidFill>
              </a:rPr>
              <a:t>coverage</a:t>
            </a:r>
            <a:endParaRPr lang="en-US" sz="1100" dirty="0"/>
          </a:p>
        </p:txBody>
      </p:sp>
      <p:sp>
        <p:nvSpPr>
          <p:cNvPr id="80" name="Text 77"/>
          <p:cNvSpPr txBox="1"/>
          <p:nvPr/>
        </p:nvSpPr>
        <p:spPr>
          <a:xfrm>
            <a:off x="3566160" y="3584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</a:rPr>
              <a:t>no reads here</a:t>
            </a:r>
            <a:endParaRPr lang="en-US" sz="1100" dirty="0"/>
          </a:p>
        </p:txBody>
      </p:sp>
      <p:sp>
        <p:nvSpPr>
          <p:cNvPr id="81" name="depth-card"/>
          <p:cNvSpPr/>
          <p:nvPr/>
        </p:nvSpPr>
        <p:spPr>
          <a:xfrm>
            <a:off x="5577840" y="1097280"/>
            <a:ext cx="3108960" cy="32918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580644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Expected depth</a:t>
            </a:r>
            <a:endParaRPr lang="en-US" sz="1600" dirty="0"/>
          </a:p>
        </p:txBody>
      </p:sp>
      <p:sp>
        <p:nvSpPr>
          <p:cNvPr id="83" name="Text 80"/>
          <p:cNvSpPr txBox="1"/>
          <p:nvPr/>
        </p:nvSpPr>
        <p:spPr>
          <a:xfrm>
            <a:off x="5806440" y="1645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reads × read length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/ genome size</a:t>
            </a:r>
            <a:endParaRPr lang="en-US" sz="1500" dirty="0"/>
          </a:p>
        </p:txBody>
      </p:sp>
      <p:sp>
        <p:nvSpPr>
          <p:cNvPr id="84" name="Text 81"/>
          <p:cNvSpPr txBox="1"/>
          <p:nvPr/>
        </p:nvSpPr>
        <p:spPr>
          <a:xfrm>
            <a:off x="580644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E6B75"/>
                </a:solidFill>
              </a:rPr>
              <a:t>1,000,000 × 100 bp / 6.3 Mb ≈ 16×</a:t>
            </a:r>
            <a:endParaRPr lang="en-US" sz="1300" dirty="0"/>
          </a:p>
        </p:txBody>
      </p:sp>
      <p:sp>
        <p:nvSpPr>
          <p:cNvPr id="85" name="Text 82"/>
          <p:cNvSpPr txBox="1"/>
          <p:nvPr/>
        </p:nvSpPr>
        <p:spPr>
          <a:xfrm>
            <a:off x="580644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Breadth</a:t>
            </a:r>
            <a:endParaRPr lang="en-US" sz="1600" dirty="0"/>
          </a:p>
        </p:txBody>
      </p:sp>
      <p:sp>
        <p:nvSpPr>
          <p:cNvPr id="86" name="Text 83"/>
          <p:cNvSpPr txBox="1"/>
          <p:nvPr/>
        </p:nvSpPr>
        <p:spPr>
          <a:xfrm>
            <a:off x="5806440" y="318211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fraction of the reference with at least one read</a:t>
            </a:r>
            <a:endParaRPr lang="en-US" sz="1400" dirty="0"/>
          </a:p>
        </p:txBody>
      </p:sp>
      <p:sp>
        <p:nvSpPr>
          <p:cNvPr id="87" name="Text 84"/>
          <p:cNvSpPr txBox="1"/>
          <p:nvPr/>
        </p:nvSpPr>
        <p:spPr>
          <a:xfrm>
            <a:off x="5806440" y="37490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Mapping rate: fraction of reads that found a place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Zero coverage reveals missing genes</a:t>
            </a:r>
            <a:endParaRPr lang="en-US" sz="2800" dirty="0"/>
          </a:p>
        </p:txBody>
      </p:sp>
      <p:sp>
        <p:nvSpPr>
          <p:cNvPr id="4" name="gap-cov-0"/>
          <p:cNvSpPr/>
          <p:nvPr/>
        </p:nvSpPr>
        <p:spPr>
          <a:xfrm>
            <a:off x="457200" y="2128632"/>
            <a:ext cx="75438" cy="385968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5" name="gap-cov-1"/>
          <p:cNvSpPr/>
          <p:nvPr/>
        </p:nvSpPr>
        <p:spPr>
          <a:xfrm>
            <a:off x="541020" y="2005068"/>
            <a:ext cx="75438" cy="509532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6" name="gap-cov-2"/>
          <p:cNvSpPr/>
          <p:nvPr/>
        </p:nvSpPr>
        <p:spPr>
          <a:xfrm>
            <a:off x="624840" y="1953621"/>
            <a:ext cx="75438" cy="560979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7" name="gap-cov-3"/>
          <p:cNvSpPr/>
          <p:nvPr/>
        </p:nvSpPr>
        <p:spPr>
          <a:xfrm>
            <a:off x="708660" y="2143093"/>
            <a:ext cx="75438" cy="371507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8" name="gap-cov-4"/>
          <p:cNvSpPr/>
          <p:nvPr/>
        </p:nvSpPr>
        <p:spPr>
          <a:xfrm>
            <a:off x="792480" y="1704072"/>
            <a:ext cx="75438" cy="810528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9" name="gap-cov-5"/>
          <p:cNvSpPr/>
          <p:nvPr/>
        </p:nvSpPr>
        <p:spPr>
          <a:xfrm>
            <a:off x="876300" y="1613943"/>
            <a:ext cx="75438" cy="900657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10" name="gap-cov-6"/>
          <p:cNvSpPr/>
          <p:nvPr/>
        </p:nvSpPr>
        <p:spPr>
          <a:xfrm>
            <a:off x="960120" y="2136176"/>
            <a:ext cx="75438" cy="378424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11" name="gap-cov-7"/>
          <p:cNvSpPr/>
          <p:nvPr/>
        </p:nvSpPr>
        <p:spPr>
          <a:xfrm>
            <a:off x="1043940" y="1702349"/>
            <a:ext cx="75438" cy="812251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12" name="gap-cov-8"/>
          <p:cNvSpPr/>
          <p:nvPr/>
        </p:nvSpPr>
        <p:spPr>
          <a:xfrm>
            <a:off x="1127760" y="2123481"/>
            <a:ext cx="75438" cy="391119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13" name="gap-cov-9"/>
          <p:cNvSpPr/>
          <p:nvPr/>
        </p:nvSpPr>
        <p:spPr>
          <a:xfrm>
            <a:off x="1211580" y="2135929"/>
            <a:ext cx="75438" cy="378671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14" name="gap-cov-10"/>
          <p:cNvSpPr/>
          <p:nvPr/>
        </p:nvSpPr>
        <p:spPr>
          <a:xfrm>
            <a:off x="1295400" y="1654350"/>
            <a:ext cx="75438" cy="86025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15" name="gap-cov-11"/>
          <p:cNvSpPr/>
          <p:nvPr/>
        </p:nvSpPr>
        <p:spPr>
          <a:xfrm>
            <a:off x="1379220" y="2009051"/>
            <a:ext cx="75438" cy="505549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16" name="gap-cov-12"/>
          <p:cNvSpPr/>
          <p:nvPr/>
        </p:nvSpPr>
        <p:spPr>
          <a:xfrm>
            <a:off x="1463040" y="1948150"/>
            <a:ext cx="75438" cy="56645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17" name="gap-cov-13"/>
          <p:cNvSpPr/>
          <p:nvPr/>
        </p:nvSpPr>
        <p:spPr>
          <a:xfrm>
            <a:off x="1546860" y="1951026"/>
            <a:ext cx="75438" cy="563574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18" name="gap-cov-14"/>
          <p:cNvSpPr/>
          <p:nvPr/>
        </p:nvSpPr>
        <p:spPr>
          <a:xfrm>
            <a:off x="1630680" y="1839081"/>
            <a:ext cx="75438" cy="675519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19" name="gap-cov-15"/>
          <p:cNvSpPr/>
          <p:nvPr/>
        </p:nvSpPr>
        <p:spPr>
          <a:xfrm>
            <a:off x="1714500" y="1754415"/>
            <a:ext cx="75438" cy="760185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20" name="gap-cov-16"/>
          <p:cNvSpPr/>
          <p:nvPr/>
        </p:nvSpPr>
        <p:spPr>
          <a:xfrm>
            <a:off x="1798320" y="1925432"/>
            <a:ext cx="75438" cy="589168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21" name="gap-cov-17"/>
          <p:cNvSpPr/>
          <p:nvPr/>
        </p:nvSpPr>
        <p:spPr>
          <a:xfrm>
            <a:off x="1882140" y="1866145"/>
            <a:ext cx="75438" cy="648455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22" name="gap-cov-18"/>
          <p:cNvSpPr/>
          <p:nvPr/>
        </p:nvSpPr>
        <p:spPr>
          <a:xfrm>
            <a:off x="1965960" y="2011192"/>
            <a:ext cx="75438" cy="503408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23" name="gap-cov-19"/>
          <p:cNvSpPr/>
          <p:nvPr/>
        </p:nvSpPr>
        <p:spPr>
          <a:xfrm>
            <a:off x="2049780" y="1920743"/>
            <a:ext cx="75438" cy="593857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24" name="gap-cov-20"/>
          <p:cNvSpPr/>
          <p:nvPr/>
        </p:nvSpPr>
        <p:spPr>
          <a:xfrm>
            <a:off x="2133600" y="2107592"/>
            <a:ext cx="75438" cy="407008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25" name="gap-cov-21"/>
          <p:cNvSpPr/>
          <p:nvPr/>
        </p:nvSpPr>
        <p:spPr>
          <a:xfrm>
            <a:off x="2217420" y="1691990"/>
            <a:ext cx="75438" cy="82261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26" name="gap-cov-22"/>
          <p:cNvSpPr/>
          <p:nvPr/>
        </p:nvSpPr>
        <p:spPr>
          <a:xfrm>
            <a:off x="2301240" y="1664524"/>
            <a:ext cx="75438" cy="850076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27" name="gap-cov-23"/>
          <p:cNvSpPr/>
          <p:nvPr/>
        </p:nvSpPr>
        <p:spPr>
          <a:xfrm>
            <a:off x="2385060" y="2169888"/>
            <a:ext cx="75438" cy="344712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28" name="gap-cov-24"/>
          <p:cNvSpPr/>
          <p:nvPr/>
        </p:nvSpPr>
        <p:spPr>
          <a:xfrm>
            <a:off x="2468880" y="1986219"/>
            <a:ext cx="75438" cy="528381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29" name="gap-cov-25"/>
          <p:cNvSpPr/>
          <p:nvPr/>
        </p:nvSpPr>
        <p:spPr>
          <a:xfrm>
            <a:off x="2552700" y="2108590"/>
            <a:ext cx="75438" cy="40601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0" name="gap-cov-26"/>
          <p:cNvSpPr/>
          <p:nvPr/>
        </p:nvSpPr>
        <p:spPr>
          <a:xfrm>
            <a:off x="2636520" y="1799431"/>
            <a:ext cx="75438" cy="715169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1" name="gap-cov-27"/>
          <p:cNvSpPr/>
          <p:nvPr/>
        </p:nvSpPr>
        <p:spPr>
          <a:xfrm>
            <a:off x="2720340" y="2180826"/>
            <a:ext cx="75438" cy="333774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2" name="gap-cov-28"/>
          <p:cNvSpPr/>
          <p:nvPr/>
        </p:nvSpPr>
        <p:spPr>
          <a:xfrm>
            <a:off x="2804160" y="1946658"/>
            <a:ext cx="75438" cy="567942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3" name="gap-cov-29"/>
          <p:cNvSpPr/>
          <p:nvPr/>
        </p:nvSpPr>
        <p:spPr>
          <a:xfrm>
            <a:off x="2887980" y="1560862"/>
            <a:ext cx="75438" cy="953738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4" name="gap-cov-42"/>
          <p:cNvSpPr/>
          <p:nvPr/>
        </p:nvSpPr>
        <p:spPr>
          <a:xfrm>
            <a:off x="3977640" y="1641299"/>
            <a:ext cx="75438" cy="873301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5" name="gap-cov-43"/>
          <p:cNvSpPr/>
          <p:nvPr/>
        </p:nvSpPr>
        <p:spPr>
          <a:xfrm>
            <a:off x="4061460" y="1694957"/>
            <a:ext cx="75438" cy="819643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6" name="gap-cov-44"/>
          <p:cNvSpPr/>
          <p:nvPr/>
        </p:nvSpPr>
        <p:spPr>
          <a:xfrm>
            <a:off x="4145280" y="1531203"/>
            <a:ext cx="75438" cy="983397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7" name="gap-cov-45"/>
          <p:cNvSpPr/>
          <p:nvPr/>
        </p:nvSpPr>
        <p:spPr>
          <a:xfrm>
            <a:off x="4229100" y="2181621"/>
            <a:ext cx="75438" cy="332979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8" name="gap-cov-46"/>
          <p:cNvSpPr/>
          <p:nvPr/>
        </p:nvSpPr>
        <p:spPr>
          <a:xfrm>
            <a:off x="4312920" y="1946078"/>
            <a:ext cx="75438" cy="568522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39" name="gap-cov-47"/>
          <p:cNvSpPr/>
          <p:nvPr/>
        </p:nvSpPr>
        <p:spPr>
          <a:xfrm>
            <a:off x="4396740" y="1662696"/>
            <a:ext cx="75438" cy="851904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0" name="gap-cov-48"/>
          <p:cNvSpPr/>
          <p:nvPr/>
        </p:nvSpPr>
        <p:spPr>
          <a:xfrm>
            <a:off x="4480560" y="2172708"/>
            <a:ext cx="75438" cy="341892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1" name="gap-cov-49"/>
          <p:cNvSpPr/>
          <p:nvPr/>
        </p:nvSpPr>
        <p:spPr>
          <a:xfrm>
            <a:off x="4564380" y="2047556"/>
            <a:ext cx="75438" cy="467044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2" name="gap-cov-50"/>
          <p:cNvSpPr/>
          <p:nvPr/>
        </p:nvSpPr>
        <p:spPr>
          <a:xfrm>
            <a:off x="4648200" y="1605105"/>
            <a:ext cx="75438" cy="909495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3" name="gap-cov-51"/>
          <p:cNvSpPr/>
          <p:nvPr/>
        </p:nvSpPr>
        <p:spPr>
          <a:xfrm>
            <a:off x="4732020" y="2073461"/>
            <a:ext cx="75438" cy="441139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4" name="gap-cov-52"/>
          <p:cNvSpPr/>
          <p:nvPr/>
        </p:nvSpPr>
        <p:spPr>
          <a:xfrm>
            <a:off x="4815840" y="2000654"/>
            <a:ext cx="75438" cy="513946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5" name="gap-cov-53"/>
          <p:cNvSpPr/>
          <p:nvPr/>
        </p:nvSpPr>
        <p:spPr>
          <a:xfrm>
            <a:off x="4899660" y="1597039"/>
            <a:ext cx="75438" cy="917561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6" name="gap-cov-54"/>
          <p:cNvSpPr/>
          <p:nvPr/>
        </p:nvSpPr>
        <p:spPr>
          <a:xfrm>
            <a:off x="4983480" y="1988600"/>
            <a:ext cx="75438" cy="526000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7" name="gap-cov-55"/>
          <p:cNvSpPr/>
          <p:nvPr/>
        </p:nvSpPr>
        <p:spPr>
          <a:xfrm>
            <a:off x="5067300" y="1551305"/>
            <a:ext cx="75438" cy="963295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8" name="gap-cov-56"/>
          <p:cNvSpPr/>
          <p:nvPr/>
        </p:nvSpPr>
        <p:spPr>
          <a:xfrm>
            <a:off x="5151120" y="1697022"/>
            <a:ext cx="75438" cy="817578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49" name="gap-cov-57"/>
          <p:cNvSpPr/>
          <p:nvPr/>
        </p:nvSpPr>
        <p:spPr>
          <a:xfrm>
            <a:off x="5234940" y="2088514"/>
            <a:ext cx="75438" cy="426086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50" name="gap-cov-58"/>
          <p:cNvSpPr/>
          <p:nvPr/>
        </p:nvSpPr>
        <p:spPr>
          <a:xfrm>
            <a:off x="5318760" y="1877656"/>
            <a:ext cx="75438" cy="636944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51" name="gap-cov-59"/>
          <p:cNvSpPr/>
          <p:nvPr/>
        </p:nvSpPr>
        <p:spPr>
          <a:xfrm>
            <a:off x="5402580" y="1787631"/>
            <a:ext cx="75438" cy="726969"/>
          </a:xfrm>
          <a:prstGeom prst="rect">
            <a:avLst/>
          </a:prstGeom>
          <a:solidFill>
            <a:srgbClr val="0F7C8C"/>
          </a:solidFill>
          <a:ln/>
        </p:spPr>
      </p:sp>
      <p:sp>
        <p:nvSpPr>
          <p:cNvPr id="52" name="gap-axis"/>
          <p:cNvSpPr/>
          <p:nvPr/>
        </p:nvSpPr>
        <p:spPr>
          <a:xfrm>
            <a:off x="457200" y="2514600"/>
            <a:ext cx="5029200" cy="91440"/>
          </a:xfrm>
          <a:prstGeom prst="rect">
            <a:avLst/>
          </a:prstGeom>
          <a:solidFill>
            <a:srgbClr val="7A8894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457200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5"/>
                </a:solidFill>
              </a:rPr>
              <a:t>coverage</a:t>
            </a:r>
            <a:endParaRPr lang="en-US" sz="1100" dirty="0"/>
          </a:p>
        </p:txBody>
      </p:sp>
      <p:sp>
        <p:nvSpPr>
          <p:cNvPr id="54" name="gene-0"/>
          <p:cNvSpPr/>
          <p:nvPr/>
        </p:nvSpPr>
        <p:spPr>
          <a:xfrm>
            <a:off x="548640" y="2880360"/>
            <a:ext cx="822960" cy="292608"/>
          </a:xfrm>
          <a:prstGeom prst="homePlate">
            <a:avLst/>
          </a:prstGeom>
          <a:solidFill>
            <a:srgbClr val="B9C7CD"/>
          </a:solidFill>
          <a:ln/>
        </p:spPr>
      </p:sp>
      <p:sp>
        <p:nvSpPr>
          <p:cNvPr id="55" name="gene-1"/>
          <p:cNvSpPr/>
          <p:nvPr/>
        </p:nvSpPr>
        <p:spPr>
          <a:xfrm>
            <a:off x="1508760" y="2880360"/>
            <a:ext cx="548640" cy="292608"/>
          </a:xfrm>
          <a:prstGeom prst="homePlate">
            <a:avLst/>
          </a:prstGeom>
          <a:solidFill>
            <a:srgbClr val="B9C7CD"/>
          </a:solidFill>
          <a:ln/>
        </p:spPr>
      </p:sp>
      <p:sp>
        <p:nvSpPr>
          <p:cNvPr id="56" name="gene-2"/>
          <p:cNvSpPr/>
          <p:nvPr/>
        </p:nvSpPr>
        <p:spPr>
          <a:xfrm>
            <a:off x="2194560" y="2880360"/>
            <a:ext cx="685800" cy="292608"/>
          </a:xfrm>
          <a:prstGeom prst="homePlate">
            <a:avLst/>
          </a:prstGeom>
          <a:solidFill>
            <a:srgbClr val="B9C7CD"/>
          </a:solidFill>
          <a:ln/>
        </p:spPr>
      </p:sp>
      <p:sp>
        <p:nvSpPr>
          <p:cNvPr id="57" name="gene-3"/>
          <p:cNvSpPr/>
          <p:nvPr/>
        </p:nvSpPr>
        <p:spPr>
          <a:xfrm>
            <a:off x="3017520" y="2880360"/>
            <a:ext cx="411480" cy="292608"/>
          </a:xfrm>
          <a:prstGeom prst="homePlate">
            <a:avLst/>
          </a:prstGeom>
          <a:solidFill>
            <a:srgbClr val="E4572E"/>
          </a:solidFill>
          <a:ln/>
        </p:spPr>
      </p:sp>
      <p:sp>
        <p:nvSpPr>
          <p:cNvPr id="58" name="gene-4"/>
          <p:cNvSpPr/>
          <p:nvPr/>
        </p:nvSpPr>
        <p:spPr>
          <a:xfrm>
            <a:off x="3520440" y="2880360"/>
            <a:ext cx="411480" cy="292608"/>
          </a:xfrm>
          <a:prstGeom prst="homePlate">
            <a:avLst/>
          </a:prstGeom>
          <a:solidFill>
            <a:srgbClr val="E4572E"/>
          </a:solidFill>
          <a:ln/>
        </p:spPr>
      </p:sp>
      <p:sp>
        <p:nvSpPr>
          <p:cNvPr id="59" name="gene-5"/>
          <p:cNvSpPr/>
          <p:nvPr/>
        </p:nvSpPr>
        <p:spPr>
          <a:xfrm>
            <a:off x="4114800" y="2880360"/>
            <a:ext cx="548640" cy="292608"/>
          </a:xfrm>
          <a:prstGeom prst="homePlate">
            <a:avLst/>
          </a:prstGeom>
          <a:solidFill>
            <a:srgbClr val="B9C7CD"/>
          </a:solidFill>
          <a:ln/>
        </p:spPr>
      </p:sp>
      <p:sp>
        <p:nvSpPr>
          <p:cNvPr id="60" name="gene-6"/>
          <p:cNvSpPr/>
          <p:nvPr/>
        </p:nvSpPr>
        <p:spPr>
          <a:xfrm>
            <a:off x="4800600" y="2880360"/>
            <a:ext cx="548640" cy="292608"/>
          </a:xfrm>
          <a:prstGeom prst="homePlate">
            <a:avLst/>
          </a:prstGeom>
          <a:solidFill>
            <a:srgbClr val="B9C7CD"/>
          </a:solidFill>
          <a:ln/>
        </p:spPr>
      </p:sp>
      <p:sp>
        <p:nvSpPr>
          <p:cNvPr id="61" name="Text 58"/>
          <p:cNvSpPr txBox="1"/>
          <p:nvPr/>
        </p:nvSpPr>
        <p:spPr>
          <a:xfrm>
            <a:off x="457200" y="3246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5"/>
                </a:solidFill>
              </a:rPr>
              <a:t>genes in PAO1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2971800" y="32461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4572E"/>
                </a:solidFill>
              </a:rPr>
              <a:t>missing in DK2</a:t>
            </a:r>
            <a:endParaRPr lang="en-US" sz="1100" dirty="0"/>
          </a:p>
        </p:txBody>
      </p:sp>
      <p:sp>
        <p:nvSpPr>
          <p:cNvPr id="63" name="rule-card-0"/>
          <p:cNvSpPr/>
          <p:nvPr/>
        </p:nvSpPr>
        <p:spPr>
          <a:xfrm>
            <a:off x="5852160" y="1143000"/>
            <a:ext cx="2834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6035040" y="1252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Rule</a:t>
            </a:r>
            <a:endParaRPr lang="en-US" sz="1400" dirty="0"/>
          </a:p>
        </p:txBody>
      </p:sp>
      <p:sp>
        <p:nvSpPr>
          <p:cNvPr id="65" name="Text 62"/>
          <p:cNvSpPr txBox="1"/>
          <p:nvPr/>
        </p:nvSpPr>
        <p:spPr>
          <a:xfrm>
            <a:off x="6035040" y="15270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zero reads over at least 1 kb, and at least 90 % of the gene inside</a:t>
            </a:r>
            <a:endParaRPr lang="en-US" sz="1300" dirty="0"/>
          </a:p>
        </p:txBody>
      </p:sp>
      <p:sp>
        <p:nvSpPr>
          <p:cNvPr id="66" name="rule-card-1"/>
          <p:cNvSpPr/>
          <p:nvPr/>
        </p:nvSpPr>
        <p:spPr>
          <a:xfrm>
            <a:off x="5852160" y="2194560"/>
            <a:ext cx="2834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6035040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Why strict</a:t>
            </a:r>
            <a:endParaRPr lang="en-US" sz="1400" dirty="0"/>
          </a:p>
        </p:txBody>
      </p:sp>
      <p:sp>
        <p:nvSpPr>
          <p:cNvPr id="68" name="Text 65"/>
          <p:cNvSpPr txBox="1"/>
          <p:nvPr/>
        </p:nvSpPr>
        <p:spPr>
          <a:xfrm>
            <a:off x="6035040" y="25786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very GC-rich DNA can get few reads for technical reasons</a:t>
            </a:r>
            <a:endParaRPr lang="en-US" sz="1300" dirty="0"/>
          </a:p>
        </p:txBody>
      </p:sp>
      <p:sp>
        <p:nvSpPr>
          <p:cNvPr id="69" name="rule-card-2"/>
          <p:cNvSpPr/>
          <p:nvPr/>
        </p:nvSpPr>
        <p:spPr>
          <a:xfrm>
            <a:off x="5852160" y="3246120"/>
            <a:ext cx="28346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0" name="Text 67"/>
          <p:cNvSpPr txBox="1"/>
          <p:nvPr/>
        </p:nvSpPr>
        <p:spPr>
          <a:xfrm>
            <a:off x="6035040" y="3355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Limit</a:t>
            </a:r>
            <a:endParaRPr lang="en-US" sz="1400" dirty="0"/>
          </a:p>
        </p:txBody>
      </p:sp>
      <p:sp>
        <p:nvSpPr>
          <p:cNvPr id="71" name="Text 68"/>
          <p:cNvSpPr txBox="1"/>
          <p:nvPr/>
        </p:nvSpPr>
        <p:spPr>
          <a:xfrm>
            <a:off x="6035040" y="3630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lost in DK2 or gained by PAO1? One reference cannot tell</a:t>
            </a:r>
            <a:endParaRPr lang="en-US" sz="1300" dirty="0"/>
          </a:p>
        </p:txBody>
      </p:sp>
      <p:sp>
        <p:nvSpPr>
          <p:cNvPr id="72" name="Text 69"/>
          <p:cNvSpPr txBox="1"/>
          <p:nvPr/>
        </p:nvSpPr>
        <p:spPr>
          <a:xfrm>
            <a:off x="45720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 cheap way to compare gene content without assembling a genome.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544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Part 2 · Variant calling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Where does the sample differ from the reference?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From a pileup to a genotype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52728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50392" y="1252728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152144" y="1252728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453896" y="1252728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755648" y="1252728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057400" y="1252728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359152" y="1252728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660904" y="1252728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962656" y="1252728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264408" y="1252728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566160" y="1252728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867912" y="1252728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169664" y="1252728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G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471416" y="1252728"/>
            <a:ext cx="301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A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10058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5"/>
                </a:solidFill>
              </a:rPr>
              <a:t>reference sequence and the reads covering it</a:t>
            </a:r>
            <a:endParaRPr lang="en-US" sz="1100" dirty="0"/>
          </a:p>
        </p:txBody>
      </p:sp>
      <p:sp>
        <p:nvSpPr>
          <p:cNvPr id="19" name="pile-read-0"/>
          <p:cNvSpPr/>
          <p:nvPr/>
        </p:nvSpPr>
        <p:spPr>
          <a:xfrm>
            <a:off x="566928" y="1600200"/>
            <a:ext cx="4187952" cy="146304"/>
          </a:xfrm>
          <a:prstGeom prst="roundRect">
            <a:avLst>
              <a:gd name="adj" fmla="val 50000"/>
            </a:avLst>
          </a:prstGeom>
          <a:solidFill>
            <a:srgbClr val="D9E4E8"/>
          </a:solidFill>
          <a:ln/>
        </p:spPr>
      </p:sp>
      <p:sp>
        <p:nvSpPr>
          <p:cNvPr id="20" name="het-0"/>
          <p:cNvSpPr/>
          <p:nvPr/>
        </p:nvSpPr>
        <p:spPr>
          <a:xfrm>
            <a:off x="1819656" y="1581912"/>
            <a:ext cx="173736" cy="1828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1" name="hom-0"/>
          <p:cNvSpPr/>
          <p:nvPr/>
        </p:nvSpPr>
        <p:spPr>
          <a:xfrm>
            <a:off x="3630168" y="1581912"/>
            <a:ext cx="173736" cy="1828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2" name="pile-read-1"/>
          <p:cNvSpPr/>
          <p:nvPr/>
        </p:nvSpPr>
        <p:spPr>
          <a:xfrm>
            <a:off x="566928" y="1847088"/>
            <a:ext cx="4187952" cy="146304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23" name="hom-1"/>
          <p:cNvSpPr/>
          <p:nvPr/>
        </p:nvSpPr>
        <p:spPr>
          <a:xfrm>
            <a:off x="3630168" y="1828800"/>
            <a:ext cx="173736" cy="1828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4" name="pile-read-2"/>
          <p:cNvSpPr/>
          <p:nvPr/>
        </p:nvSpPr>
        <p:spPr>
          <a:xfrm>
            <a:off x="566928" y="2093976"/>
            <a:ext cx="4187952" cy="146304"/>
          </a:xfrm>
          <a:prstGeom prst="roundRect">
            <a:avLst>
              <a:gd name="adj" fmla="val 50000"/>
            </a:avLst>
          </a:prstGeom>
          <a:solidFill>
            <a:srgbClr val="D9E4E8"/>
          </a:solidFill>
          <a:ln/>
        </p:spPr>
      </p:sp>
      <p:sp>
        <p:nvSpPr>
          <p:cNvPr id="25" name="het-2"/>
          <p:cNvSpPr/>
          <p:nvPr/>
        </p:nvSpPr>
        <p:spPr>
          <a:xfrm>
            <a:off x="1819656" y="2075688"/>
            <a:ext cx="173736" cy="1828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6" name="hom-2"/>
          <p:cNvSpPr/>
          <p:nvPr/>
        </p:nvSpPr>
        <p:spPr>
          <a:xfrm>
            <a:off x="3630168" y="2075688"/>
            <a:ext cx="173736" cy="1828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7" name="err-2"/>
          <p:cNvSpPr/>
          <p:nvPr/>
        </p:nvSpPr>
        <p:spPr>
          <a:xfrm>
            <a:off x="2423160" y="2075688"/>
            <a:ext cx="173736" cy="1828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8" name="pile-read-3"/>
          <p:cNvSpPr/>
          <p:nvPr/>
        </p:nvSpPr>
        <p:spPr>
          <a:xfrm>
            <a:off x="566928" y="2340864"/>
            <a:ext cx="4187952" cy="146304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29" name="het-3"/>
          <p:cNvSpPr/>
          <p:nvPr/>
        </p:nvSpPr>
        <p:spPr>
          <a:xfrm>
            <a:off x="1819656" y="2322576"/>
            <a:ext cx="173736" cy="1828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0" name="hom-3"/>
          <p:cNvSpPr/>
          <p:nvPr/>
        </p:nvSpPr>
        <p:spPr>
          <a:xfrm>
            <a:off x="3630168" y="2322576"/>
            <a:ext cx="173736" cy="1828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1" name="pile-read-4"/>
          <p:cNvSpPr/>
          <p:nvPr/>
        </p:nvSpPr>
        <p:spPr>
          <a:xfrm>
            <a:off x="566928" y="2587752"/>
            <a:ext cx="4187952" cy="146304"/>
          </a:xfrm>
          <a:prstGeom prst="roundRect">
            <a:avLst>
              <a:gd name="adj" fmla="val 50000"/>
            </a:avLst>
          </a:prstGeom>
          <a:solidFill>
            <a:srgbClr val="D9E4E8"/>
          </a:solidFill>
          <a:ln/>
        </p:spPr>
      </p:sp>
      <p:sp>
        <p:nvSpPr>
          <p:cNvPr id="32" name="hom-4"/>
          <p:cNvSpPr/>
          <p:nvPr/>
        </p:nvSpPr>
        <p:spPr>
          <a:xfrm>
            <a:off x="3630168" y="2569464"/>
            <a:ext cx="173736" cy="1828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3" name="pile-read-5"/>
          <p:cNvSpPr/>
          <p:nvPr/>
        </p:nvSpPr>
        <p:spPr>
          <a:xfrm>
            <a:off x="566928" y="2834640"/>
            <a:ext cx="4187952" cy="146304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34" name="hom-5"/>
          <p:cNvSpPr/>
          <p:nvPr/>
        </p:nvSpPr>
        <p:spPr>
          <a:xfrm>
            <a:off x="3630168" y="2816352"/>
            <a:ext cx="173736" cy="1828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5" name="pile-read-6"/>
          <p:cNvSpPr/>
          <p:nvPr/>
        </p:nvSpPr>
        <p:spPr>
          <a:xfrm>
            <a:off x="566928" y="3081528"/>
            <a:ext cx="4187952" cy="146304"/>
          </a:xfrm>
          <a:prstGeom prst="roundRect">
            <a:avLst>
              <a:gd name="adj" fmla="val 50000"/>
            </a:avLst>
          </a:prstGeom>
          <a:solidFill>
            <a:srgbClr val="D9E4E8"/>
          </a:solidFill>
          <a:ln/>
        </p:spPr>
      </p:sp>
      <p:sp>
        <p:nvSpPr>
          <p:cNvPr id="36" name="het-6"/>
          <p:cNvSpPr/>
          <p:nvPr/>
        </p:nvSpPr>
        <p:spPr>
          <a:xfrm>
            <a:off x="1819656" y="3063240"/>
            <a:ext cx="173736" cy="1828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7" name="hom-6"/>
          <p:cNvSpPr/>
          <p:nvPr/>
        </p:nvSpPr>
        <p:spPr>
          <a:xfrm>
            <a:off x="3630168" y="3063240"/>
            <a:ext cx="173736" cy="1828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8" name="pile-read-7"/>
          <p:cNvSpPr/>
          <p:nvPr/>
        </p:nvSpPr>
        <p:spPr>
          <a:xfrm>
            <a:off x="566928" y="3328416"/>
            <a:ext cx="4187952" cy="146304"/>
          </a:xfrm>
          <a:prstGeom prst="roundRect">
            <a:avLst>
              <a:gd name="adj" fmla="val 50000"/>
            </a:avLst>
          </a:prstGeom>
          <a:solidFill>
            <a:srgbClr val="C9D6DB"/>
          </a:solidFill>
          <a:ln/>
        </p:spPr>
      </p:sp>
      <p:sp>
        <p:nvSpPr>
          <p:cNvPr id="39" name="hom-7"/>
          <p:cNvSpPr/>
          <p:nvPr/>
        </p:nvSpPr>
        <p:spPr>
          <a:xfrm>
            <a:off x="3630168" y="3310128"/>
            <a:ext cx="173736" cy="182880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1481328" y="3621024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572E"/>
                </a:solidFill>
              </a:rPr>
              <a:t>0/1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4572E"/>
                </a:solidFill>
              </a:rPr>
              <a:t>het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2084832" y="3621024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5"/>
                </a:solidFill>
              </a:rPr>
              <a:t>error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3291840" y="3621024"/>
            <a:ext cx="850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572E"/>
                </a:solidFill>
              </a:rPr>
              <a:t>1/1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4572E"/>
                </a:solidFill>
              </a:rPr>
              <a:t>hom alt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49240" y="1143000"/>
          <a:ext cx="333756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685800"/>
                <a:gridCol w="11430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Genotype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VCF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Alt reads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B34"/>
                          </a:solidFill>
                        </a:rPr>
                        <a:t>haploid: ref / alt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0 /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0 % / 100 %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diploid: hom ref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0/0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~0 %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diploid: het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0/1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~50 %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diploid: hom alt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1/1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B34"/>
                          </a:solidFill>
                        </a:rPr>
                        <a:t>~100 %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Text 40"/>
          <p:cNvSpPr txBox="1"/>
          <p:nvPr/>
        </p:nvSpPr>
        <p:spPr>
          <a:xfrm>
            <a:off x="5349240" y="32461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The caller weighs these possibilities for every position (genotype likelihoods) and reports the most likely one. QUAL says how sure it is that the site is variant.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Depth decides whether a heterozygote is seen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51560"/>
          <a:ext cx="51206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943600" y="1188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12.5 %</a:t>
            </a:r>
            <a:endParaRPr lang="en-US" sz="3400" dirty="0"/>
          </a:p>
        </p:txBody>
      </p:sp>
      <p:sp>
        <p:nvSpPr>
          <p:cNvPr id="6" name="Text 2"/>
          <p:cNvSpPr txBox="1"/>
          <p:nvPr/>
        </p:nvSpPr>
        <p:spPr>
          <a:xfrm>
            <a:off x="59436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at 3× depth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943600" y="22128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3 %</a:t>
            </a:r>
            <a:endParaRPr lang="en-US" sz="3400" dirty="0"/>
          </a:p>
        </p:txBody>
      </p:sp>
      <p:sp>
        <p:nvSpPr>
          <p:cNvPr id="8" name="Text 4"/>
          <p:cNvSpPr txBox="1"/>
          <p:nvPr/>
        </p:nvSpPr>
        <p:spPr>
          <a:xfrm>
            <a:off x="5943600" y="27614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at 5× depth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5943600" y="32369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0.1 %</a:t>
            </a:r>
            <a:endParaRPr lang="en-US" sz="3400" dirty="0"/>
          </a:p>
        </p:txBody>
      </p:sp>
      <p:sp>
        <p:nvSpPr>
          <p:cNvPr id="10" name="Text 6"/>
          <p:cNvSpPr txBox="1"/>
          <p:nvPr/>
        </p:nvSpPr>
        <p:spPr>
          <a:xfrm>
            <a:off x="5943600" y="37856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at 10× depth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594360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P(no alternative read) = 0.5^depth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Not every read is independent evidence</a:t>
            </a:r>
            <a:endParaRPr lang="en-US" sz="2800" dirty="0"/>
          </a:p>
        </p:txBody>
      </p:sp>
      <p:sp>
        <p:nvSpPr>
          <p:cNvPr id="4" name="evidence-card-0"/>
          <p:cNvSpPr/>
          <p:nvPr/>
        </p:nvSpPr>
        <p:spPr>
          <a:xfrm>
            <a:off x="457200" y="109728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5" name="dup-0"/>
          <p:cNvSpPr/>
          <p:nvPr/>
        </p:nvSpPr>
        <p:spPr>
          <a:xfrm>
            <a:off x="731520" y="1371600"/>
            <a:ext cx="146304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6" name="dup-err-0"/>
          <p:cNvSpPr/>
          <p:nvPr/>
        </p:nvSpPr>
        <p:spPr>
          <a:xfrm>
            <a:off x="1554480" y="1371600"/>
            <a:ext cx="9144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7" name="dup-1"/>
          <p:cNvSpPr/>
          <p:nvPr/>
        </p:nvSpPr>
        <p:spPr>
          <a:xfrm>
            <a:off x="731520" y="1536192"/>
            <a:ext cx="146304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8" name="dup-err-1"/>
          <p:cNvSpPr/>
          <p:nvPr/>
        </p:nvSpPr>
        <p:spPr>
          <a:xfrm>
            <a:off x="1554480" y="1536192"/>
            <a:ext cx="9144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9" name="dup-2"/>
          <p:cNvSpPr/>
          <p:nvPr/>
        </p:nvSpPr>
        <p:spPr>
          <a:xfrm>
            <a:off x="731520" y="1700784"/>
            <a:ext cx="146304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10" name="dup-err-2"/>
          <p:cNvSpPr/>
          <p:nvPr/>
        </p:nvSpPr>
        <p:spPr>
          <a:xfrm>
            <a:off x="1554480" y="1700784"/>
            <a:ext cx="9144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1965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PCR duplicates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3774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Same start and end: copies of one DNA molecule. One PCR error copied many times looks like strong support.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749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Mark them; the caller ignores them.</a:t>
            </a:r>
            <a:endParaRPr lang="en-US" sz="1300" dirty="0"/>
          </a:p>
        </p:txBody>
      </p:sp>
      <p:sp>
        <p:nvSpPr>
          <p:cNvPr id="14" name="evidence-card-1"/>
          <p:cNvSpPr/>
          <p:nvPr/>
        </p:nvSpPr>
        <p:spPr>
          <a:xfrm>
            <a:off x="3264408" y="109728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5" name="mq-good"/>
          <p:cNvSpPr/>
          <p:nvPr/>
        </p:nvSpPr>
        <p:spPr>
          <a:xfrm>
            <a:off x="3538728" y="1371600"/>
            <a:ext cx="146304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16" name="mq-low"/>
          <p:cNvSpPr/>
          <p:nvPr/>
        </p:nvSpPr>
        <p:spPr>
          <a:xfrm>
            <a:off x="3538728" y="1572768"/>
            <a:ext cx="1463040" cy="109728"/>
          </a:xfrm>
          <a:prstGeom prst="roundRect">
            <a:avLst>
              <a:gd name="adj" fmla="val 50000"/>
            </a:avLst>
          </a:prstGeom>
          <a:solidFill>
            <a:srgbClr val="0F7C8C">
              <a:alpha val="30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093208" y="131673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B75"/>
                </a:solidFill>
              </a:rPr>
              <a:t>MAPQ 60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5093208" y="15179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B75"/>
                </a:solidFill>
              </a:rPr>
              <a:t>MAPQ 0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3493008" y="1965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Mapping quality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3493008" y="23774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MAPQ 0 means the read fits equally well elsewhere, typically in repeats.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493008" y="3749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Skip reads with MAPQ below 20.</a:t>
            </a:r>
            <a:endParaRPr lang="en-US" sz="1300" dirty="0"/>
          </a:p>
        </p:txBody>
      </p:sp>
      <p:sp>
        <p:nvSpPr>
          <p:cNvPr id="22" name="evidence-card-2"/>
          <p:cNvSpPr/>
          <p:nvPr/>
        </p:nvSpPr>
        <p:spPr>
          <a:xfrm>
            <a:off x="6071616" y="1097280"/>
            <a:ext cx="2606040" cy="338328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23" name="chr-a"/>
          <p:cNvSpPr/>
          <p:nvPr/>
        </p:nvSpPr>
        <p:spPr>
          <a:xfrm>
            <a:off x="6345936" y="1417320"/>
            <a:ext cx="822960" cy="109728"/>
          </a:xfrm>
          <a:prstGeom prst="rect">
            <a:avLst/>
          </a:prstGeom>
          <a:solidFill>
            <a:srgbClr val="7A8894"/>
          </a:solidFill>
          <a:ln/>
        </p:spPr>
      </p:sp>
      <p:sp>
        <p:nvSpPr>
          <p:cNvPr id="24" name="chr-b"/>
          <p:cNvSpPr/>
          <p:nvPr/>
        </p:nvSpPr>
        <p:spPr>
          <a:xfrm>
            <a:off x="7306056" y="1417320"/>
            <a:ext cx="822960" cy="109728"/>
          </a:xfrm>
          <a:prstGeom prst="rect">
            <a:avLst/>
          </a:prstGeom>
          <a:solidFill>
            <a:srgbClr val="7A8894"/>
          </a:solidFill>
          <a:ln/>
        </p:spPr>
      </p:sp>
      <p:sp>
        <p:nvSpPr>
          <p:cNvPr id="25" name="para-a"/>
          <p:cNvSpPr/>
          <p:nvPr/>
        </p:nvSpPr>
        <p:spPr>
          <a:xfrm>
            <a:off x="6574536" y="1417320"/>
            <a:ext cx="274320" cy="10972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6" name="para-b"/>
          <p:cNvSpPr/>
          <p:nvPr/>
        </p:nvSpPr>
        <p:spPr>
          <a:xfrm>
            <a:off x="7534656" y="1417320"/>
            <a:ext cx="274320" cy="109728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345936" y="1572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E6B75"/>
                </a:solidFill>
              </a:rPr>
              <a:t>chr21     chr13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6300216" y="19659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Whole-genome reference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6300216" y="237744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Offer only chr21 and reads from similar sequences elsewhere are forced onto it: false SNPs.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300216" y="374904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Let every read find its best place.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Filter the calls, then check them with Ts/Tv</a:t>
            </a:r>
            <a:endParaRPr lang="en-US" sz="2800" dirty="0"/>
          </a:p>
        </p:txBody>
      </p:sp>
      <p:sp>
        <p:nvSpPr>
          <p:cNvPr id="4" name="filter-card"/>
          <p:cNvSpPr/>
          <p:nvPr/>
        </p:nvSpPr>
        <p:spPr>
          <a:xfrm>
            <a:off x="457200" y="1097280"/>
            <a:ext cx="393192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Two simple filters</a:t>
            </a:r>
            <a:endParaRPr lang="en-US" sz="1600" dirty="0"/>
          </a:p>
        </p:txBody>
      </p:sp>
      <p:sp>
        <p:nvSpPr>
          <p:cNvPr id="6" name="filter-0"/>
          <p:cNvSpPr/>
          <p:nvPr/>
        </p:nvSpPr>
        <p:spPr>
          <a:xfrm>
            <a:off x="685800" y="1737360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7" name="filter-0-label"/>
          <p:cNvSpPr txBox="1"/>
          <p:nvPr/>
        </p:nvSpPr>
        <p:spPr>
          <a:xfrm>
            <a:off x="68580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1709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QUAL ≥ 30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198424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the caller is at least 99.9 % sure the site is variant</a:t>
            </a:r>
            <a:endParaRPr lang="en-US" sz="1300" dirty="0"/>
          </a:p>
        </p:txBody>
      </p:sp>
      <p:sp>
        <p:nvSpPr>
          <p:cNvPr id="10" name="filter-1"/>
          <p:cNvSpPr/>
          <p:nvPr/>
        </p:nvSpPr>
        <p:spPr>
          <a:xfrm>
            <a:off x="685800" y="2606040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1" name="filter-1-label"/>
          <p:cNvSpPr txBox="1"/>
          <p:nvPr/>
        </p:nvSpPr>
        <p:spPr>
          <a:xfrm>
            <a:off x="68580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578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Depth not too low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188720" y="285292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a handful of reads is weak evidence</a:t>
            </a:r>
            <a:endParaRPr lang="en-US" sz="1300" dirty="0"/>
          </a:p>
        </p:txBody>
      </p:sp>
      <p:sp>
        <p:nvSpPr>
          <p:cNvPr id="14" name="filter-2"/>
          <p:cNvSpPr/>
          <p:nvPr/>
        </p:nvSpPr>
        <p:spPr>
          <a:xfrm>
            <a:off x="685800" y="3474720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5" name="filter-2-label"/>
          <p:cNvSpPr txBox="1"/>
          <p:nvPr/>
        </p:nvSpPr>
        <p:spPr>
          <a:xfrm>
            <a:off x="685800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188720" y="3447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Depth not too high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372160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far above average usually means a collapsed repeat</a:t>
            </a:r>
            <a:endParaRPr lang="en-US" sz="1300" dirty="0"/>
          </a:p>
        </p:txBody>
      </p:sp>
      <p:sp>
        <p:nvSpPr>
          <p:cNvPr id="18" name="tv-AC"/>
          <p:cNvSpPr/>
          <p:nvPr/>
        </p:nvSpPr>
        <p:spPr>
          <a:xfrm>
            <a:off x="5404104" y="1655064"/>
            <a:ext cx="914" cy="1371600"/>
          </a:xfrm>
          <a:prstGeom prst="line">
            <a:avLst/>
          </a:prstGeom>
          <a:noFill/>
          <a:ln w="19050">
            <a:solidFill>
              <a:srgbClr val="B9C7CD"/>
            </a:solidFill>
            <a:prstDash val="dash"/>
          </a:ln>
        </p:spPr>
      </p:sp>
      <p:sp>
        <p:nvSpPr>
          <p:cNvPr id="19" name="tv-GT"/>
          <p:cNvSpPr/>
          <p:nvPr/>
        </p:nvSpPr>
        <p:spPr>
          <a:xfrm>
            <a:off x="7232904" y="1655064"/>
            <a:ext cx="914" cy="1371600"/>
          </a:xfrm>
          <a:prstGeom prst="line">
            <a:avLst/>
          </a:prstGeom>
          <a:noFill/>
          <a:ln w="19050">
            <a:solidFill>
              <a:srgbClr val="B9C7CD"/>
            </a:solidFill>
            <a:prstDash val="dash"/>
          </a:ln>
        </p:spPr>
      </p:sp>
      <p:sp>
        <p:nvSpPr>
          <p:cNvPr id="20" name="tv-AT"/>
          <p:cNvSpPr/>
          <p:nvPr/>
        </p:nvSpPr>
        <p:spPr>
          <a:xfrm>
            <a:off x="5404104" y="1655064"/>
            <a:ext cx="1828800" cy="1371600"/>
          </a:xfrm>
          <a:prstGeom prst="line">
            <a:avLst/>
          </a:prstGeom>
          <a:noFill/>
          <a:ln w="19050">
            <a:solidFill>
              <a:srgbClr val="B9C7CD"/>
            </a:solidFill>
            <a:prstDash val="dash"/>
          </a:ln>
        </p:spPr>
      </p:sp>
      <p:sp>
        <p:nvSpPr>
          <p:cNvPr id="21" name="tv-GC"/>
          <p:cNvSpPr/>
          <p:nvPr/>
        </p:nvSpPr>
        <p:spPr>
          <a:xfrm flipV="1">
            <a:off x="5404104" y="1655064"/>
            <a:ext cx="1828800" cy="1371600"/>
          </a:xfrm>
          <a:prstGeom prst="line">
            <a:avLst/>
          </a:prstGeom>
          <a:noFill/>
          <a:ln w="19050">
            <a:solidFill>
              <a:srgbClr val="B9C7CD"/>
            </a:solidFill>
            <a:prstDash val="dash"/>
          </a:ln>
        </p:spPr>
      </p:sp>
      <p:sp>
        <p:nvSpPr>
          <p:cNvPr id="22" name="ts-AG"/>
          <p:cNvSpPr/>
          <p:nvPr/>
        </p:nvSpPr>
        <p:spPr>
          <a:xfrm>
            <a:off x="5404104" y="1655064"/>
            <a:ext cx="1828800" cy="914"/>
          </a:xfrm>
          <a:prstGeom prst="line">
            <a:avLst/>
          </a:prstGeom>
          <a:noFill/>
          <a:ln w="50800">
            <a:solidFill>
              <a:srgbClr val="0F7C8C"/>
            </a:solidFill>
            <a:prstDash val="solid"/>
          </a:ln>
        </p:spPr>
      </p:sp>
      <p:sp>
        <p:nvSpPr>
          <p:cNvPr id="23" name="ts-CT"/>
          <p:cNvSpPr/>
          <p:nvPr/>
        </p:nvSpPr>
        <p:spPr>
          <a:xfrm>
            <a:off x="5404104" y="3026664"/>
            <a:ext cx="1828800" cy="914"/>
          </a:xfrm>
          <a:prstGeom prst="line">
            <a:avLst/>
          </a:prstGeom>
          <a:noFill/>
          <a:ln w="50800">
            <a:solidFill>
              <a:srgbClr val="0F7C8C"/>
            </a:solidFill>
            <a:prstDash val="solid"/>
          </a:ln>
        </p:spPr>
      </p:sp>
      <p:sp>
        <p:nvSpPr>
          <p:cNvPr id="24" name="nt-A"/>
          <p:cNvSpPr/>
          <p:nvPr/>
        </p:nvSpPr>
        <p:spPr>
          <a:xfrm>
            <a:off x="5120640" y="1371600"/>
            <a:ext cx="566928" cy="566928"/>
          </a:xfrm>
          <a:prstGeom prst="ellipse">
            <a:avLst/>
          </a:prstGeom>
          <a:solidFill>
            <a:srgbClr val="0E3B4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512064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26" name="nt-G"/>
          <p:cNvSpPr/>
          <p:nvPr/>
        </p:nvSpPr>
        <p:spPr>
          <a:xfrm>
            <a:off x="6949440" y="1371600"/>
            <a:ext cx="566928" cy="566928"/>
          </a:xfrm>
          <a:prstGeom prst="ellipse">
            <a:avLst/>
          </a:prstGeom>
          <a:solidFill>
            <a:srgbClr val="0E3B47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949440" y="1371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</a:t>
            </a:r>
            <a:endParaRPr lang="en-US" sz="2000" dirty="0"/>
          </a:p>
        </p:txBody>
      </p:sp>
      <p:sp>
        <p:nvSpPr>
          <p:cNvPr id="28" name="nt-C"/>
          <p:cNvSpPr/>
          <p:nvPr/>
        </p:nvSpPr>
        <p:spPr>
          <a:xfrm>
            <a:off x="5120640" y="2743200"/>
            <a:ext cx="566928" cy="566928"/>
          </a:xfrm>
          <a:prstGeom prst="ellipse">
            <a:avLst/>
          </a:prstGeom>
          <a:solidFill>
            <a:srgbClr val="0E3B47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120640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</a:t>
            </a:r>
            <a:endParaRPr lang="en-US" sz="2000" dirty="0"/>
          </a:p>
        </p:txBody>
      </p:sp>
      <p:sp>
        <p:nvSpPr>
          <p:cNvPr id="30" name="nt-T"/>
          <p:cNvSpPr/>
          <p:nvPr/>
        </p:nvSpPr>
        <p:spPr>
          <a:xfrm>
            <a:off x="6949440" y="2743200"/>
            <a:ext cx="566928" cy="566928"/>
          </a:xfrm>
          <a:prstGeom prst="ellipse">
            <a:avLst/>
          </a:prstGeom>
          <a:solidFill>
            <a:srgbClr val="0E3B47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949440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</a:t>
            </a:r>
            <a:endParaRPr lang="en-US" sz="2000" dirty="0"/>
          </a:p>
        </p:txBody>
      </p:sp>
      <p:sp>
        <p:nvSpPr>
          <p:cNvPr id="32" name="Text 29"/>
          <p:cNvSpPr txBox="1"/>
          <p:nvPr/>
        </p:nvSpPr>
        <p:spPr>
          <a:xfrm>
            <a:off x="763524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5"/>
                </a:solidFill>
              </a:rPr>
              <a:t>purines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763524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6B75"/>
                </a:solidFill>
              </a:rPr>
              <a:t>pyrimidines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937760" y="34747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Transitions (thick): A↔G, C↔T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</a:rPr>
              <a:t>Transversions (dashed): all other changes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Ts/Tv of real human SNPs ≈ 2.0–2.1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</a:rPr>
              <a:t>random errors ≈ 0.5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Look at the reads: real variant or artefact?</a:t>
            </a:r>
            <a:endParaRPr lang="en-US" sz="2800" dirty="0"/>
          </a:p>
        </p:txBody>
      </p:sp>
      <p:sp>
        <p:nvSpPr>
          <p:cNvPr id="4" name="browser-card-0"/>
          <p:cNvSpPr/>
          <p:nvPr/>
        </p:nvSpPr>
        <p:spPr>
          <a:xfrm>
            <a:off x="457200" y="109728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5" name="br-0-0"/>
          <p:cNvSpPr/>
          <p:nvPr/>
        </p:nvSpPr>
        <p:spPr>
          <a:xfrm>
            <a:off x="685800" y="137160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6" name="br-alt-0-0"/>
          <p:cNvSpPr/>
          <p:nvPr/>
        </p:nvSpPr>
        <p:spPr>
          <a:xfrm>
            <a:off x="1828800" y="1371600"/>
            <a:ext cx="9144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7" name="br-0-1"/>
          <p:cNvSpPr/>
          <p:nvPr/>
        </p:nvSpPr>
        <p:spPr>
          <a:xfrm>
            <a:off x="804672" y="155448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8" name="br-alt-0-1"/>
          <p:cNvSpPr/>
          <p:nvPr/>
        </p:nvSpPr>
        <p:spPr>
          <a:xfrm>
            <a:off x="1828800" y="1554480"/>
            <a:ext cx="9144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9" name="br-0-2"/>
          <p:cNvSpPr/>
          <p:nvPr/>
        </p:nvSpPr>
        <p:spPr>
          <a:xfrm>
            <a:off x="923544" y="173736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10" name="br-0-3"/>
          <p:cNvSpPr/>
          <p:nvPr/>
        </p:nvSpPr>
        <p:spPr>
          <a:xfrm>
            <a:off x="1042416" y="192024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11" name="br-0-4"/>
          <p:cNvSpPr/>
          <p:nvPr/>
        </p:nvSpPr>
        <p:spPr>
          <a:xfrm>
            <a:off x="704088" y="210312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12" name="br-alt-0-4"/>
          <p:cNvSpPr/>
          <p:nvPr/>
        </p:nvSpPr>
        <p:spPr>
          <a:xfrm>
            <a:off x="1828800" y="2103120"/>
            <a:ext cx="9144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3" name="br-0-5"/>
          <p:cNvSpPr/>
          <p:nvPr/>
        </p:nvSpPr>
        <p:spPr>
          <a:xfrm>
            <a:off x="822960" y="228600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14" name="br-alt-0-5"/>
          <p:cNvSpPr/>
          <p:nvPr/>
        </p:nvSpPr>
        <p:spPr>
          <a:xfrm>
            <a:off x="1828800" y="2286000"/>
            <a:ext cx="9144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5" name="br-0-6"/>
          <p:cNvSpPr/>
          <p:nvPr/>
        </p:nvSpPr>
        <p:spPr>
          <a:xfrm>
            <a:off x="941832" y="246888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16" name="br-0-7"/>
          <p:cNvSpPr/>
          <p:nvPr/>
        </p:nvSpPr>
        <p:spPr>
          <a:xfrm>
            <a:off x="1060704" y="265176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Real heterozygote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about half the reads, both strands</a:t>
            </a:r>
            <a:endParaRPr lang="en-US" sz="1300" dirty="0"/>
          </a:p>
        </p:txBody>
      </p:sp>
      <p:sp>
        <p:nvSpPr>
          <p:cNvPr id="19" name="browser-card-1"/>
          <p:cNvSpPr/>
          <p:nvPr/>
        </p:nvSpPr>
        <p:spPr>
          <a:xfrm>
            <a:off x="3264408" y="109728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20" name="br-1-0"/>
          <p:cNvSpPr/>
          <p:nvPr/>
        </p:nvSpPr>
        <p:spPr>
          <a:xfrm>
            <a:off x="3493008" y="137160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21" name="br-1-1"/>
          <p:cNvSpPr/>
          <p:nvPr/>
        </p:nvSpPr>
        <p:spPr>
          <a:xfrm>
            <a:off x="3611880" y="155448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22" name="br-1-2"/>
          <p:cNvSpPr/>
          <p:nvPr/>
        </p:nvSpPr>
        <p:spPr>
          <a:xfrm>
            <a:off x="3730752" y="173736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23" name="br-1-3"/>
          <p:cNvSpPr/>
          <p:nvPr/>
        </p:nvSpPr>
        <p:spPr>
          <a:xfrm>
            <a:off x="3849624" y="192024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24" name="br-alt-1-3"/>
          <p:cNvSpPr/>
          <p:nvPr/>
        </p:nvSpPr>
        <p:spPr>
          <a:xfrm>
            <a:off x="4636008" y="1920240"/>
            <a:ext cx="9144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25" name="br-1-4"/>
          <p:cNvSpPr/>
          <p:nvPr/>
        </p:nvSpPr>
        <p:spPr>
          <a:xfrm>
            <a:off x="3511296" y="210312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26" name="br-1-5"/>
          <p:cNvSpPr/>
          <p:nvPr/>
        </p:nvSpPr>
        <p:spPr>
          <a:xfrm>
            <a:off x="3630168" y="228600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27" name="br-1-6"/>
          <p:cNvSpPr/>
          <p:nvPr/>
        </p:nvSpPr>
        <p:spPr>
          <a:xfrm>
            <a:off x="3749040" y="246888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28" name="br-1-7"/>
          <p:cNvSpPr/>
          <p:nvPr/>
        </p:nvSpPr>
        <p:spPr>
          <a:xfrm>
            <a:off x="3867912" y="265176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49300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Sequencing error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3493008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one read, here and there</a:t>
            </a:r>
            <a:endParaRPr lang="en-US" sz="1300" dirty="0"/>
          </a:p>
        </p:txBody>
      </p:sp>
      <p:sp>
        <p:nvSpPr>
          <p:cNvPr id="31" name="browser-card-2"/>
          <p:cNvSpPr/>
          <p:nvPr/>
        </p:nvSpPr>
        <p:spPr>
          <a:xfrm>
            <a:off x="6071616" y="1097280"/>
            <a:ext cx="2606040" cy="28346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32" name="br-2-0"/>
          <p:cNvSpPr/>
          <p:nvPr/>
        </p:nvSpPr>
        <p:spPr>
          <a:xfrm>
            <a:off x="6300216" y="1371600"/>
            <a:ext cx="123444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33" name="br-alt-2-0"/>
          <p:cNvSpPr/>
          <p:nvPr/>
        </p:nvSpPr>
        <p:spPr>
          <a:xfrm>
            <a:off x="7443216" y="1371600"/>
            <a:ext cx="9144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4" name="br-2-1"/>
          <p:cNvSpPr/>
          <p:nvPr/>
        </p:nvSpPr>
        <p:spPr>
          <a:xfrm>
            <a:off x="6419088" y="155448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35" name="br-2-2"/>
          <p:cNvSpPr/>
          <p:nvPr/>
        </p:nvSpPr>
        <p:spPr>
          <a:xfrm>
            <a:off x="6300216" y="1737360"/>
            <a:ext cx="123444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36" name="br-alt-2-2"/>
          <p:cNvSpPr/>
          <p:nvPr/>
        </p:nvSpPr>
        <p:spPr>
          <a:xfrm>
            <a:off x="7443216" y="1737360"/>
            <a:ext cx="9144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37" name="br-2-3"/>
          <p:cNvSpPr/>
          <p:nvPr/>
        </p:nvSpPr>
        <p:spPr>
          <a:xfrm>
            <a:off x="6656832" y="192024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38" name="br-2-4"/>
          <p:cNvSpPr/>
          <p:nvPr/>
        </p:nvSpPr>
        <p:spPr>
          <a:xfrm>
            <a:off x="6300216" y="2103120"/>
            <a:ext cx="123444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39" name="br-alt-2-4"/>
          <p:cNvSpPr/>
          <p:nvPr/>
        </p:nvSpPr>
        <p:spPr>
          <a:xfrm>
            <a:off x="7443216" y="2103120"/>
            <a:ext cx="91440" cy="109728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40" name="br-2-5"/>
          <p:cNvSpPr/>
          <p:nvPr/>
        </p:nvSpPr>
        <p:spPr>
          <a:xfrm>
            <a:off x="6437376" y="228600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41" name="br-2-6"/>
          <p:cNvSpPr/>
          <p:nvPr/>
        </p:nvSpPr>
        <p:spPr>
          <a:xfrm>
            <a:off x="6556248" y="246888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0F7C8C"/>
          </a:solidFill>
          <a:ln/>
        </p:spPr>
      </p:sp>
      <p:sp>
        <p:nvSpPr>
          <p:cNvPr id="42" name="br-2-7"/>
          <p:cNvSpPr/>
          <p:nvPr/>
        </p:nvSpPr>
        <p:spPr>
          <a:xfrm>
            <a:off x="6675120" y="265176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300216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Artefact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6300216" y="33832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E6B75"/>
                </a:solidFill>
              </a:rPr>
              <a:t>one strand only, at read ends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forward strand</a:t>
            </a:r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   reverse strand</a:t>
            </a:r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   alternative base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8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Take-home messages</a:t>
            </a:r>
            <a:endParaRPr lang="en-US" sz="4000" dirty="0"/>
          </a:p>
        </p:txBody>
      </p:sp>
      <p:sp>
        <p:nvSpPr>
          <p:cNvPr id="3" name="take-0"/>
          <p:cNvSpPr/>
          <p:nvPr/>
        </p:nvSpPr>
        <p:spPr>
          <a:xfrm>
            <a:off x="548640" y="269748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ake-0-label"/>
          <p:cNvSpPr txBox="1"/>
          <p:nvPr/>
        </p:nvSpPr>
        <p:spPr>
          <a:xfrm>
            <a:off x="548640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51560" y="27157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Mapping places reads on a reference; flagstat and coverage tell you how well it worked</a:t>
            </a:r>
            <a:endParaRPr lang="en-US" sz="1500" dirty="0"/>
          </a:p>
        </p:txBody>
      </p:sp>
      <p:sp>
        <p:nvSpPr>
          <p:cNvPr id="6" name="take-1"/>
          <p:cNvSpPr/>
          <p:nvPr/>
        </p:nvSpPr>
        <p:spPr>
          <a:xfrm>
            <a:off x="548640" y="320040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ake-1-label"/>
          <p:cNvSpPr txBox="1"/>
          <p:nvPr/>
        </p:nvSpPr>
        <p:spPr>
          <a:xfrm>
            <a:off x="54864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1868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Coverage answers questions on its own: no reads over a gene means the gene is absent</a:t>
            </a:r>
            <a:endParaRPr lang="en-US" sz="1500" dirty="0"/>
          </a:p>
        </p:txBody>
      </p:sp>
      <p:sp>
        <p:nvSpPr>
          <p:cNvPr id="9" name="take-2"/>
          <p:cNvSpPr/>
          <p:nvPr/>
        </p:nvSpPr>
        <p:spPr>
          <a:xfrm>
            <a:off x="548640" y="370332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ake-2-label"/>
          <p:cNvSpPr txBox="1"/>
          <p:nvPr/>
        </p:nvSpPr>
        <p:spPr>
          <a:xfrm>
            <a:off x="54864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7216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Ploidy matters: a diploid caller must tell 0/0, 0/1 and 1/1 apart, which needs depth</a:t>
            </a:r>
            <a:endParaRPr lang="en-US" sz="1500" dirty="0"/>
          </a:p>
        </p:txBody>
      </p:sp>
      <p:sp>
        <p:nvSpPr>
          <p:cNvPr id="12" name="take-3"/>
          <p:cNvSpPr/>
          <p:nvPr/>
        </p:nvSpPr>
        <p:spPr>
          <a:xfrm>
            <a:off x="548640" y="4206240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ake-3-label"/>
          <p:cNvSpPr txBox="1"/>
          <p:nvPr/>
        </p:nvSpPr>
        <p:spPr>
          <a:xfrm>
            <a:off x="54864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422452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Filter calls, check Ts/Tv, and look at the reads before you believe a variant</a:t>
            </a:r>
            <a:endParaRPr lang="en-US" sz="1500" dirty="0"/>
          </a:p>
        </p:txBody>
      </p:sp>
      <p:sp>
        <p:nvSpPr>
          <p:cNvPr id="16" name="Text 0"/>
          <p:cNvSpPr/>
          <p:nvPr>
            <p:ph idx="101" type="body" hasCustomPrompt="1"/>
          </p:nvPr>
        </p:nvSpPr>
        <p:spPr>
          <a:xfrm>
            <a:off x="548640" y="26060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P Genomics">
  <a:themeElements>
    <a:clrScheme name="KP Genomics">
      <a:dk1>
        <a:srgbClr val="1B2B34"/>
      </a:dk1>
      <a:lt1>
        <a:srgbClr val="FFFFFF"/>
      </a:lt1>
      <a:dk2>
        <a:srgbClr val="0E3B47"/>
      </a:dk2>
      <a:lt2>
        <a:srgbClr val="EAF2F3"/>
      </a:lt2>
      <a:accent1>
        <a:srgbClr val="0F7C8C"/>
      </a:accent1>
      <a:accent2>
        <a:srgbClr val="E4572E"/>
      </a:accent2>
      <a:accent3>
        <a:srgbClr val="F2A541"/>
      </a:accent3>
      <a:accent4>
        <a:srgbClr val="4F8A5B"/>
      </a:accent4>
      <a:accent5>
        <a:srgbClr val="7A8894"/>
      </a:accent5>
      <a:accent6>
        <a:srgbClr val="3D5A80"/>
      </a:accent6>
      <a:hlink>
        <a:srgbClr val="0F7C8C"/>
      </a:hlink>
      <a:folHlink>
        <a:srgbClr val="3D5A80"/>
      </a:folHlink>
    </a:clrScheme>
    <a:fontScheme name="KP Genomic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 mapping and variant calling</dc:title>
  <dc:subject>PptxGenJS Presentation</dc:subject>
  <dc:creator>KP – Molecular Genetic Data</dc:creator>
  <cp:lastModifiedBy>KP – Molecular Genetic Data</cp:lastModifiedBy>
  <cp:revision>1</cp:revision>
  <dcterms:created xsi:type="dcterms:W3CDTF">2026-10-17T10:21:36Z</dcterms:created>
  <dcterms:modified xsi:type="dcterms:W3CDTF">2026-10-17T10:21:36Z</dcterms:modified>
</cp:coreProperties>
</file>